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Uma frase: “Karen, essa apresentação tem três partes — o que foi entregue, o que eu analisei do mercado e do perfil, e a proposta para continuarmos.”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Serve para a Karen saber quanto tempo falta e onde estamos.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 ritmo: da aprovação ao conteúdo no ar foram 11 dias. Fecha com o status e a parcela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esconder o número. Base construída agora; crescimento é objetivo da próxima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Passar item por item e sair da reunião com resposta. Combinar prazo para o vídeo do guia de medidas.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de maior valor escondido da etapa: recuperar a posse dos cadastros. A disputa das contas está orçada na proposta. O termo de imagem destrava depoimento e foto de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quatro movimentos, e três deles a Pekar já faz — o trabalho é nomear, não perseguir. Este é o argumento central: significado vende mais que descrição.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um post não cabe em nenhum dos cinco pilares, provavelmente não deveria ser publicado.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Dizer em voz alta que os horários são hipótese com medição, não certeza. O roteiro resolve o arquivo para a temporada: uma diária de gravação rende semanas de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frases são para as vendedoras usarem no balcão. Custo zero e efeito direto na avaliação do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são contratações separadas, para a Karen não sentir que é pacote fechado.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combinando os dois pedidos pendentes e o prazo de resposta da proposta.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32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-1371600"/>
            <a:ext cx="5120640" cy="5120640"/>
          </a:xfrm>
          <a:prstGeom prst="ellipse">
            <a:avLst/>
          </a:prstGeom>
          <a:ln w="12700">
            <a:solidFill>
              <a:srgbClr val="C9A455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98280" y="-502920"/>
            <a:ext cx="4206240" cy="4206240"/>
          </a:xfrm>
          <a:prstGeom prst="ellipse">
            <a:avLst/>
          </a:prstGeom>
          <a:ln w="22225">
            <a:solidFill>
              <a:srgbClr val="C9A4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26880" y="4297680"/>
            <a:ext cx="3108960" cy="3108960"/>
          </a:xfrm>
          <a:prstGeom prst="ellipse">
            <a:avLst/>
          </a:prstGeom>
          <a:solidFill>
            <a:srgbClr val="C9A455">
              <a:alpha val="10000"/>
            </a:srgbClr>
          </a:solidFill>
          <a:ln/>
        </p:spPr>
      </p:sp>
      <p:pic>
        <p:nvPicPr>
          <p:cNvPr id="5" name="Image 0" descr="/home/user/SkillsClaude/pekar-joias/pekar-logo-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0" y="566928"/>
            <a:ext cx="1572768" cy="2039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2084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PEKAR ARTE EM JOIAS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" y="2450592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Análise, entrega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nova proposta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66928" y="4206240"/>
            <a:ext cx="3703320" cy="548640"/>
          </a:xfrm>
          <a:prstGeom prst="roundRect">
            <a:avLst>
              <a:gd name="adj" fmla="val 50000"/>
            </a:avLst>
          </a:prstGeom>
          <a:solidFill>
            <a:srgbClr val="C9A455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420624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30/07/2026  a  25/08/2026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5138928"/>
            <a:ext cx="2834640" cy="0"/>
          </a:xfrm>
          <a:prstGeom prst="line">
            <a:avLst/>
          </a:prstGeom>
          <a:noFill/>
          <a:ln w="9525">
            <a:solidFill>
              <a:srgbClr val="C9A455">
                <a:alpha val="55000"/>
              </a:srgbClr>
            </a:solidFill>
            <a:prstDash val="solid"/>
          </a:ln>
        </p:spPr>
      </p:sp>
      <p:pic>
        <p:nvPicPr>
          <p:cNvPr id="11" name="Image 1" descr="/home/user/SkillsClaude/pekar-joias/assinatura-alusul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285232"/>
            <a:ext cx="219456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você vai ver aqui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66928" y="1600200"/>
            <a:ext cx="3502152" cy="3200400"/>
          </a:xfrm>
          <a:prstGeom prst="roundRect">
            <a:avLst>
              <a:gd name="adj" fmla="val 1714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32688" y="187452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32688" y="265176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entrega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32688" y="3127248"/>
            <a:ext cx="27706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o que foi feito entre 30 de julho e 25 de agosto: identidade, Instagram, Google e os arquivos que ficam com a Pekar.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600200"/>
            <a:ext cx="3502152" cy="3200400"/>
          </a:xfrm>
          <a:prstGeom prst="roundRect">
            <a:avLst>
              <a:gd name="adj" fmla="val 1714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709160" y="187452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F5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709160" y="265176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análise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709160" y="3127248"/>
            <a:ext cx="27706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mercado de joalheria pede em 2026 e como isso vira conteúdo, formato, horário e roteiro de gravação.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19872" y="1600200"/>
            <a:ext cx="3502152" cy="3200400"/>
          </a:xfrm>
          <a:prstGeom prst="roundRect">
            <a:avLst>
              <a:gd name="adj" fmla="val 1714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485632" y="187452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7A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8485632" y="265176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485632" y="3127248"/>
            <a:ext cx="277063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sugiro para a próxima fase, com escopo e valores separados por frente de trabalho.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66928" y="512064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em algum ponto eu usar um termo que não faça sentido, só avisar — a ideia é que tudo aqui seja claro.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ENTREGA  ·  PARTE 01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foi feito, dia a dia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66928" y="1408176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9DDCA"/>
          </a:solidFill>
          <a:ln/>
        </p:spPr>
      </p:sp>
      <p:sp>
        <p:nvSpPr>
          <p:cNvPr id="6" name="Text 3"/>
          <p:cNvSpPr/>
          <p:nvPr/>
        </p:nvSpPr>
        <p:spPr>
          <a:xfrm>
            <a:off x="566928" y="14081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2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30/07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600200" y="13533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Proposta aprovada e briefing enviado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099048" y="1353312"/>
            <a:ext cx="5522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combinado fechado e o questionário de entendimento da marca enviado para a Karen.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66928" y="1865376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9DDC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18653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2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31/07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00200" y="18105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Acesso ao Instagram e arquivos da logo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099048" y="1810512"/>
            <a:ext cx="5522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Pekar liberou o perfil e enviou os arquivos originais da logo.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322576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9DDC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3225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2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01/08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1600200" y="22677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Briefing respondido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6099048" y="2267712"/>
            <a:ext cx="5522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respostas da Karen chegaram e viraram a base da identidade.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2779776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9DDC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27797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2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02/08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600200" y="27249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Identidade e guia de Instagram entregues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6099048" y="2724912"/>
            <a:ext cx="5522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foi criado o grupo de WhatsApp do projeto, para agilizar o dia a dia.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236976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9DDC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2369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2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03/08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1600200" y="31821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 atualizado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099048" y="3182112"/>
            <a:ext cx="5522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reescrita, capas de destaque no padrão da marca e link na bio.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3694176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E9DDCA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36941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2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10/08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600200" y="36393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Primeiras postagens no ar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099048" y="3639312"/>
            <a:ext cx="5522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Começo da publicação de conteúdo.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66928" y="4151376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C9A455"/>
          </a:solidFill>
          <a:ln/>
        </p:spPr>
      </p:sp>
      <p:sp>
        <p:nvSpPr>
          <p:cNvPr id="30" name="Text 27"/>
          <p:cNvSpPr/>
          <p:nvPr/>
        </p:nvSpPr>
        <p:spPr>
          <a:xfrm>
            <a:off x="566928" y="415137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25/08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1600200" y="409651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Encerramento da primeira etapa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6099048" y="4096512"/>
            <a:ext cx="5522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apresentação: balanço do que foi feito e proposta do que vem a seguir.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66928" y="4892040"/>
            <a:ext cx="5367528" cy="1325880"/>
          </a:xfrm>
          <a:prstGeom prst="roundRect">
            <a:avLst>
              <a:gd name="adj" fmla="val 4138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950976" y="5074920"/>
            <a:ext cx="4599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DO PROJETO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950976" y="5321808"/>
            <a:ext cx="4599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Concluída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950976" y="574243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frentes combinadas foram entregues ou resolvidas.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254496" y="4892040"/>
            <a:ext cx="5367528" cy="1325880"/>
          </a:xfrm>
          <a:prstGeom prst="roundRect">
            <a:avLst>
              <a:gd name="adj" fmla="val 4138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6638544" y="5074920"/>
            <a:ext cx="4599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 FINAL (50%)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638544" y="5321808"/>
            <a:ext cx="4599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R$ 1.250,00</a:t>
            </a:r>
            <a:endParaRPr lang="en-US" sz="2200" dirty="0"/>
          </a:p>
        </p:txBody>
      </p:sp>
      <p:sp>
        <p:nvSpPr>
          <p:cNvPr id="40" name="Text 37"/>
          <p:cNvSpPr/>
          <p:nvPr/>
        </p:nvSpPr>
        <p:spPr>
          <a:xfrm>
            <a:off x="6638544" y="5742432"/>
            <a:ext cx="4599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Vencimento em 01/09/2026, conforme a proposta aprovada em 30/07.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32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-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ENTREGA  ·  PARTE 01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os números mostram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66928" y="1554480"/>
            <a:ext cx="2624328" cy="1645920"/>
          </a:xfrm>
          <a:prstGeom prst="roundRect">
            <a:avLst>
              <a:gd name="adj" fmla="val 3889"/>
            </a:avLst>
          </a:prstGeom>
          <a:solidFill>
            <a:srgbClr val="43362C"/>
          </a:solidFill>
          <a:ln/>
        </p:spPr>
      </p:sp>
      <p:sp>
        <p:nvSpPr>
          <p:cNvPr id="6" name="Text 3"/>
          <p:cNvSpPr/>
          <p:nvPr/>
        </p:nvSpPr>
        <p:spPr>
          <a:xfrm>
            <a:off x="704088" y="1700784"/>
            <a:ext cx="2350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2.826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04088" y="242316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04088" y="269748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03/08/2026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56432" y="1554480"/>
            <a:ext cx="2624328" cy="1645920"/>
          </a:xfrm>
          <a:prstGeom prst="roundRect">
            <a:avLst>
              <a:gd name="adj" fmla="val 3889"/>
            </a:avLst>
          </a:prstGeom>
          <a:solidFill>
            <a:srgbClr val="43362C"/>
          </a:solidFill>
          <a:ln/>
        </p:spPr>
      </p:sp>
      <p:sp>
        <p:nvSpPr>
          <p:cNvPr id="10" name="Text 7"/>
          <p:cNvSpPr/>
          <p:nvPr/>
        </p:nvSpPr>
        <p:spPr>
          <a:xfrm>
            <a:off x="3593592" y="1700784"/>
            <a:ext cx="2350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2.838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3593592" y="242316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seguidores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593592" y="269748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24/08/2026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45936" y="1554480"/>
            <a:ext cx="2624328" cy="1645920"/>
          </a:xfrm>
          <a:prstGeom prst="roundRect">
            <a:avLst>
              <a:gd name="adj" fmla="val 3889"/>
            </a:avLst>
          </a:prstGeom>
          <a:solidFill>
            <a:srgbClr val="C9A455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700784"/>
            <a:ext cx="2350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seguidores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83096" y="269748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7F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período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235440" y="1554480"/>
            <a:ext cx="2624328" cy="1645920"/>
          </a:xfrm>
          <a:prstGeom prst="roundRect">
            <a:avLst>
              <a:gd name="adj" fmla="val 3889"/>
            </a:avLst>
          </a:prstGeom>
          <a:solidFill>
            <a:srgbClr val="43362C"/>
          </a:solidFill>
          <a:ln/>
        </p:spPr>
      </p:sp>
      <p:sp>
        <p:nvSpPr>
          <p:cNvPr id="18" name="Text 15"/>
          <p:cNvSpPr/>
          <p:nvPr/>
        </p:nvSpPr>
        <p:spPr>
          <a:xfrm>
            <a:off x="9372600" y="1700784"/>
            <a:ext cx="2350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9372600" y="2423160"/>
            <a:ext cx="2350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 de postagens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372600" y="269748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10/08 a 25/08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401568"/>
            <a:ext cx="11055096" cy="2240280"/>
          </a:xfrm>
          <a:prstGeom prst="roundRect">
            <a:avLst>
              <a:gd name="adj" fmla="val 3265"/>
            </a:avLst>
          </a:prstGeom>
          <a:solidFill>
            <a:srgbClr val="43362C"/>
          </a:solidFill>
          <a:ln/>
        </p:spPr>
      </p:sp>
      <p:sp>
        <p:nvSpPr>
          <p:cNvPr id="22" name="Text 19"/>
          <p:cNvSpPr/>
          <p:nvPr/>
        </p:nvSpPr>
        <p:spPr>
          <a:xfrm>
            <a:off x="1024128" y="3611880"/>
            <a:ext cx="10140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Lendo os números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1024128" y="3986784"/>
            <a:ext cx="101406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15 dias de postagens o perfil ganhou 12 seguidores. Cresceu pouco, e isso era esperado: esta primeira etapa não foi de crescimento, foi de organização.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Seguidor novo vem depois, com constância de publicação e ações feitas para atrair quem ainda não conhece a marca. Em duas semanas não há como medir isso — o que existe hoje é a base pronta para esse crescimento acontecer.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ENTREGA  ·  PARTE 01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aberto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66928" y="1298448"/>
            <a:ext cx="5367528" cy="914400"/>
          </a:xfrm>
          <a:prstGeom prst="roundRect">
            <a:avLst>
              <a:gd name="adj" fmla="val 6000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572768"/>
            <a:ext cx="274320" cy="274320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572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225296" y="142646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Deixar de seguir 2.000 contas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225296" y="1700784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da lista de “seguindo”, para o perfil ficar coerente com a marca.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54496" y="1298448"/>
            <a:ext cx="5367528" cy="914400"/>
          </a:xfrm>
          <a:prstGeom prst="roundRect">
            <a:avLst>
              <a:gd name="adj" fmla="val 6000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10528" y="1572768"/>
            <a:ext cx="274320" cy="274320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12" name="Text 9"/>
          <p:cNvSpPr/>
          <p:nvPr/>
        </p:nvSpPr>
        <p:spPr>
          <a:xfrm>
            <a:off x="6510528" y="1572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912864" y="142646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Pagamento com cartão de crédito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912864" y="1700784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Pago. Assim que estiver funcionando, atualizamos a informação no Instagram.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2331720"/>
            <a:ext cx="5367528" cy="914400"/>
          </a:xfrm>
          <a:prstGeom prst="roundRect">
            <a:avLst>
              <a:gd name="adj" fmla="val 6000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2960" y="2606040"/>
            <a:ext cx="274320" cy="274320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225296" y="24597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Cupom de 1ª compra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225296" y="273405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Sugestão em estudo: pode virar um desconto de …% no PIX.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254496" y="2331720"/>
            <a:ext cx="5367528" cy="914400"/>
          </a:xfrm>
          <a:prstGeom prst="roundRect">
            <a:avLst>
              <a:gd name="adj" fmla="val 6000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510528" y="2606040"/>
            <a:ext cx="274320" cy="274320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2606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912864" y="2459736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novo para WhatsApp Business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6912864" y="273405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o atendimento da loja do número pessoal.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3364992"/>
            <a:ext cx="5367528" cy="914400"/>
          </a:xfrm>
          <a:prstGeom prst="roundRect">
            <a:avLst>
              <a:gd name="adj" fmla="val 6000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22960" y="3639312"/>
            <a:ext cx="274320" cy="274320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3639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225296" y="349300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responde as mensagens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1225296" y="376732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só a Karen responde. Na temporada, vai haver tempo de responder e atender?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254496" y="3364992"/>
            <a:ext cx="5367528" cy="914400"/>
          </a:xfrm>
          <a:prstGeom prst="roundRect">
            <a:avLst>
              <a:gd name="adj" fmla="val 6000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510528" y="3639312"/>
            <a:ext cx="274320" cy="274320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32" name="Text 29"/>
          <p:cNvSpPr/>
          <p:nvPr/>
        </p:nvSpPr>
        <p:spPr>
          <a:xfrm>
            <a:off x="6510528" y="3639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6912864" y="349300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real de fotos e vídeos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6912864" y="376732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por semana a Pekar consegue produzir de verdade? Precisamos de arquivo para atravessar a temporada.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6928" y="4517136"/>
            <a:ext cx="11055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capas abaixo já foram criadas e estão guardadas no Drive. Para entrarem no perfil, falta o conteúdo.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566928" y="4882896"/>
            <a:ext cx="5367528" cy="1298448"/>
          </a:xfrm>
          <a:prstGeom prst="roundRect">
            <a:avLst>
              <a:gd name="adj" fmla="val 4225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59536" y="50840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9A455"/>
          </a:solidFill>
          <a:ln/>
        </p:spPr>
      </p:sp>
      <p:sp>
        <p:nvSpPr>
          <p:cNvPr id="38" name="Text 35"/>
          <p:cNvSpPr/>
          <p:nvPr/>
        </p:nvSpPr>
        <p:spPr>
          <a:xfrm>
            <a:off x="859536" y="5084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1353312" y="5065776"/>
            <a:ext cx="3995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Guia de medidas de anel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4059936" y="506577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 está pronta.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1353312" y="5394960"/>
            <a:ext cx="4270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vídeo foi gravado pela Karen em 24/08 — falta enviar para publicarmos o destaque.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6254496" y="4882896"/>
            <a:ext cx="5367528" cy="1298448"/>
          </a:xfrm>
          <a:prstGeom prst="roundRect">
            <a:avLst>
              <a:gd name="adj" fmla="val 4225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6547104" y="50840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BF5340"/>
          </a:solidFill>
          <a:ln/>
        </p:spPr>
      </p:sp>
      <p:sp>
        <p:nvSpPr>
          <p:cNvPr id="44" name="Text 41"/>
          <p:cNvSpPr/>
          <p:nvPr/>
        </p:nvSpPr>
        <p:spPr>
          <a:xfrm>
            <a:off x="6547104" y="5084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7040880" y="5065776"/>
            <a:ext cx="3995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Depoimentos de clientes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9747504" y="506577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 está pronta.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7040880" y="5394960"/>
            <a:ext cx="4270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a Karen e as vendedoras colherem os depoimentos com as clientes das lojas.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66928" y="62727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 que os dois chegarem, os destaques entram no perfil e a vitrine do Instagram fica completa.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ENTREGA  ·  PARTE 01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Meu Negócio e os arquivos da marca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66928" y="1325880"/>
            <a:ext cx="5367528" cy="4846320"/>
          </a:xfrm>
          <a:prstGeom prst="roundRect">
            <a:avLst>
              <a:gd name="adj" fmla="val 1132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50976" y="1517904"/>
            <a:ext cx="4599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Meu Negócio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50976" y="1883664"/>
            <a:ext cx="4599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combinado era atualizar fotos e informações das lojas no Google. Ao tentar o acesso, descobrimos que a Pekar não o tinha para editar — então o trabalho virou investigação.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950976" y="2670048"/>
            <a:ext cx="4599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DESCOBERTO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950976" y="3008376"/>
            <a:ext cx="237744" cy="237744"/>
          </a:xfrm>
          <a:prstGeom prst="ellipse">
            <a:avLst/>
          </a:prstGeom>
          <a:solidFill>
            <a:srgbClr val="BF5340"/>
          </a:solidFill>
          <a:ln/>
        </p:spPr>
      </p:sp>
      <p:sp>
        <p:nvSpPr>
          <p:cNvPr id="10" name="Text 7"/>
          <p:cNvSpPr/>
          <p:nvPr/>
        </p:nvSpPr>
        <p:spPr>
          <a:xfrm>
            <a:off x="950976" y="30083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298448" y="2935224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Juquehy tem 2 contas: uma como joalheria e outra como restaurante.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0976" y="3520440"/>
            <a:ext cx="237744" cy="237744"/>
          </a:xfrm>
          <a:prstGeom prst="ellipse">
            <a:avLst/>
          </a:prstGeom>
          <a:solidFill>
            <a:srgbClr val="BF5340"/>
          </a:solidFill>
          <a:ln/>
        </p:spPr>
      </p:sp>
      <p:sp>
        <p:nvSpPr>
          <p:cNvPr id="13" name="Text 10"/>
          <p:cNvSpPr/>
          <p:nvPr/>
        </p:nvSpPr>
        <p:spPr>
          <a:xfrm>
            <a:off x="950976" y="3520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298448" y="3447288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Maresias tem 1 conta.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950976" y="4032504"/>
            <a:ext cx="237744" cy="237744"/>
          </a:xfrm>
          <a:prstGeom prst="ellipse">
            <a:avLst/>
          </a:prstGeom>
          <a:solidFill>
            <a:srgbClr val="BF5340"/>
          </a:solidFill>
          <a:ln/>
        </p:spPr>
      </p:sp>
      <p:sp>
        <p:nvSpPr>
          <p:cNvPr id="16" name="Text 13"/>
          <p:cNvSpPr/>
          <p:nvPr/>
        </p:nvSpPr>
        <p:spPr>
          <a:xfrm>
            <a:off x="950976" y="40325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298448" y="3959352"/>
            <a:ext cx="4224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acesso das três está com o e-mail co….@gmail.com, fora do controle da Pekar.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50976" y="4572000"/>
            <a:ext cx="4599432" cy="777240"/>
          </a:xfrm>
          <a:prstGeom prst="roundRect">
            <a:avLst>
              <a:gd name="adj" fmla="val 7059"/>
            </a:avLst>
          </a:prstGeom>
          <a:solidFill>
            <a:srgbClr val="332821"/>
          </a:solidFill>
          <a:ln/>
        </p:spPr>
      </p:sp>
      <p:sp>
        <p:nvSpPr>
          <p:cNvPr id="19" name="Text 16"/>
          <p:cNvSpPr/>
          <p:nvPr/>
        </p:nvSpPr>
        <p:spPr>
          <a:xfrm>
            <a:off x="1225296" y="4690872"/>
            <a:ext cx="4050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FEITO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25296" y="4956048"/>
            <a:ext cx="4050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pekarjoias@gmail.com</a:t>
            </a:r>
            <a:pPr indent="0" marL="0">
              <a:buNone/>
            </a:pPr>
            <a:r>
              <a:rPr lang="en-US" sz="120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senha: 080112Batismo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50976" y="5468112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necessária: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reivindicar as três contas e atualizar fotos e informações assim que o acesso for liberado.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254496" y="1325880"/>
            <a:ext cx="5367528" cy="4846320"/>
          </a:xfrm>
          <a:prstGeom prst="roundRect">
            <a:avLst>
              <a:gd name="adj" fmla="val 1132"/>
            </a:avLst>
          </a:prstGeom>
          <a:solidFill>
            <a:srgbClr val="332821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6638544" y="1517904"/>
            <a:ext cx="4599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Bônus: todos os arquivos em um lugar só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638544" y="1883664"/>
            <a:ext cx="4599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i="1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pasta no Google Drive, dentro do e-mail pekarjoias@gmail.com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638544" y="2340864"/>
            <a:ext cx="4599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estava na proposta, mas foi criada para manter todos os arquivos do projeto reunidos e no nome da própria marca.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638544" y="2962656"/>
            <a:ext cx="4599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TEM DENTRO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638544" y="3291840"/>
            <a:ext cx="237744" cy="237744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28" name="Text 25"/>
          <p:cNvSpPr/>
          <p:nvPr/>
        </p:nvSpPr>
        <p:spPr>
          <a:xfrm>
            <a:off x="6638544" y="32918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986016" y="3218688"/>
            <a:ext cx="4224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Capas de destaque do Instagram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86016" y="3474720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imagens das bolinhas do perfil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638544" y="3895344"/>
            <a:ext cx="237744" cy="237744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32" name="Text 29"/>
          <p:cNvSpPr/>
          <p:nvPr/>
        </p:nvSpPr>
        <p:spPr>
          <a:xfrm>
            <a:off x="6638544" y="38953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986016" y="3822192"/>
            <a:ext cx="4224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Imagens da logo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86016" y="4078224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versões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638544" y="4498848"/>
            <a:ext cx="237744" cy="237744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36" name="Text 33"/>
          <p:cNvSpPr/>
          <p:nvPr/>
        </p:nvSpPr>
        <p:spPr>
          <a:xfrm>
            <a:off x="6638544" y="4498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986016" y="4425696"/>
            <a:ext cx="4224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Documentos do projeto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86016" y="4681728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identidade, guia de Instagram e demais materiais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638544" y="5102352"/>
            <a:ext cx="237744" cy="237744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40" name="Text 37"/>
          <p:cNvSpPr/>
          <p:nvPr/>
        </p:nvSpPr>
        <p:spPr>
          <a:xfrm>
            <a:off x="6638544" y="5102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6986016" y="5029200"/>
            <a:ext cx="4224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Termos de autorização de imagem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6986016" y="5285232"/>
            <a:ext cx="4224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funcionários e para clientes, liberando o uso de fotos, vídeos e depoimentos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6638544" y="5715000"/>
            <a:ext cx="4599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acessar: entrar no Google Drive com esse e-mail.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 ·  PARTE 02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Tendências de joalheria para 2026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66928" y="1325880"/>
            <a:ext cx="2624328" cy="3246120"/>
          </a:xfrm>
          <a:prstGeom prst="roundRect">
            <a:avLst>
              <a:gd name="adj" fmla="val 2091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41248" y="151790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41248" y="2011680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prata voltou como tendência estética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41248" y="2816352"/>
            <a:ext cx="207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anos de dourado, a prata 925 e o banho de ródio voltam como aposta do ano, especialmente para clima quente.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56432" y="1325880"/>
            <a:ext cx="2624328" cy="3246120"/>
          </a:xfrm>
          <a:prstGeom prst="roundRect">
            <a:avLst>
              <a:gd name="adj" fmla="val 2091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730752" y="151790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F5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730752" y="2011680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Prata escultural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730752" y="2816352"/>
            <a:ext cx="207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Textura martelada imitando seixo de rio, bezel assimétrico, borda crua, acabamento fosco no lugar do polido espelhado. A Pekar não precisa perseguir essa tendência — precisa nomear que já a pratica.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45936" y="1325880"/>
            <a:ext cx="2624328" cy="3246120"/>
          </a:xfrm>
          <a:prstGeom prst="roundRect">
            <a:avLst>
              <a:gd name="adj" fmla="val 2091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620256" y="151790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7AF9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620256" y="2011680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Pedra colorida natural no centro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620256" y="2816352"/>
            <a:ext cx="207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consumidor tem preferido a gema natural, irregular e única, à perfeição industrial repetida. Em alta: morganita, ametista lavanda, turmalina verde e tanzanita.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235440" y="1325880"/>
            <a:ext cx="2624328" cy="3246120"/>
          </a:xfrm>
          <a:prstGeom prst="roundRect">
            <a:avLst>
              <a:gd name="adj" fmla="val 2091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509760" y="151790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9509760" y="2011680"/>
            <a:ext cx="207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Água-marinha, a pedra de 2026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9509760" y="2816352"/>
            <a:ext cx="207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Historicamente o amuleto dos navegantes, hoje associada a calma e proteção. Para uma joalheria que nasceu num mostruário na areia, é um presente de posicionamento — não precisa ser inventado, precisa ser ocupado.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4754880"/>
            <a:ext cx="11055096" cy="1234440"/>
          </a:xfrm>
          <a:prstGeom prst="roundRect">
            <a:avLst>
              <a:gd name="adj" fmla="val 4444"/>
            </a:avLst>
          </a:prstGeom>
          <a:solidFill>
            <a:srgbClr val="332821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78408" y="4919472"/>
            <a:ext cx="10232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 por trás das quatro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978408" y="5212080"/>
            <a:ext cx="10232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joia passou a ser vista como ferramenta de bem-estar e conexão com o natural, não como enfeite. A Pekar já trabalha pedra natural: agora é só verbalizar o significado em cada peça.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 ·  PARTE 02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pilares e os formatos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post da Pekar deve caber em um destes cinco assuntos.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66928" y="1783080"/>
            <a:ext cx="3977640" cy="749808"/>
          </a:xfrm>
          <a:prstGeom prst="roundRect">
            <a:avLst>
              <a:gd name="adj" fmla="val 7317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6384" y="2020824"/>
            <a:ext cx="274320" cy="274320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2020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170432" y="18562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pedra e seu significado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70432" y="21122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Água-marinha, morganita, ametista. O território que gera salvamento.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3977640" cy="749808"/>
          </a:xfrm>
          <a:prstGeom prst="roundRect">
            <a:avLst>
              <a:gd name="adj" fmla="val 7317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86384" y="2862072"/>
            <a:ext cx="274320" cy="274320"/>
          </a:xfrm>
          <a:prstGeom prst="ellipse">
            <a:avLst/>
          </a:prstGeom>
          <a:solidFill>
            <a:srgbClr val="87AF9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862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170432" y="26974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mar como referência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70432" y="29535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conchas, a areia, a origem da marca no litoral norte.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3465576"/>
            <a:ext cx="3977640" cy="749808"/>
          </a:xfrm>
          <a:prstGeom prst="roundRect">
            <a:avLst>
              <a:gd name="adj" fmla="val 7317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786384" y="3703320"/>
            <a:ext cx="274320" cy="274320"/>
          </a:xfrm>
          <a:prstGeom prst="ellipse">
            <a:avLst/>
          </a:prstGeom>
          <a:solidFill>
            <a:srgbClr val="BF534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703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170432" y="353872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social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70432" y="37947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frases que as clientes já dizem. Vale mais que qualquer anúncio.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4306824"/>
            <a:ext cx="3977640" cy="749808"/>
          </a:xfrm>
          <a:prstGeom prst="roundRect">
            <a:avLst>
              <a:gd name="adj" fmla="val 7317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86384" y="4544568"/>
            <a:ext cx="274320" cy="274320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544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170432" y="4379976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História da marca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70432" y="46360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início, a evolução e o jeito de fazer — em doses pequenas.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5148072"/>
            <a:ext cx="3977640" cy="749808"/>
          </a:xfrm>
          <a:prstGeom prst="roundRect">
            <a:avLst>
              <a:gd name="adj" fmla="val 7317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786384" y="5385816"/>
            <a:ext cx="274320" cy="274320"/>
          </a:xfrm>
          <a:prstGeom prst="ellipse">
            <a:avLst/>
          </a:prstGeom>
          <a:solidFill>
            <a:srgbClr val="87AF9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1170432" y="522122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Educativo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1170432" y="547725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Cuidados com a prata, guia de medidas, como escolher uma pedra.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864608" y="1280160"/>
            <a:ext cx="6757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FORMATOS E FREQUÊNCIA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64608" y="1591056"/>
          <a:ext cx="6757416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041648"/>
                <a:gridCol w="13258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20" kern="0" dirty="0">
                          <a:solidFill>
                            <a:srgbClr val="E9DD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8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20" kern="0" dirty="0">
                          <a:solidFill>
                            <a:srgbClr val="E9DD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8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20" kern="0" dirty="0">
                          <a:solidFill>
                            <a:srgbClr val="E9DD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FREQUÊNCIA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82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Alcance de quem ainda não segue. Brilho, textura e movimento da peça — o vídeo mostra o que a foto não mostra.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por semana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Carrossel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Salvamento e autoridade. Guias, significado da pedra, processo de escolha de produção.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por semana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Vitrine da marca. A peça bem fotografada, com o nome e o significado, para quem já acompanha.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por semana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 e conversão. Cada resposta abre uma conversa no direct, e é ali que a venda consultiva acontece.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diário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hape 29"/>
          <p:cNvSpPr/>
          <p:nvPr/>
        </p:nvSpPr>
        <p:spPr>
          <a:xfrm>
            <a:off x="4864608" y="4590288"/>
            <a:ext cx="6757416" cy="1371600"/>
          </a:xfrm>
          <a:prstGeom prst="roundRect">
            <a:avLst>
              <a:gd name="adj" fmla="val 4000"/>
            </a:avLst>
          </a:prstGeom>
          <a:solidFill>
            <a:srgbClr val="E9DDCA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30"/>
          <p:cNvSpPr/>
          <p:nvPr/>
        </p:nvSpPr>
        <p:spPr>
          <a:xfrm>
            <a:off x="5230368" y="4590288"/>
            <a:ext cx="60258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332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essa divisão: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formato tem um trabalho diferente. Reels traz gente nova, carrossel constrói confiança, estático mantém a vitrine bonita e stories fecha a venda. Publicar só um formato deixa uma dessas pontas descoberta.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 ·  PARTE 02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Horários e roteiro de produção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HORÁRIOS SUGERIDOS DE POSTAGEM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66928" y="1591056"/>
            <a:ext cx="3977640" cy="868680"/>
          </a:xfrm>
          <a:prstGeom prst="roundRect">
            <a:avLst>
              <a:gd name="adj" fmla="val 6316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" y="166420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Terça a quinta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2852928" y="16642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no feed.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59536" y="1938528"/>
            <a:ext cx="339242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Reels entre 9h e 11h · Carrossel no almoço · Stories no fim da tarde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2551176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59536" y="26243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Sexta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852928" y="262432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de tarde e noite.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59536" y="2898648"/>
            <a:ext cx="3392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17h – 20h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59536" y="3282696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Sábado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2852928" y="32826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Manhã e fim de tarde.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59536" y="3557016"/>
            <a:ext cx="3392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 – 10h  ·  17h – 20h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3867912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F7F1E7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59536" y="3941064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328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Domingo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2852928" y="39410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Manhã e tarde.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859536" y="4215384"/>
            <a:ext cx="33924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2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 – 11h30  ·  12h – 16h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4617720"/>
            <a:ext cx="3977640" cy="1600200"/>
          </a:xfrm>
          <a:prstGeom prst="roundRect">
            <a:avLst>
              <a:gd name="adj" fmla="val 3429"/>
            </a:avLst>
          </a:prstGeom>
          <a:solidFill>
            <a:srgbClr val="332821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59536" y="4773168"/>
            <a:ext cx="3392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VALIDAR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59536" y="5029200"/>
            <a:ext cx="33924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acima é hipótese estruturada, não verdade estabelecida. Para virar certeza, precisa de quatro semanas de grade fixa, medindo alcance de não-seguidores, salvamentos e conversas geradas. E precisa ser cruzada com o dado que só a Karen tem: o horário real de pico das lojas.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4864608" y="1280160"/>
            <a:ext cx="6757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PRODUÇÃO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64608" y="1591056"/>
          <a:ext cx="675741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727448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20" kern="0" dirty="0">
                          <a:solidFill>
                            <a:srgbClr val="E9DD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82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20" kern="0" dirty="0">
                          <a:solidFill>
                            <a:srgbClr val="E9DDC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GRAVAR / FOTOGRAFAR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282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Loja e ambiente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Fachada, vitrine, interior, balcão e embalagem. Também as fotos com o celular deitado para o Google: 5 fotos horizontais e bem iluminadas. O Google privilegia horizontal e penaliza foto escura.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Anéis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Carro-chefe. 8 a 10 peças, com prioridade para as autorais com pedra natural.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a 8 peças. O segundo que mais vende.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Colares e pingentes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a 6 peças.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Pulseiras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 5 peças.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 3 combinações completas.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Karen em cena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Vídeo sobre a história da loja, cuidados com a prata e como as peças autorais são pensadas e produzidas.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1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328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2F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peça sendo colocada na sacolinha; mãos ajustando uma peça no mostruário.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4864608" y="4617720"/>
            <a:ext cx="6757416" cy="1600200"/>
          </a:xfrm>
          <a:prstGeom prst="roundRect">
            <a:avLst>
              <a:gd name="adj" fmla="val 3429"/>
            </a:avLst>
          </a:prstGeom>
          <a:solidFill>
            <a:srgbClr val="332821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8" name="Text 24"/>
          <p:cNvSpPr/>
          <p:nvPr/>
        </p:nvSpPr>
        <p:spPr>
          <a:xfrm>
            <a:off x="5157216" y="4773168"/>
            <a:ext cx="6172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DESTE BLOCO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5157216" y="5029200"/>
            <a:ext cx="6172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Câmera ligada antes de começar. Três blocos de três a cinco minutos, sem roteiro decorado — depois a gente corta. O que não se recupera é a frase espontânea que saiu enquanto a câmera estava desligada.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32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-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 ·  PARTE 03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Meu Negócio e QR codes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66928" y="1554480"/>
            <a:ext cx="11055096" cy="1234440"/>
          </a:xfrm>
          <a:prstGeom prst="roundRect">
            <a:avLst>
              <a:gd name="adj" fmla="val 4444"/>
            </a:avLst>
          </a:prstGeom>
          <a:solidFill>
            <a:srgbClr val="43362C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32688" y="1792224"/>
            <a:ext cx="310896" cy="31089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7" name="Text 4"/>
          <p:cNvSpPr/>
          <p:nvPr/>
        </p:nvSpPr>
        <p:spPr>
          <a:xfrm>
            <a:off x="932688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389888" y="173736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Meu Negócio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389888" y="2066544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Reivindicação e disputa de acesso das 3 contas junto ao Google. Após a aprovação, com o acesso transferido para o e-mail pekarjoias@gmail.com, atualização das fotos e das informações das lojas.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9427464" y="17373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R$ 900,00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66928" y="2953512"/>
            <a:ext cx="11055096" cy="1005840"/>
          </a:xfrm>
          <a:prstGeom prst="roundRect">
            <a:avLst>
              <a:gd name="adj" fmla="val 5455"/>
            </a:avLst>
          </a:prstGeom>
          <a:solidFill>
            <a:srgbClr val="43362C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32688" y="3191256"/>
            <a:ext cx="310896" cy="31089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13" name="Text 10"/>
          <p:cNvSpPr/>
          <p:nvPr/>
        </p:nvSpPr>
        <p:spPr>
          <a:xfrm>
            <a:off x="932688" y="3191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389888" y="31363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QR codes para o balcão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89888" y="346557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codes direcionando para o Instagram e para o Google, com a arte pronta para as duas lojas.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427464" y="31363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R$ 50,00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66928" y="3959352"/>
            <a:ext cx="11055096" cy="713232"/>
          </a:xfrm>
          <a:prstGeom prst="roundRect">
            <a:avLst>
              <a:gd name="adj" fmla="val 7692"/>
            </a:avLst>
          </a:prstGeom>
          <a:solidFill>
            <a:srgbClr val="43362C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32688" y="395935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035808" y="395935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R$ 475,00 para iniciar  ·  R$ 475,00 na entrega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427464" y="3959352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R$ 950,00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4892040"/>
            <a:ext cx="11055096" cy="1234440"/>
          </a:xfrm>
          <a:prstGeom prst="roundRect">
            <a:avLst>
              <a:gd name="adj" fmla="val 4444"/>
            </a:avLst>
          </a:prstGeom>
          <a:solidFill>
            <a:srgbClr val="43362C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32688" y="5047488"/>
            <a:ext cx="10323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SUGESTÕES DE FRASES PARA PEDIR AVALIAÇÃO NO GOOGLE E SEGUIDOR NO INSTAGRAM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2688" y="5321808"/>
            <a:ext cx="10323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peças novas eu mostro lá primeiro.”   ·   “Você é de onde? Então guarda o nosso contato — a gente envia para o Brasil todo, o frete é fixo.”   ·   “Avalia a gente no Google, ajuda muito outras pessoas a encontrarem a loja.”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32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killsClaude/pekar-joias/pekar-logo-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8832" y="310896"/>
            <a:ext cx="457200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47472"/>
            <a:ext cx="10140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4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PROPOSTA  ·  PARTE 03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603504"/>
            <a:ext cx="10140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media: o perfil tocado por mim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566928" y="1554480"/>
            <a:ext cx="6766560" cy="3429000"/>
          </a:xfrm>
          <a:prstGeom prst="roundRect">
            <a:avLst>
              <a:gd name="adj" fmla="val 1600"/>
            </a:avLst>
          </a:prstGeom>
          <a:solidFill>
            <a:srgbClr val="43362C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32688" y="173736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INCLUÍDO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932688" y="2084832"/>
            <a:ext cx="219456" cy="21945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8" name="Text 5"/>
          <p:cNvSpPr/>
          <p:nvPr/>
        </p:nvSpPr>
        <p:spPr>
          <a:xfrm>
            <a:off x="932688" y="2084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280160" y="20116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D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Legendas e programação das publicações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32688" y="2468880"/>
            <a:ext cx="219456" cy="21945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11" name="Text 8"/>
          <p:cNvSpPr/>
          <p:nvPr/>
        </p:nvSpPr>
        <p:spPr>
          <a:xfrm>
            <a:off x="932688" y="24688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280160" y="239572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D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Postagens diversificadas entre Reels, carrossel e estático, conforme o material recebido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32688" y="2852928"/>
            <a:ext cx="219456" cy="21945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" y="285292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280160" y="277977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D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conforme o material disponível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932688" y="3236976"/>
            <a:ext cx="219456" cy="21945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17" name="Text 14"/>
          <p:cNvSpPr/>
          <p:nvPr/>
        </p:nvSpPr>
        <p:spPr>
          <a:xfrm>
            <a:off x="932688" y="32369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280160" y="316382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D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de produção de fotos e vídeos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932688" y="3621024"/>
            <a:ext cx="219456" cy="21945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20" name="Text 17"/>
          <p:cNvSpPr/>
          <p:nvPr/>
        </p:nvSpPr>
        <p:spPr>
          <a:xfrm>
            <a:off x="932688" y="36210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280160" y="354787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D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Análise, sugestões de conteúdo e relatório de tendências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32688" y="4005072"/>
            <a:ext cx="219456" cy="21945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23" name="Text 20"/>
          <p:cNvSpPr/>
          <p:nvPr/>
        </p:nvSpPr>
        <p:spPr>
          <a:xfrm>
            <a:off x="932688" y="40050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280160" y="3931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D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Reuniões quinzenais de alinhamento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32688" y="4389120"/>
            <a:ext cx="219456" cy="219456"/>
          </a:xfrm>
          <a:prstGeom prst="ellipse">
            <a:avLst/>
          </a:prstGeom>
          <a:solidFill>
            <a:srgbClr val="C9A455"/>
          </a:solidFill>
          <a:ln/>
        </p:spPr>
      </p:sp>
      <p:sp>
        <p:nvSpPr>
          <p:cNvPr id="26" name="Text 23"/>
          <p:cNvSpPr/>
          <p:nvPr/>
        </p:nvSpPr>
        <p:spPr>
          <a:xfrm>
            <a:off x="932688" y="43891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280160" y="43159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E9DD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Disponibilidade no WhatsApp em qualquer dia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7653528" y="1554480"/>
            <a:ext cx="3968496" cy="1280160"/>
          </a:xfrm>
          <a:prstGeom prst="roundRect">
            <a:avLst>
              <a:gd name="adj" fmla="val 4286"/>
            </a:avLst>
          </a:prstGeom>
          <a:solidFill>
            <a:srgbClr val="43362C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8019288" y="1737360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C9A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INVESTIMENTO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8019288" y="2011680"/>
            <a:ext cx="32369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R$ 900,00</a:t>
            </a:r>
            <a:pPr indent="0" marL="0">
              <a:buNone/>
            </a:pPr>
            <a:r>
              <a:rPr lang="en-US" sz="11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mês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019288" y="2340864"/>
            <a:ext cx="3236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podemos definir juntas o melhor dia de cobrança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7653528" y="2999232"/>
            <a:ext cx="3968496" cy="1554480"/>
          </a:xfrm>
          <a:prstGeom prst="roundRect">
            <a:avLst>
              <a:gd name="adj" fmla="val 3529"/>
            </a:avLst>
          </a:prstGeom>
          <a:solidFill>
            <a:srgbClr val="43362C"/>
          </a:solidFill>
          <a:ln/>
          <a:effectLst>
            <a:outerShdw sx="100000" sy="100000" kx="0" ky="0" algn="bl" rotWithShape="0" blurRad="177800" dist="25400" dir="5400000">
              <a:srgbClr val="000000">
                <a:alpha val="10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8019288" y="3182112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BF5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PEKAR ENTREGA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019288" y="3474720"/>
            <a:ext cx="32369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material de foto e vídeo já selecionado e tratado, com o nome da peça.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566928" y="5193792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propostas são independentes.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328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3931920"/>
            <a:ext cx="4023360" cy="4023360"/>
          </a:xfrm>
          <a:prstGeom prst="ellipse">
            <a:avLst/>
          </a:prstGeom>
          <a:ln w="12700">
            <a:solidFill>
              <a:srgbClr val="C9A455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-1188720"/>
            <a:ext cx="3291840" cy="3291840"/>
          </a:xfrm>
          <a:prstGeom prst="ellipse">
            <a:avLst/>
          </a:prstGeom>
          <a:solidFill>
            <a:srgbClr val="C9A455">
              <a:alpha val="10000"/>
            </a:srgbClr>
          </a:solidFill>
          <a:ln/>
        </p:spPr>
      </p:sp>
      <p:pic>
        <p:nvPicPr>
          <p:cNvPr id="4" name="Image 0" descr="/home/user/SkillsClaude/pekar-joias/pekar-logo-cla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13832" y="1051560"/>
            <a:ext cx="1170432" cy="15179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288036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Obrigada pela confiança.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566928" y="3639312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9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dúvida sobre esta apresentação, é só me chamar no WhatsApp do grupo do projeto.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4956048" y="4315968"/>
            <a:ext cx="2286000" cy="0"/>
          </a:xfrm>
          <a:prstGeom prst="line">
            <a:avLst/>
          </a:prstGeom>
          <a:noFill/>
          <a:ln w="9525">
            <a:solidFill>
              <a:srgbClr val="C9A455">
                <a:alpha val="60000"/>
              </a:srgbClr>
            </a:solidFill>
            <a:prstDash val="solid"/>
          </a:ln>
        </p:spPr>
      </p:sp>
      <p:pic>
        <p:nvPicPr>
          <p:cNvPr id="8" name="Image 1" descr="/home/user/SkillsClaude/pekar-joias/assinatura-alusul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4498848"/>
            <a:ext cx="237744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778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spc="120" kern="0" dirty="0">
                <a:solidFill>
                  <a:srgbClr val="8A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Pekar Arte em Jóias  ·  25 de agosto de 2026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Pekar Arte em Jóias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Pekar Arte em Jóias — Análise, entrega e nova proposta</dc:title>
  <dc:subject>PptxGenJS Presentation</dc:subject>
  <dc:creator>AluSulina</dc:creator>
  <cp:lastModifiedBy>AluSulina</cp:lastModifiedBy>
  <cp:revision>1</cp:revision>
  <dcterms:created xsi:type="dcterms:W3CDTF">2026-08-25T21:36:53Z</dcterms:created>
  <dcterms:modified xsi:type="dcterms:W3CDTF">2026-08-25T21:36:53Z</dcterms:modified>
</cp:coreProperties>
</file>