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Uma frase: “Karen, essa apresentação tem três partes — o que foi entregue, o que eu analisei do mercado e do perfil, e a proposta para continuarmos.”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 para a Karen saber quanto tempo falta e onde estamos.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 ritmo: da aprovação ao conteúdo no ar foram 11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esconder o número. Base construída agora; crescimento é objetivo da próxima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item por item e sair da reunião com resposta para o máximo possível.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Combinar prazo: pedir o vídeo do guia de medidas ainda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de maior valor escondido da etapa: recuperar a posse dos cadastros evita dor de cabeça permanente. A disputa das contas está orçada na proposta, no fim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é um bônus, fora do escopo contratado. O termo de imagem destrava depoimento e foto de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 a parte 1. São ativos permanentes da marca, não serviço consumido.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Pekar já trabalha prata e peça autoral. A tendência confirma o caminho, não pede mudança.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argumento central da análise: significado vende mais que descrição.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um post não cabe em nenhum dos cinco, provavelmente não deveria ser publicado.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linha do Estático estava em branco na versão anterior — preenchida aqui, confirmar se combina com o que a Karen pensou.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 dizer isso em voz alta: não estou vendendo certeza, estou propondo um teste com medição.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roteiro resolve o problema de arquivo para a temporada: uma diária de gravação rende semanas de post.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frases são para as vendedoras usarem no balcão. Custo zero e efeito direto na avaliação do Google.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são contratações separadas, para a Karen não sentir que é pacote fechado.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combinando os dois pedidos pendentes e o prazo de resposta da proposta.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2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-1371600"/>
            <a:ext cx="5120640" cy="5120640"/>
          </a:xfrm>
          <a:prstGeom prst="ellipse">
            <a:avLst/>
          </a:prstGeom>
          <a:ln w="12700">
            <a:solidFill>
              <a:srgbClr val="C9A45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98280" y="-502920"/>
            <a:ext cx="4206240" cy="4206240"/>
          </a:xfrm>
          <a:prstGeom prst="ellipse">
            <a:avLst/>
          </a:prstGeom>
          <a:ln w="22225">
            <a:solidFill>
              <a:srgbClr val="C9A4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297680"/>
            <a:ext cx="3108960" cy="3108960"/>
          </a:xfrm>
          <a:prstGeom prst="ellipse">
            <a:avLst/>
          </a:prstGeom>
          <a:solidFill>
            <a:srgbClr val="C9A455">
              <a:alpha val="10000"/>
            </a:srgbClr>
          </a:solidFill>
          <a:ln/>
        </p:spPr>
      </p:sp>
      <p:pic>
        <p:nvPicPr>
          <p:cNvPr id="5" name="Image 0" descr="/tmp/claude-0/-home-user-SkillsClaude/5c4c7943-77ea-50b0-8691-b173cc511909/scratchpad/pekar2/pekar-logo-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566928"/>
            <a:ext cx="1572768" cy="2039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084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PEKAR ARTE EM JÓIAS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2450592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Análise, entrega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nova proposta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566928" y="4206240"/>
            <a:ext cx="3703320" cy="548640"/>
          </a:xfrm>
          <a:prstGeom prst="roundRect">
            <a:avLst>
              <a:gd name="adj" fmla="val 50000"/>
            </a:avLst>
          </a:prstGeom>
          <a:solidFill>
            <a:srgbClr val="C9A455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42062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30/07/2026  a  25/08/2026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5138928"/>
            <a:ext cx="2834640" cy="0"/>
          </a:xfrm>
          <a:prstGeom prst="line">
            <a:avLst/>
          </a:prstGeom>
          <a:noFill/>
          <a:ln w="9525">
            <a:solidFill>
              <a:srgbClr val="C9A455">
                <a:alpha val="55000"/>
              </a:srgbClr>
            </a:solidFill>
            <a:prstDash val="solid"/>
          </a:ln>
        </p:spPr>
      </p:sp>
      <p:pic>
        <p:nvPicPr>
          <p:cNvPr id="11" name="Image 1" descr="/tmp/claude-0/-home-user-SkillsClaude/5c4c7943-77ea-50b0-8691-b173cc511909/scratchpad/pekar2/assinatura-alusul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285232"/>
            <a:ext cx="219456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illsClaude/5c4c7943-77ea-50b0-8691-b173cc511909/scratchpad/pekar2/peka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40080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ver aqui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66928" y="1691640"/>
            <a:ext cx="3502152" cy="3200400"/>
          </a:xfrm>
          <a:prstGeom prst="roundRect">
            <a:avLst>
              <a:gd name="adj" fmla="val 1714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32688" y="19659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932688" y="274320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entrega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32688" y="3218688"/>
            <a:ext cx="2770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foi feito entre 30 de julho e 25 de agosto: identidade, Instagram, Google e os arquivos que ficam com a Pekar.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02152" cy="3200400"/>
          </a:xfrm>
          <a:prstGeom prst="roundRect">
            <a:avLst>
              <a:gd name="adj" fmla="val 1714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09160" y="19659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F5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4709160" y="274320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análise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709160" y="3218688"/>
            <a:ext cx="2770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mercado de joalheria pede em 2026 e como isso vira conteúdo, formato, horário e roteiro de gravação.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119872" y="1691640"/>
            <a:ext cx="3502152" cy="3200400"/>
          </a:xfrm>
          <a:prstGeom prst="roundRect">
            <a:avLst>
              <a:gd name="adj" fmla="val 1714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85632" y="19659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7A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8485632" y="274320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proposta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485632" y="3218688"/>
            <a:ext cx="2770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sugiro para a próxima fase, com escopo e valores separados por frente de trabalho.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66928" y="521208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em algum ponto eu usar um termo que não faça sentido, me interrompe — a ideia é que tudo aqui seja claro.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illsClaude/5c4c7943-77ea-50b0-8691-b173cc511909/scratchpad/pekar2/peka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 ·  PARTE 01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40080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foi feito, dia a dia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66928" y="1664208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E9DDCA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16642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2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737360" y="160934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 aprovada e briefing enviado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10528" y="1609344"/>
            <a:ext cx="5111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combinado fechado e o questionário de entendimento da marca enviado para a Karen.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2304288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E9DDCA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23042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2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737360" y="224942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 ao Instagram e arquivos da logo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10528" y="2249424"/>
            <a:ext cx="5111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Pekar liberou o perfil e enviou os arquivos originais da logo.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2944368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E9DDCA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29443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2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01/08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737360" y="288950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respondido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10528" y="2889504"/>
            <a:ext cx="5111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respostas da Karen chegaram e viraram a base da identidade.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3584448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E9DDCA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35844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2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02/08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737360" y="352958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e guia de Instagram entregues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510528" y="3529584"/>
            <a:ext cx="5111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foi criado o grupo de WhatsApp do projeto, para agilizar o dia a dia.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4224528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E9DDCA"/>
          </a:solidFill>
          <a:ln/>
        </p:spPr>
      </p:sp>
      <p:sp>
        <p:nvSpPr>
          <p:cNvPr id="22" name="Text 19"/>
          <p:cNvSpPr/>
          <p:nvPr/>
        </p:nvSpPr>
        <p:spPr>
          <a:xfrm>
            <a:off x="566928" y="42245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2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03/08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737360" y="416966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atualizado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510528" y="4169664"/>
            <a:ext cx="5111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reescrita, capas de destaque no padrão da marca e link de compra na bio.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6928" y="4864608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E9DDCA"/>
          </a:solidFill>
          <a:ln/>
        </p:spPr>
      </p:sp>
      <p:sp>
        <p:nvSpPr>
          <p:cNvPr id="26" name="Text 23"/>
          <p:cNvSpPr/>
          <p:nvPr/>
        </p:nvSpPr>
        <p:spPr>
          <a:xfrm>
            <a:off x="566928" y="48646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2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10/08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737360" y="480974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Primeiras postagens no ar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510528" y="4809744"/>
            <a:ext cx="5111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 da publicação de conteúdo seguindo o guia entregue.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66928" y="5504688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C9A455"/>
          </a:solidFill>
          <a:ln/>
        </p:spPr>
      </p:sp>
      <p:sp>
        <p:nvSpPr>
          <p:cNvPr id="30" name="Text 27"/>
          <p:cNvSpPr/>
          <p:nvPr/>
        </p:nvSpPr>
        <p:spPr>
          <a:xfrm>
            <a:off x="566928" y="55046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737360" y="544982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Encerramento da primeira etapa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510528" y="5449824"/>
            <a:ext cx="5111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apresentação: balanço do que foi feito e proposta do que vem a seguir.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32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illsClaude/5c4c7943-77ea-50b0-8691-b173cc511909/scratchpad/pekar2/pekar-logo-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 ·  PARTE 01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40080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números mostram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66928" y="1645920"/>
            <a:ext cx="2624328" cy="1737360"/>
          </a:xfrm>
          <a:prstGeom prst="roundRect">
            <a:avLst>
              <a:gd name="adj" fmla="val 3684"/>
            </a:avLst>
          </a:prstGeom>
          <a:solidFill>
            <a:srgbClr val="43362C"/>
          </a:solidFill>
          <a:ln/>
        </p:spPr>
      </p:sp>
      <p:sp>
        <p:nvSpPr>
          <p:cNvPr id="6" name="Text 3"/>
          <p:cNvSpPr/>
          <p:nvPr/>
        </p:nvSpPr>
        <p:spPr>
          <a:xfrm>
            <a:off x="704088" y="1792224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2.826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04088" y="2551176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4088" y="284378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03/08/2026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56432" y="1645920"/>
            <a:ext cx="2624328" cy="1737360"/>
          </a:xfrm>
          <a:prstGeom prst="roundRect">
            <a:avLst>
              <a:gd name="adj" fmla="val 3684"/>
            </a:avLst>
          </a:prstGeom>
          <a:solidFill>
            <a:srgbClr val="43362C"/>
          </a:solidFill>
          <a:ln/>
        </p:spPr>
      </p:sp>
      <p:sp>
        <p:nvSpPr>
          <p:cNvPr id="10" name="Text 7"/>
          <p:cNvSpPr/>
          <p:nvPr/>
        </p:nvSpPr>
        <p:spPr>
          <a:xfrm>
            <a:off x="3593592" y="1792224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2.838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593592" y="2551176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593592" y="284378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24/08/2026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45936" y="1645920"/>
            <a:ext cx="2624328" cy="1737360"/>
          </a:xfrm>
          <a:prstGeom prst="roundRect">
            <a:avLst>
              <a:gd name="adj" fmla="val 3684"/>
            </a:avLst>
          </a:prstGeom>
          <a:solidFill>
            <a:srgbClr val="C9A455"/>
          </a:solidFill>
          <a:ln/>
        </p:spPr>
      </p:sp>
      <p:sp>
        <p:nvSpPr>
          <p:cNvPr id="14" name="Text 11"/>
          <p:cNvSpPr/>
          <p:nvPr/>
        </p:nvSpPr>
        <p:spPr>
          <a:xfrm>
            <a:off x="6483096" y="1792224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6483096" y="2551176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seguidores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83096" y="284378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7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período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235440" y="1645920"/>
            <a:ext cx="2624328" cy="1737360"/>
          </a:xfrm>
          <a:prstGeom prst="roundRect">
            <a:avLst>
              <a:gd name="adj" fmla="val 3684"/>
            </a:avLst>
          </a:prstGeom>
          <a:solidFill>
            <a:srgbClr val="43362C"/>
          </a:solidFill>
          <a:ln/>
        </p:spPr>
      </p:sp>
      <p:sp>
        <p:nvSpPr>
          <p:cNvPr id="18" name="Text 15"/>
          <p:cNvSpPr/>
          <p:nvPr/>
        </p:nvSpPr>
        <p:spPr>
          <a:xfrm>
            <a:off x="9372600" y="1792224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9372600" y="2551176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 postagens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372600" y="284378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10/08 a 24/08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66928" y="3611880"/>
            <a:ext cx="11055096" cy="2286000"/>
          </a:xfrm>
          <a:prstGeom prst="roundRect">
            <a:avLst>
              <a:gd name="adj" fmla="val 3200"/>
            </a:avLst>
          </a:prstGeom>
          <a:solidFill>
            <a:srgbClr val="43362C"/>
          </a:solidFill>
          <a:ln/>
        </p:spPr>
      </p:sp>
      <p:sp>
        <p:nvSpPr>
          <p:cNvPr id="22" name="Text 19"/>
          <p:cNvSpPr/>
          <p:nvPr/>
        </p:nvSpPr>
        <p:spPr>
          <a:xfrm>
            <a:off x="1024128" y="3822192"/>
            <a:ext cx="10140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Lendo esses números com honestidade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1024128" y="4206240"/>
            <a:ext cx="1014069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14 dias de postagens o perfil ganhou 12 seguidores. Cresceu pouco, e isso era esperado: esta primeira etapa não foi de crescimento, foi de organização.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 novo vem depois, com constância de publicação e ações feitas para atrair quem ainda não conhece a marca. Em duas semanas não há como medir isso — o que existe hoje é a base pronta para esse crescimento acontecer.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illsClaude/5c4c7943-77ea-50b0-8691-b173cc511909/scratchpad/pekar2/peka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 ·  PARTE 01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40080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aberto: o que precisamos decidir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66928" y="1627632"/>
            <a:ext cx="5367528" cy="1024128"/>
          </a:xfrm>
          <a:prstGeom prst="roundRect">
            <a:avLst>
              <a:gd name="adj" fmla="val 5357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" y="1929384"/>
            <a:ext cx="310896" cy="31089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80160" y="1773936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Guia de medidas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80160" y="2066544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Filmado pela Karen em 24/08 no aplicativo All Silver. Aguardando o envio para entrar nos destaques.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54496" y="1627632"/>
            <a:ext cx="5367528" cy="1024128"/>
          </a:xfrm>
          <a:prstGeom prst="roundRect">
            <a:avLst>
              <a:gd name="adj" fmla="val 5357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28816" y="1929384"/>
            <a:ext cx="310896" cy="31089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12" name="Text 9"/>
          <p:cNvSpPr/>
          <p:nvPr/>
        </p:nvSpPr>
        <p:spPr>
          <a:xfrm>
            <a:off x="6528816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67728" y="1773936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Deixar de seguir 2.000 contas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967728" y="2066544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da lista de “seguindo”, para o perfil ficar coerente com a marca.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2788920"/>
            <a:ext cx="5367528" cy="1024128"/>
          </a:xfrm>
          <a:prstGeom prst="roundRect">
            <a:avLst>
              <a:gd name="adj" fmla="val 5357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1248" y="3090672"/>
            <a:ext cx="310896" cy="31089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280160" y="2935224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Pagamento com cartão de crédito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280160" y="3227832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Pago. Assim que estiver funcionando, atualizamos a informação no Instagram.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54496" y="2788920"/>
            <a:ext cx="5367528" cy="1024128"/>
          </a:xfrm>
          <a:prstGeom prst="roundRect">
            <a:avLst>
              <a:gd name="adj" fmla="val 5357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28816" y="3090672"/>
            <a:ext cx="310896" cy="31089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22" name="Text 19"/>
          <p:cNvSpPr/>
          <p:nvPr/>
        </p:nvSpPr>
        <p:spPr>
          <a:xfrm>
            <a:off x="6528816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967728" y="2935224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Cupom de 1ª compra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967728" y="3227832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em estudo: pode virar um desconto de …% no PIX.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66928" y="3950208"/>
            <a:ext cx="5367528" cy="1024128"/>
          </a:xfrm>
          <a:prstGeom prst="roundRect">
            <a:avLst>
              <a:gd name="adj" fmla="val 5357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41248" y="4251960"/>
            <a:ext cx="310896" cy="31089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27" name="Text 24"/>
          <p:cNvSpPr/>
          <p:nvPr/>
        </p:nvSpPr>
        <p:spPr>
          <a:xfrm>
            <a:off x="841248" y="4251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280160" y="409651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novo para WhatsApp Business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280160" y="4389120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o atendimento da loja do número pessoal.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254496" y="3950208"/>
            <a:ext cx="5367528" cy="1024128"/>
          </a:xfrm>
          <a:prstGeom prst="roundRect">
            <a:avLst>
              <a:gd name="adj" fmla="val 5357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528816" y="4251960"/>
            <a:ext cx="310896" cy="31089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32" name="Text 29"/>
          <p:cNvSpPr/>
          <p:nvPr/>
        </p:nvSpPr>
        <p:spPr>
          <a:xfrm>
            <a:off x="6528816" y="4251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967728" y="409651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responde as mensagens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6967728" y="4389120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só a Karen responde. Na temporada, vai haver tempo de responder e atender?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66928" y="5111496"/>
            <a:ext cx="5367528" cy="1024128"/>
          </a:xfrm>
          <a:prstGeom prst="roundRect">
            <a:avLst>
              <a:gd name="adj" fmla="val 5357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841248" y="5413248"/>
            <a:ext cx="310896" cy="31089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37" name="Text 34"/>
          <p:cNvSpPr/>
          <p:nvPr/>
        </p:nvSpPr>
        <p:spPr>
          <a:xfrm>
            <a:off x="841248" y="5413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280160" y="5257800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real de fotos e vídeos</a:t>
            </a:r>
            <a:endParaRPr lang="en-US" sz="1450" dirty="0"/>
          </a:p>
        </p:txBody>
      </p:sp>
      <p:sp>
        <p:nvSpPr>
          <p:cNvPr id="39" name="Text 36"/>
          <p:cNvSpPr/>
          <p:nvPr/>
        </p:nvSpPr>
        <p:spPr>
          <a:xfrm>
            <a:off x="1280160" y="5550408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por semana a Pekar consegue produzir de verdade? Precisamos de arquivo para atravessar a temporada.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illsClaude/5c4c7943-77ea-50b0-8691-b173cc511909/scratchpad/pekar2/peka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 ·  PARTE 01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40080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destaques que dependem da Pekar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capas já foram criadas e estão guardadas no Drive. Para entrarem no perfil, falta o conteúdo.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2011680"/>
            <a:ext cx="5367528" cy="3063240"/>
          </a:xfrm>
          <a:prstGeom prst="roundRect">
            <a:avLst>
              <a:gd name="adj" fmla="val 1791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78408" y="22860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9A455"/>
          </a:solidFill>
          <a:ln/>
        </p:spPr>
      </p:sp>
      <p:sp>
        <p:nvSpPr>
          <p:cNvPr id="8" name="Text 5"/>
          <p:cNvSpPr/>
          <p:nvPr/>
        </p:nvSpPr>
        <p:spPr>
          <a:xfrm>
            <a:off x="978408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78408" y="2999232"/>
            <a:ext cx="4544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Guia de medidas de anel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78408" y="3401568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 está pronta.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78408" y="3749040"/>
            <a:ext cx="4544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vídeo foi gravado pela Karen em 24/08 — falta enviar para publicarmos o destaque.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78408" y="4498848"/>
            <a:ext cx="2697480" cy="402336"/>
          </a:xfrm>
          <a:prstGeom prst="roundRect">
            <a:avLst>
              <a:gd name="adj" fmla="val 50000"/>
            </a:avLst>
          </a:prstGeom>
          <a:solidFill>
            <a:srgbClr val="332821"/>
          </a:solidFill>
          <a:ln/>
        </p:spPr>
      </p:sp>
      <p:sp>
        <p:nvSpPr>
          <p:cNvPr id="13" name="Text 10"/>
          <p:cNvSpPr/>
          <p:nvPr/>
        </p:nvSpPr>
        <p:spPr>
          <a:xfrm>
            <a:off x="978408" y="449884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Karen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54496" y="2011680"/>
            <a:ext cx="5367528" cy="3063240"/>
          </a:xfrm>
          <a:prstGeom prst="roundRect">
            <a:avLst>
              <a:gd name="adj" fmla="val 1791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65976" y="22860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BF5340"/>
          </a:solidFill>
          <a:ln/>
        </p:spPr>
      </p:sp>
      <p:sp>
        <p:nvSpPr>
          <p:cNvPr id="16" name="Text 13"/>
          <p:cNvSpPr/>
          <p:nvPr/>
        </p:nvSpPr>
        <p:spPr>
          <a:xfrm>
            <a:off x="6665976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665976" y="2999232"/>
            <a:ext cx="4544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Depoimentos de clientes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665976" y="3401568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 está pronta.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665976" y="3749040"/>
            <a:ext cx="4544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a Karen e as vendedoras colherem os depoimentos com as clientes das lojas.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665976" y="4498848"/>
            <a:ext cx="2697480" cy="402336"/>
          </a:xfrm>
          <a:prstGeom prst="roundRect">
            <a:avLst>
              <a:gd name="adj" fmla="val 50000"/>
            </a:avLst>
          </a:prstGeom>
          <a:solidFill>
            <a:srgbClr val="332821"/>
          </a:solidFill>
          <a:ln/>
        </p:spPr>
      </p:sp>
      <p:sp>
        <p:nvSpPr>
          <p:cNvPr id="21" name="Text 18"/>
          <p:cNvSpPr/>
          <p:nvPr/>
        </p:nvSpPr>
        <p:spPr>
          <a:xfrm>
            <a:off x="6665976" y="449884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Karen e a equipe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6928" y="5285232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que os dois chegarem, os destaques entram no perfil e a vitrine do Instagram fica completa.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illsClaude/5c4c7943-77ea-50b0-8691-b173cc511909/scratchpad/pekar2/peka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 ·  PARTE 01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40080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Meu Negócio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66928" y="1572768"/>
            <a:ext cx="11055096" cy="749808"/>
          </a:xfrm>
          <a:prstGeom prst="roundRect">
            <a:avLst>
              <a:gd name="adj" fmla="val 7317"/>
            </a:avLst>
          </a:prstGeom>
          <a:solidFill>
            <a:srgbClr val="E9DDCA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78408" y="1572768"/>
            <a:ext cx="10232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combinado era atualizar fotos e informações das lojas no Google. Ao tentar o acesso, descobrimos que a Pekar não o tinha para editar — então o trabalho virou investigação.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66928" y="2487168"/>
            <a:ext cx="5367528" cy="2331720"/>
          </a:xfrm>
          <a:prstGeom prst="roundRect">
            <a:avLst>
              <a:gd name="adj" fmla="val 2353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78408" y="27249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DESCOBERTO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78408" y="3099816"/>
            <a:ext cx="256032" cy="256032"/>
          </a:xfrm>
          <a:prstGeom prst="ellipse">
            <a:avLst/>
          </a:prstGeom>
          <a:solidFill>
            <a:srgbClr val="BF5340"/>
          </a:solidFill>
          <a:ln/>
        </p:spPr>
      </p:sp>
      <p:sp>
        <p:nvSpPr>
          <p:cNvPr id="10" name="Text 7"/>
          <p:cNvSpPr/>
          <p:nvPr/>
        </p:nvSpPr>
        <p:spPr>
          <a:xfrm>
            <a:off x="978408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362456" y="3017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Juquehy tem 2 contas: uma como joalheria e outra como restaurante.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78408" y="3666744"/>
            <a:ext cx="256032" cy="256032"/>
          </a:xfrm>
          <a:prstGeom prst="ellipse">
            <a:avLst/>
          </a:prstGeom>
          <a:solidFill>
            <a:srgbClr val="BF5340"/>
          </a:solidFill>
          <a:ln/>
        </p:spPr>
      </p:sp>
      <p:sp>
        <p:nvSpPr>
          <p:cNvPr id="13" name="Text 10"/>
          <p:cNvSpPr/>
          <p:nvPr/>
        </p:nvSpPr>
        <p:spPr>
          <a:xfrm>
            <a:off x="978408" y="3666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62456" y="35844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Maresias tem 1 conta.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78408" y="4233672"/>
            <a:ext cx="256032" cy="256032"/>
          </a:xfrm>
          <a:prstGeom prst="ellipse">
            <a:avLst/>
          </a:prstGeom>
          <a:solidFill>
            <a:srgbClr val="BF5340"/>
          </a:solidFill>
          <a:ln/>
        </p:spPr>
      </p:sp>
      <p:sp>
        <p:nvSpPr>
          <p:cNvPr id="16" name="Text 13"/>
          <p:cNvSpPr/>
          <p:nvPr/>
        </p:nvSpPr>
        <p:spPr>
          <a:xfrm>
            <a:off x="978408" y="4233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362456" y="41513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acesso das três está com o e-mail co….@gmail.com, fora do controle da Pekar.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54496" y="2487168"/>
            <a:ext cx="5367528" cy="2331720"/>
          </a:xfrm>
          <a:prstGeom prst="roundRect">
            <a:avLst>
              <a:gd name="adj" fmla="val 2353"/>
            </a:avLst>
          </a:prstGeom>
          <a:solidFill>
            <a:srgbClr val="332821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65976" y="27249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FEITO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65976" y="30358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Criado um e-mail oficial da marca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65976" y="33832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pekarjoias@gmail.com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6665976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senha: 080112Batismo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665976" y="40690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passa a ser o dono definitivo dos cadastros, no lugar de um e-mail pessoal de terceiros. Recomendo trocar a senha assim que o acesso for liberado.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6928" y="5029200"/>
            <a:ext cx="11055096" cy="658368"/>
          </a:xfrm>
          <a:prstGeom prst="roundRect">
            <a:avLst>
              <a:gd name="adj" fmla="val 9722"/>
            </a:avLst>
          </a:prstGeom>
          <a:solidFill>
            <a:srgbClr val="332821"/>
          </a:solidFill>
          <a:ln/>
        </p:spPr>
      </p:sp>
      <p:sp>
        <p:nvSpPr>
          <p:cNvPr id="25" name="Text 22"/>
          <p:cNvSpPr/>
          <p:nvPr/>
        </p:nvSpPr>
        <p:spPr>
          <a:xfrm>
            <a:off x="978408" y="502920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necessária:  </a:t>
            </a:r>
            <a:pPr indent="0" marL="0">
              <a:buNone/>
            </a:pPr>
            <a:r>
              <a:rPr lang="en-US" sz="1350" dirty="0">
                <a:solidFill>
                  <a:srgbClr val="E9D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reivindicar as três contas e atualizar fotos e informações assim que o acesso for liberado.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illsClaude/5c4c7943-77ea-50b0-8691-b173cc511909/scratchpad/pekar2/peka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 ·  PARTE 01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40080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Bônus: todos os arquivos em um lugar só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66928" y="1645920"/>
            <a:ext cx="5029200" cy="3566160"/>
          </a:xfrm>
          <a:prstGeom prst="roundRect">
            <a:avLst>
              <a:gd name="adj" fmla="val 1538"/>
            </a:avLst>
          </a:prstGeom>
          <a:solidFill>
            <a:srgbClr val="332821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78408" y="19385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pasta no Google Drive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78408" y="23408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e-mail pekarjoias@gmail.com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78408" y="274320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estava na proposta, mas foi criada para manter todos os arquivos do projeto reunidos e no nome da própria marca.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equipe mudar, os arquivos continuam lá.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78408" y="45902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acessar: entrar no Google Drive com esse e-mail.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0176" y="1645920"/>
            <a:ext cx="5641848" cy="3566160"/>
          </a:xfrm>
          <a:prstGeom prst="roundRect">
            <a:avLst>
              <a:gd name="adj" fmla="val 1538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91656" y="1901952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TEM DENTRO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91656" y="2286000"/>
            <a:ext cx="274320" cy="274320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13" name="Text 10"/>
          <p:cNvSpPr/>
          <p:nvPr/>
        </p:nvSpPr>
        <p:spPr>
          <a:xfrm>
            <a:off x="6391656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21424" y="2212848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Capas de destaque do Instagram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821424" y="2505456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imagens das bolinhas do perfil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91656" y="3035808"/>
            <a:ext cx="274320" cy="274320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17" name="Text 14"/>
          <p:cNvSpPr/>
          <p:nvPr/>
        </p:nvSpPr>
        <p:spPr>
          <a:xfrm>
            <a:off x="6391656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21424" y="2962656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Imagens da logo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821424" y="3255264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versões, prontas para uso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91656" y="3785616"/>
            <a:ext cx="274320" cy="274320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21" name="Text 18"/>
          <p:cNvSpPr/>
          <p:nvPr/>
        </p:nvSpPr>
        <p:spPr>
          <a:xfrm>
            <a:off x="6391656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821424" y="3712464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Documentos do projeto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821424" y="4005072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identidade, guia de Instagram e demais materiais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391656" y="4535424"/>
            <a:ext cx="274320" cy="274320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25" name="Text 22"/>
          <p:cNvSpPr/>
          <p:nvPr/>
        </p:nvSpPr>
        <p:spPr>
          <a:xfrm>
            <a:off x="6391656" y="4535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821424" y="446227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Termos de autorização de imagem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821424" y="475488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funcionários e para clientes, liberando o uso de fotos, vídeos e depoimentos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32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illsClaude/5c4c7943-77ea-50b0-8691-b173cc511909/scratchpad/pekar2/pekar-logo-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 ·  PARTE 01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40080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Primeira etapa concluída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66928" y="1783080"/>
            <a:ext cx="5367528" cy="1920240"/>
          </a:xfrm>
          <a:prstGeom prst="roundRect">
            <a:avLst>
              <a:gd name="adj" fmla="val 2857"/>
            </a:avLst>
          </a:prstGeom>
          <a:solidFill>
            <a:srgbClr val="43362C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78408" y="1993392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PROJETO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78408" y="2304288"/>
            <a:ext cx="4544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Concluída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78408" y="2889504"/>
            <a:ext cx="4544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frentes combinadas foram entregues ou resolvidas.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54496" y="1783080"/>
            <a:ext cx="5367528" cy="1920240"/>
          </a:xfrm>
          <a:prstGeom prst="roundRect">
            <a:avLst>
              <a:gd name="adj" fmla="val 2857"/>
            </a:avLst>
          </a:prstGeom>
          <a:solidFill>
            <a:srgbClr val="43362C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65976" y="1993392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 FINAL (50%)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65976" y="2304288"/>
            <a:ext cx="4544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R$ 1.250,00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665976" y="2889504"/>
            <a:ext cx="4544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Vencimento em 01/09/2026, conforme a proposta aprovada em 30/07.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6928" y="3931920"/>
            <a:ext cx="11055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A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fica com a Pekar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566928" y="4434840"/>
            <a:ext cx="2624328" cy="1005840"/>
          </a:xfrm>
          <a:prstGeom prst="roundRect">
            <a:avLst>
              <a:gd name="adj" fmla="val 6364"/>
            </a:avLst>
          </a:prstGeom>
          <a:solidFill>
            <a:srgbClr val="43362C"/>
          </a:solidFill>
          <a:ln/>
        </p:spPr>
      </p:sp>
      <p:sp>
        <p:nvSpPr>
          <p:cNvPr id="15" name="Shape 12"/>
          <p:cNvSpPr/>
          <p:nvPr/>
        </p:nvSpPr>
        <p:spPr>
          <a:xfrm>
            <a:off x="822960" y="4800600"/>
            <a:ext cx="274320" cy="274320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207008" y="4553712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visual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3456432" y="4434840"/>
            <a:ext cx="2624328" cy="1005840"/>
          </a:xfrm>
          <a:prstGeom prst="roundRect">
            <a:avLst>
              <a:gd name="adj" fmla="val 6364"/>
            </a:avLst>
          </a:prstGeom>
          <a:solidFill>
            <a:srgbClr val="43362C"/>
          </a:solidFill>
          <a:ln/>
        </p:spPr>
      </p:sp>
      <p:sp>
        <p:nvSpPr>
          <p:cNvPr id="19" name="Shape 16"/>
          <p:cNvSpPr/>
          <p:nvPr/>
        </p:nvSpPr>
        <p:spPr>
          <a:xfrm>
            <a:off x="3712464" y="4800600"/>
            <a:ext cx="274320" cy="274320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20" name="Text 17"/>
          <p:cNvSpPr/>
          <p:nvPr/>
        </p:nvSpPr>
        <p:spPr>
          <a:xfrm>
            <a:off x="3712464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096512" y="4553712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organizado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345936" y="4434840"/>
            <a:ext cx="2624328" cy="1005840"/>
          </a:xfrm>
          <a:prstGeom prst="roundRect">
            <a:avLst>
              <a:gd name="adj" fmla="val 6364"/>
            </a:avLst>
          </a:prstGeom>
          <a:solidFill>
            <a:srgbClr val="43362C"/>
          </a:solidFill>
          <a:ln/>
        </p:spPr>
      </p:sp>
      <p:sp>
        <p:nvSpPr>
          <p:cNvPr id="23" name="Shape 20"/>
          <p:cNvSpPr/>
          <p:nvPr/>
        </p:nvSpPr>
        <p:spPr>
          <a:xfrm>
            <a:off x="6601968" y="4800600"/>
            <a:ext cx="274320" cy="274320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24" name="Text 21"/>
          <p:cNvSpPr/>
          <p:nvPr/>
        </p:nvSpPr>
        <p:spPr>
          <a:xfrm>
            <a:off x="6601968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86016" y="4553712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Guia de Instagram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9235440" y="4434840"/>
            <a:ext cx="2624328" cy="1005840"/>
          </a:xfrm>
          <a:prstGeom prst="roundRect">
            <a:avLst>
              <a:gd name="adj" fmla="val 6364"/>
            </a:avLst>
          </a:prstGeom>
          <a:solidFill>
            <a:srgbClr val="43362C"/>
          </a:solidFill>
          <a:ln/>
        </p:spPr>
      </p:sp>
      <p:sp>
        <p:nvSpPr>
          <p:cNvPr id="27" name="Shape 24"/>
          <p:cNvSpPr/>
          <p:nvPr/>
        </p:nvSpPr>
        <p:spPr>
          <a:xfrm>
            <a:off x="9491472" y="4800600"/>
            <a:ext cx="274320" cy="274320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28" name="Text 25"/>
          <p:cNvSpPr/>
          <p:nvPr/>
        </p:nvSpPr>
        <p:spPr>
          <a:xfrm>
            <a:off x="9491472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875520" y="4553712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E-mail e Drive da marca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illsClaude/5c4c7943-77ea-50b0-8691-b173cc511909/scratchpad/pekar2/peka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 ·  PARTE 02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40080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Tendências de joalheria para 2026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66928" y="1554480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E9DDCA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78408" y="15544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quatro movimentos do mercado. Três deles a Pekar já faz — o trabalho é nomear, não perseguir.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2423160"/>
            <a:ext cx="5367528" cy="2880360"/>
          </a:xfrm>
          <a:prstGeom prst="roundRect">
            <a:avLst>
              <a:gd name="adj" fmla="val 1905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78408" y="2651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978408" y="3273552"/>
            <a:ext cx="4544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prata voltou como tendência estética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78408" y="4023360"/>
            <a:ext cx="4544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anos de dourado, a prata 925 e o banho de ródio voltam como aposta do ano, especialmente para clima quente.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54496" y="2423160"/>
            <a:ext cx="5367528" cy="2880360"/>
          </a:xfrm>
          <a:prstGeom prst="roundRect">
            <a:avLst>
              <a:gd name="adj" fmla="val 1905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65976" y="2651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F5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665976" y="3273552"/>
            <a:ext cx="4544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Prata escultural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665976" y="4023360"/>
            <a:ext cx="4544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Textura martelada imitando seixo de rio, bezel assimétrico, borda crua, acabamento fosco no lugar do polido espelhado. A Pekar não precisa perseguir essa tendência — precisa nomear que já a pratica.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illsClaude/5c4c7943-77ea-50b0-8691-b173cc511909/scratchpad/pekar2/peka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 ·  PARTE 02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40080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pedras que o mercado quer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66928" y="1572768"/>
            <a:ext cx="5367528" cy="2971800"/>
          </a:xfrm>
          <a:prstGeom prst="roundRect">
            <a:avLst>
              <a:gd name="adj" fmla="val 1846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78408" y="18105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7A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78408" y="2432304"/>
            <a:ext cx="4544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Pedra colorida natural no centro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78408" y="3017520"/>
            <a:ext cx="4544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consumidor tem preferido a gema natural, irregular e única, à perfeição industrial repetida. Em alta: morganita, ametista lavanda, turmalina verde e tanzanita.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54496" y="1572768"/>
            <a:ext cx="5367528" cy="2971800"/>
          </a:xfrm>
          <a:prstGeom prst="roundRect">
            <a:avLst>
              <a:gd name="adj" fmla="val 1846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65976" y="18105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6665976" y="2432304"/>
            <a:ext cx="4544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Água-marinha, a pedra de 2026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665976" y="3017520"/>
            <a:ext cx="4544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Historicamente o amuleto dos navegantes, hoje associada a calma e proteção. Para uma joalheria que nasceu num mostruário na areia, é um presente de posicionamento — não precisa ser inventado, precisa ser ocupado.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4709160"/>
            <a:ext cx="11055096" cy="1234440"/>
          </a:xfrm>
          <a:prstGeom prst="roundRect">
            <a:avLst>
              <a:gd name="adj" fmla="val 4444"/>
            </a:avLst>
          </a:prstGeom>
          <a:solidFill>
            <a:srgbClr val="332821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78408" y="4864608"/>
            <a:ext cx="10232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leitura por trás das quatro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78408" y="5175504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joia passou a ser vista como ferramenta de bem-estar e conexão com o natural, não como enfeite. A Pekar já trabalha pedra natural: falta verbalizar o significado em cada peça. É o que muda a legenda de descritiva para simbólica — e é o que faz a cliente salvar e compartilhar o post.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illsClaude/5c4c7943-77ea-50b0-8691-b173cc511909/scratchpad/pekar2/peka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 ·  PARTE 02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40080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pilares de conteúdo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66928" y="14630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post da Pekar deve caber em um destes cinco assuntos. É o que dá identidade ao perfil.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2108606" cy="3246120"/>
          </a:xfrm>
          <a:prstGeom prst="roundRect">
            <a:avLst>
              <a:gd name="adj" fmla="val 2602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2402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A45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834640"/>
            <a:ext cx="16331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pedra e seu significado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3794760"/>
            <a:ext cx="16331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Água-marinha, morganita, ametista. O território que gera salvamento.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03550" y="1965960"/>
            <a:ext cx="2108606" cy="3246120"/>
          </a:xfrm>
          <a:prstGeom prst="roundRect">
            <a:avLst>
              <a:gd name="adj" fmla="val 2602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41294" y="22402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87AF9F"/>
          </a:solidFill>
          <a:ln/>
        </p:spPr>
      </p:sp>
      <p:sp>
        <p:nvSpPr>
          <p:cNvPr id="13" name="Text 10"/>
          <p:cNvSpPr/>
          <p:nvPr/>
        </p:nvSpPr>
        <p:spPr>
          <a:xfrm>
            <a:off x="3041294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041294" y="2834640"/>
            <a:ext cx="16331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mar como referência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041294" y="3794760"/>
            <a:ext cx="16331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conchas, a areia, a origem da marca no litoral norte.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40173" y="1965960"/>
            <a:ext cx="2108606" cy="3246120"/>
          </a:xfrm>
          <a:prstGeom prst="roundRect">
            <a:avLst>
              <a:gd name="adj" fmla="val 2602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277917" y="22402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BF5340"/>
          </a:solidFill>
          <a:ln/>
        </p:spPr>
      </p:sp>
      <p:sp>
        <p:nvSpPr>
          <p:cNvPr id="18" name="Text 15"/>
          <p:cNvSpPr/>
          <p:nvPr/>
        </p:nvSpPr>
        <p:spPr>
          <a:xfrm>
            <a:off x="5277917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277917" y="2834640"/>
            <a:ext cx="16331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social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277917" y="3794760"/>
            <a:ext cx="16331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frases que as clientes já dizem. Vale mais que qualquer anúncio.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276795" y="1965960"/>
            <a:ext cx="2108606" cy="3246120"/>
          </a:xfrm>
          <a:prstGeom prst="roundRect">
            <a:avLst>
              <a:gd name="adj" fmla="val 2602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514539" y="22402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A455"/>
          </a:solidFill>
          <a:ln/>
        </p:spPr>
      </p:sp>
      <p:sp>
        <p:nvSpPr>
          <p:cNvPr id="23" name="Text 20"/>
          <p:cNvSpPr/>
          <p:nvPr/>
        </p:nvSpPr>
        <p:spPr>
          <a:xfrm>
            <a:off x="7514539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514539" y="2834640"/>
            <a:ext cx="16331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História da marca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514539" y="3794760"/>
            <a:ext cx="16331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início, a evolução e o jeito de fazer — em doses pequenas.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513418" y="1965960"/>
            <a:ext cx="2108606" cy="3246120"/>
          </a:xfrm>
          <a:prstGeom prst="roundRect">
            <a:avLst>
              <a:gd name="adj" fmla="val 2602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751162" y="22402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87AF9F"/>
          </a:solidFill>
          <a:ln/>
        </p:spPr>
      </p:sp>
      <p:sp>
        <p:nvSpPr>
          <p:cNvPr id="28" name="Text 25"/>
          <p:cNvSpPr/>
          <p:nvPr/>
        </p:nvSpPr>
        <p:spPr>
          <a:xfrm>
            <a:off x="975116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751162" y="2834640"/>
            <a:ext cx="16331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Educativo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9751162" y="3794760"/>
            <a:ext cx="16331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 com a prata, guia de medidas, como escolher uma pedra.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illsClaude/5c4c7943-77ea-50b0-8691-b173cc511909/scratchpad/pekar2/peka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 ·  PARTE 02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40080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Formatos e frequência</a:t>
            </a:r>
            <a:endParaRPr lang="en-US" sz="3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5096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123176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40" kern="0" dirty="0">
                          <a:solidFill>
                            <a:srgbClr val="E9DD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40" kern="0" dirty="0">
                          <a:solidFill>
                            <a:srgbClr val="E9DD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QUE SERVE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40" kern="0" dirty="0">
                          <a:solidFill>
                            <a:srgbClr val="E9DD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82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 de quem ainda não segue. Brilho, textura e movimento da peça — o vídeo mostra o que a foto não mostra.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por semana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Carrossel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Salvamento e autoridade. Guias, significado da pedra, processo de produção.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por semana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Vitrine da marca. A peça bem fotografada, com o nome e o significado, para quem já acompanha.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por semana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 e conversão. Cada resposta abre uma conversa no direct, e é ali que a venda consultiva acontece.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diário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66928" y="5074920"/>
            <a:ext cx="11055096" cy="1051560"/>
          </a:xfrm>
          <a:prstGeom prst="roundRect">
            <a:avLst>
              <a:gd name="adj" fmla="val 5217"/>
            </a:avLst>
          </a:prstGeom>
          <a:solidFill>
            <a:srgbClr val="E9DDCA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978408" y="5074920"/>
            <a:ext cx="10232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32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essa divisão: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formato tem um trabalho diferente. Reels traz gente nova, carrossel constrói confiança, estático mantém a vitrine bonita e stories fecha a venda. Publicar só um formato deixa uma dessas pontas descoberta.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illsClaude/5c4c7943-77ea-50b0-8691-b173cc511909/scratchpad/pekar2/peka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 ·  PARTE 02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40080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Horários sugeridos de postagem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66928" y="1600200"/>
            <a:ext cx="2624328" cy="2606040"/>
          </a:xfrm>
          <a:prstGeom prst="roundRect">
            <a:avLst>
              <a:gd name="adj" fmla="val 2105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9536" y="182880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Terça a quinta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9536" y="219456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no feed.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9536" y="2578608"/>
            <a:ext cx="2039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entre 9h e 11h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Carrossel no almoço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no fim da tarde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456432" y="1600200"/>
            <a:ext cx="2624328" cy="2606040"/>
          </a:xfrm>
          <a:prstGeom prst="roundRect">
            <a:avLst>
              <a:gd name="adj" fmla="val 2105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749040" y="182880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Sexta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749040" y="219456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de tarde e noite.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49040" y="2578608"/>
            <a:ext cx="2039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17h – 20h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345936" y="1600200"/>
            <a:ext cx="2624328" cy="2606040"/>
          </a:xfrm>
          <a:prstGeom prst="roundRect">
            <a:avLst>
              <a:gd name="adj" fmla="val 2105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38544" y="182880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Sábado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638544" y="219456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 e fim de tarde.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38544" y="2578608"/>
            <a:ext cx="2039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 – 10h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17h – 20h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235440" y="1600200"/>
            <a:ext cx="2624328" cy="2606040"/>
          </a:xfrm>
          <a:prstGeom prst="roundRect">
            <a:avLst>
              <a:gd name="adj" fmla="val 2105"/>
            </a:avLst>
          </a:prstGeom>
          <a:solidFill>
            <a:srgbClr val="F7F1E7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528048" y="182880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Domingo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528048" y="219456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 e tarde.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528048" y="2578608"/>
            <a:ext cx="2039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 – 11h30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 – 16h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66928" y="4407408"/>
            <a:ext cx="11055096" cy="1600200"/>
          </a:xfrm>
          <a:prstGeom prst="roundRect">
            <a:avLst>
              <a:gd name="adj" fmla="val 3429"/>
            </a:avLst>
          </a:prstGeom>
          <a:solidFill>
            <a:srgbClr val="332821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024128" y="461772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VALIDAR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24128" y="4937760"/>
            <a:ext cx="10140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acima é hipótese estruturada, não verdade estabelecida. Para virar certeza, precisa de quatro semanas de grade fixa, medindo alcance de não-seguidores, salvamentos e conversas geradas. E precisa ser cruzada com o dado que só a Karen tem: o horário real de pico das lojas.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illsClaude/5c4c7943-77ea-50b0-8691-b173cc511909/scratchpad/pekar2/peka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 ·  PARTE 02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40080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de produção</a:t>
            </a:r>
            <a:endParaRPr lang="en-US" sz="3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8586216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40" kern="0" dirty="0">
                          <a:solidFill>
                            <a:srgbClr val="E9DD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40" kern="0" dirty="0">
                          <a:solidFill>
                            <a:srgbClr val="E9DD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GRAVAR / FOTOGRAFAR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82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Loja e ambiente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Fachada, vitrine, interior, balcão e embalagem. Também as fotos com o celular deitado para o Google: 5 fotos horizontais e bem iluminadas. O Google privilegia horizontal e penaliza foto escura.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Anéis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Carro-chefe. 8 a 10 peças, com prioridade para as autorais com pedra natural.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a 8 peças. O segundo que mais vende.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Colares e pingentes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 6 peças.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Pulseiras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 5 peças.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 3 combinações completas.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Karen em cena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Vídeo sobre a história da loja, cuidados com a prata e como as peças autorais são pensadas e produzidas.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peça sendo colocada na sacolinha; as mãos da Karen ajustando uma peça no mostruário.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66928" y="5230368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332821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978408" y="5230368"/>
            <a:ext cx="10232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deste bloco: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9D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ligada antes de começar. Três blocos de três a cinco minutos, sem roteiro decorado — depois a gente corta. O que não se recupera é a frase espontânea que saiu enquanto a câmera estava desligada.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32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illsClaude/5c4c7943-77ea-50b0-8691-b173cc511909/scratchpad/pekar2/pekar-logo-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  ·  PARTE 03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40080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Meu Negócio e QR codes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66928" y="1645920"/>
            <a:ext cx="11055096" cy="1325880"/>
          </a:xfrm>
          <a:prstGeom prst="roundRect">
            <a:avLst>
              <a:gd name="adj" fmla="val 4138"/>
            </a:avLst>
          </a:prstGeom>
          <a:solidFill>
            <a:srgbClr val="43362C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50976" y="1920240"/>
            <a:ext cx="402336" cy="40233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7" name="Text 4"/>
          <p:cNvSpPr/>
          <p:nvPr/>
        </p:nvSpPr>
        <p:spPr>
          <a:xfrm>
            <a:off x="950976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27048" y="186537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Meu Negócio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527048" y="2249424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Reivindicação e disputa de acesso das 3 contas junto ao Google. Após a aprovação, com o acesso transferido para o e-mail pekarjoias@gmail.com, atualização das fotos e das informações das lojas.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793224" y="18653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C9A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R$ 900,00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566928" y="3154680"/>
            <a:ext cx="11055096" cy="1051560"/>
          </a:xfrm>
          <a:prstGeom prst="roundRect">
            <a:avLst>
              <a:gd name="adj" fmla="val 5217"/>
            </a:avLst>
          </a:prstGeom>
          <a:solidFill>
            <a:srgbClr val="43362C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50976" y="3429000"/>
            <a:ext cx="402336" cy="40233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13" name="Text 10"/>
          <p:cNvSpPr/>
          <p:nvPr/>
        </p:nvSpPr>
        <p:spPr>
          <a:xfrm>
            <a:off x="950976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527048" y="337413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codes para o balcão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527048" y="375818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 direcionando para o Instagram e para o Google, com a arte do display pronta para as duas lojas.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793224" y="3374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C9A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R$ 50,00</a:t>
            </a:r>
            <a:endParaRPr lang="en-US" sz="2300" dirty="0"/>
          </a:p>
        </p:txBody>
      </p:sp>
      <p:sp>
        <p:nvSpPr>
          <p:cNvPr id="17" name="Shape 14"/>
          <p:cNvSpPr/>
          <p:nvPr/>
        </p:nvSpPr>
        <p:spPr>
          <a:xfrm>
            <a:off x="566928" y="4297680"/>
            <a:ext cx="11055096" cy="868680"/>
          </a:xfrm>
          <a:prstGeom prst="roundRect">
            <a:avLst>
              <a:gd name="adj" fmla="val 7368"/>
            </a:avLst>
          </a:prstGeom>
          <a:solidFill>
            <a:srgbClr val="C9A455"/>
          </a:solidFill>
          <a:ln/>
        </p:spPr>
      </p:sp>
      <p:sp>
        <p:nvSpPr>
          <p:cNvPr id="18" name="Text 15"/>
          <p:cNvSpPr/>
          <p:nvPr/>
        </p:nvSpPr>
        <p:spPr>
          <a:xfrm>
            <a:off x="1024128" y="4297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3767328" y="42976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R$ 475,00 para iniciar  ·  R$ 475,00 na entrega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78824" y="42976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R$ 950,00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566928" y="5394960"/>
            <a:ext cx="11055096" cy="1051560"/>
          </a:xfrm>
          <a:prstGeom prst="roundRect">
            <a:avLst>
              <a:gd name="adj" fmla="val 5217"/>
            </a:avLst>
          </a:prstGeom>
          <a:solidFill>
            <a:srgbClr val="43362C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78408" y="5504688"/>
            <a:ext cx="10232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para pedir avaliação no Google e seguidor no Instagram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78408" y="5797296"/>
            <a:ext cx="10232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peças novas eu mostro lá primeiro.”   ·   “Você é de onde? Então guarda o nosso contato — a gente envia para o Brasil todo, o frete é fixo.”   ·   “Avalia a gente no Google, ajuda muito outras pessoas a encontrarem a loja.”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32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illsClaude/5c4c7943-77ea-50b0-8691-b173cc511909/scratchpad/pekar2/pekar-logo-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  ·  PARTE 03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40080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media: o perfil tocado por mim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66928" y="1627632"/>
            <a:ext cx="6949440" cy="3904488"/>
          </a:xfrm>
          <a:prstGeom prst="roundRect">
            <a:avLst>
              <a:gd name="adj" fmla="val 1405"/>
            </a:avLst>
          </a:prstGeom>
          <a:solidFill>
            <a:srgbClr val="43362C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78408" y="184708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INCLUÍDO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78408" y="2304288"/>
            <a:ext cx="237744" cy="237744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8" name="Text 5"/>
          <p:cNvSpPr/>
          <p:nvPr/>
        </p:nvSpPr>
        <p:spPr>
          <a:xfrm>
            <a:off x="978408" y="2304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362456" y="22311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9D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Legendas e programação de todas as publicações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78408" y="2761488"/>
            <a:ext cx="237744" cy="237744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11" name="Text 8"/>
          <p:cNvSpPr/>
          <p:nvPr/>
        </p:nvSpPr>
        <p:spPr>
          <a:xfrm>
            <a:off x="978408" y="2761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362456" y="26883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9D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Postagens diversificadas entre Reels, carrossel e estático, conforme o material recebido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78408" y="3218688"/>
            <a:ext cx="237744" cy="237744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14" name="Text 11"/>
          <p:cNvSpPr/>
          <p:nvPr/>
        </p:nvSpPr>
        <p:spPr>
          <a:xfrm>
            <a:off x="978408" y="3218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362456" y="31455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9D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diários, conforme o material disponível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78408" y="3675888"/>
            <a:ext cx="237744" cy="237744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17" name="Text 14"/>
          <p:cNvSpPr/>
          <p:nvPr/>
        </p:nvSpPr>
        <p:spPr>
          <a:xfrm>
            <a:off x="978408" y="3675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362456" y="36027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9D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produção de fotos e vídeos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78408" y="4133088"/>
            <a:ext cx="237744" cy="237744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20" name="Text 17"/>
          <p:cNvSpPr/>
          <p:nvPr/>
        </p:nvSpPr>
        <p:spPr>
          <a:xfrm>
            <a:off x="978408" y="4133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362456" y="40599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9D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Análise, sugestões de conteúdo e relatório de tendências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78408" y="4590288"/>
            <a:ext cx="237744" cy="237744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23" name="Text 20"/>
          <p:cNvSpPr/>
          <p:nvPr/>
        </p:nvSpPr>
        <p:spPr>
          <a:xfrm>
            <a:off x="978408" y="4590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362456" y="45171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9D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quinzenais de alinhamento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78408" y="5047488"/>
            <a:ext cx="237744" cy="237744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26" name="Text 23"/>
          <p:cNvSpPr/>
          <p:nvPr/>
        </p:nvSpPr>
        <p:spPr>
          <a:xfrm>
            <a:off x="978408" y="5047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362456" y="49743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9D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no WhatsApp em qualquer dia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836408" y="1627632"/>
            <a:ext cx="3785616" cy="1691640"/>
          </a:xfrm>
          <a:prstGeom prst="roundRect">
            <a:avLst>
              <a:gd name="adj" fmla="val 3784"/>
            </a:avLst>
          </a:prstGeom>
          <a:solidFill>
            <a:srgbClr val="C9A455"/>
          </a:solidFill>
          <a:ln/>
        </p:spPr>
      </p:sp>
      <p:sp>
        <p:nvSpPr>
          <p:cNvPr id="29" name="Text 26"/>
          <p:cNvSpPr/>
          <p:nvPr/>
        </p:nvSpPr>
        <p:spPr>
          <a:xfrm>
            <a:off x="8202168" y="182880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202168" y="2157984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R$ 900,00</a:t>
            </a:r>
            <a:endParaRPr lang="en-US" sz="3200" dirty="0"/>
          </a:p>
        </p:txBody>
      </p:sp>
      <p:sp>
        <p:nvSpPr>
          <p:cNvPr id="31" name="Text 28"/>
          <p:cNvSpPr/>
          <p:nvPr/>
        </p:nvSpPr>
        <p:spPr>
          <a:xfrm>
            <a:off x="8202168" y="272491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B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  ·  podemos definir juntas o melhor dia de cobrança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836408" y="3474720"/>
            <a:ext cx="3785616" cy="2057400"/>
          </a:xfrm>
          <a:prstGeom prst="roundRect">
            <a:avLst>
              <a:gd name="adj" fmla="val 2667"/>
            </a:avLst>
          </a:prstGeom>
          <a:solidFill>
            <a:srgbClr val="43362C"/>
          </a:solidFill>
          <a:ln/>
          <a:effectLst>
            <a:outerShdw sx="100000" sy="100000" kx="0" ky="0" algn="bl" rotWithShape="0" blurRad="1778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8202168" y="367588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PEKAR ENTREGA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202168" y="3986784"/>
            <a:ext cx="30540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material de foto e vídeo já selecionado e tratado, com o nome da peça.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material, não há programação que se sustente.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66928" y="57150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propostas são independentes: dá para contratar só o Google, só o social media, ou as duas.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32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023360" cy="4023360"/>
          </a:xfrm>
          <a:prstGeom prst="ellipse">
            <a:avLst/>
          </a:prstGeom>
          <a:ln w="12700">
            <a:solidFill>
              <a:srgbClr val="C9A45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3291840" cy="3291840"/>
          </a:xfrm>
          <a:prstGeom prst="ellipse">
            <a:avLst/>
          </a:prstGeom>
          <a:solidFill>
            <a:srgbClr val="C9A455">
              <a:alpha val="10000"/>
            </a:srgbClr>
          </a:solidFill>
          <a:ln/>
        </p:spPr>
      </p:sp>
      <p:pic>
        <p:nvPicPr>
          <p:cNvPr id="4" name="Image 0" descr="/tmp/claude-0/-home-user-SkillsClaude/5c4c7943-77ea-50b0-8691-b173cc511909/scratchpad/pekar2/pekar-logo-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3832" y="1051560"/>
            <a:ext cx="1170432" cy="1517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88036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Obrigada pela confiança.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66928" y="3639312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dúvida sobre esta apresentação, é só me chamar no WhatsApp do grupo do projeto.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956048" y="4315968"/>
            <a:ext cx="2286000" cy="0"/>
          </a:xfrm>
          <a:prstGeom prst="line">
            <a:avLst/>
          </a:prstGeom>
          <a:noFill/>
          <a:ln w="9525">
            <a:solidFill>
              <a:srgbClr val="C9A455">
                <a:alpha val="60000"/>
              </a:srgbClr>
            </a:solidFill>
            <a:prstDash val="solid"/>
          </a:ln>
        </p:spPr>
      </p:sp>
      <p:pic>
        <p:nvPicPr>
          <p:cNvPr id="8" name="Image 1" descr="/tmp/claude-0/-home-user-SkillsClaude/5c4c7943-77ea-50b0-8691-b173cc511909/scratchpad/pekar2/assinatura-alusul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4498848"/>
            <a:ext cx="2377440" cy="7955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557784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pc="120" kern="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Pekar Arte em Jóias  ·  25 de agosto de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Pekar Arte em Jóias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Pekar Arte em Jóias — Análise, entrega e nova proposta</dc:title>
  <dc:subject>PptxGenJS Presentation</dc:subject>
  <dc:creator>AluSulina</dc:creator>
  <cp:lastModifiedBy>AluSulina</cp:lastModifiedBy>
  <cp:revision>1</cp:revision>
  <dcterms:created xsi:type="dcterms:W3CDTF">2026-08-25T20:38:40Z</dcterms:created>
  <dcterms:modified xsi:type="dcterms:W3CDTF">2026-08-25T20:38:40Z</dcterms:modified>
</cp:coreProperties>
</file>