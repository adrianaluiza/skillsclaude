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38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Uma frase: “Karen, essa apresentação tem três partes — o que foi entregue, o que eu analisei do mercado e do perfil, e a proposta para continuarmos.”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 para a Karen saber quanto tempo falta e onde estamos.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 ritmo: da aprovação ao conteúdo no ar foram 11 dias. Fecha com o status e a parcela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item por item e sair da reunião com resposta. Combinar prazo para o vídeo do guia de medidas.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de maior valor escondido da etapa: recuperar a posse dos cadastros. A disputa das contas está orçada na proposta. O termo de imagem destrava depoimento e foto de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quatro movimentos, e três deles a Pekar já faz — o trabalho é nomear, não perseguir. Este é o argumento central: significado vende mais que descrição.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um post não cabe em nenhum dos cinco pilares, provavelmente não deveria ser publicado.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Dizer em voz alta que os horários são hipótese com medição, não certeza. O roteiro resolve o arquivo para a temporada: uma diária de gravação rende semanas de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frases são para as vendedoras usarem no balcão. Custo zero e efeito direto na avaliação do Google.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combinando os dois pedidos pendentes e o prazo de resposta da proposta.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2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371600"/>
            <a:ext cx="5120640" cy="5120640"/>
          </a:xfrm>
          <a:prstGeom prst="ellipse">
            <a:avLst/>
          </a:prstGeom>
          <a:ln w="12700">
            <a:solidFill>
              <a:srgbClr val="C9A45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8280" y="-502920"/>
            <a:ext cx="4206240" cy="4206240"/>
          </a:xfrm>
          <a:prstGeom prst="ellipse">
            <a:avLst/>
          </a:prstGeom>
          <a:ln w="22225">
            <a:solidFill>
              <a:srgbClr val="C9A4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297680"/>
            <a:ext cx="3108960" cy="3108960"/>
          </a:xfrm>
          <a:prstGeom prst="ellipse">
            <a:avLst/>
          </a:prstGeom>
          <a:solidFill>
            <a:srgbClr val="C9A455">
              <a:alpha val="10000"/>
            </a:srgbClr>
          </a:solidFill>
          <a:ln/>
        </p:spPr>
      </p:sp>
      <p:pic>
        <p:nvPicPr>
          <p:cNvPr id="5" name="Image 0" descr="/home/user/SkillsClaude/pekar-joias/pekar-logo-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66928"/>
            <a:ext cx="1572768" cy="2039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084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PEKAR ARTE EM JOIAS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2450592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Análise, entrega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nova proposta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66928" y="4206240"/>
            <a:ext cx="3703320" cy="548640"/>
          </a:xfrm>
          <a:prstGeom prst="roundRect">
            <a:avLst>
              <a:gd name="adj" fmla="val 50000"/>
            </a:avLst>
          </a:prstGeom>
          <a:solidFill>
            <a:srgbClr val="C9A455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42062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30/07/2026  a  25/08/2026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5138928"/>
            <a:ext cx="2834640" cy="0"/>
          </a:xfrm>
          <a:prstGeom prst="line">
            <a:avLst/>
          </a:prstGeom>
          <a:noFill/>
          <a:ln w="9525">
            <a:solidFill>
              <a:srgbClr val="C9A455">
                <a:alpha val="55000"/>
              </a:srgbClr>
            </a:solidFill>
            <a:prstDash val="solid"/>
          </a:ln>
        </p:spPr>
      </p:sp>
      <p:pic>
        <p:nvPicPr>
          <p:cNvPr id="11" name="Image 1" descr="/home/user/SkillsClaude/pekar-joias/assinatura-alusul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285232"/>
            <a:ext cx="219456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sClaude/pekar-joias/peka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47472"/>
            <a:ext cx="1014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603504"/>
            <a:ext cx="10140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ver aqui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66928" y="1600200"/>
            <a:ext cx="3502152" cy="3200400"/>
          </a:xfrm>
          <a:prstGeom prst="roundRect">
            <a:avLst>
              <a:gd name="adj" fmla="val 1714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32688" y="1874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32688" y="265176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entrega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3127248"/>
            <a:ext cx="2770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foi feito entre 30 de julho e 25 de agosto: identidade, Instagram, Google e os arquivos que ficam com a Pekar.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02152" cy="3200400"/>
          </a:xfrm>
          <a:prstGeom prst="roundRect">
            <a:avLst>
              <a:gd name="adj" fmla="val 1714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1874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F5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709160" y="265176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análise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709160" y="3127248"/>
            <a:ext cx="2770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mercado de joalheria pede em 2026 e como isso vira conteúdo, formato, horário e roteiro de gravação.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19872" y="1600200"/>
            <a:ext cx="3502152" cy="3200400"/>
          </a:xfrm>
          <a:prstGeom prst="roundRect">
            <a:avLst>
              <a:gd name="adj" fmla="val 1714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85632" y="1874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7A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485632" y="265176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485632" y="3127248"/>
            <a:ext cx="2770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sugiro para a próxima fase, com escopo e valores separados por frente de trabalho.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" y="51206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 algum ponto eu usar um termo que não faça sentido, </a:t>
            </a:r>
            <a:r>
              <a:rPr lang="en-US" sz="1300" i="1" dirty="0" err="1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13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</a:t>
            </a:r>
            <a:r>
              <a:rPr lang="en-US" sz="13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sClaude/pekar-joias/peka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47472"/>
            <a:ext cx="1014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603504"/>
            <a:ext cx="10140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foi feito, dia a dia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66928" y="140817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9DDCA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14081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30/07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00200" y="13533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aprovada e briefing enviado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99048" y="1353312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 fechado e o questionário de entendimento da marca enviado para a Karen.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86537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9DDCA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8653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600200" y="18105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ao Instagram e arquivos da logo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99048" y="1810512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Pekar liberou o perfil e enviou os arquivos originais da logo.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232257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9DDCA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23225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600200" y="22677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respondido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099048" y="2267712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respostas da Karen chegaram e viraram a base da identidade.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" y="277977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9DDCA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27797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02/08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600200" y="27249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e guia de Instagram entregues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099048" y="2724912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foi criado o grupo de WhatsApp do projeto, para agilizar o dia a dia.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323697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9DDCA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" y="32369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03/08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600200" y="31821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atualizado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099048" y="3182112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reescrita, capas de </a:t>
            </a:r>
            <a:r>
              <a:rPr lang="en-US" sz="1100" dirty="0" err="1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</a:t>
            </a:r>
            <a:r>
              <a:rPr lang="en-US" sz="11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link na bio.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" y="369417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9DDCA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36941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10/08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600200" y="36393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Primeiras postagens no ar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099048" y="3639312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 da publicação de conteúdo.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66928" y="415137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C9A455"/>
          </a:solidFill>
          <a:ln/>
        </p:spPr>
      </p:sp>
      <p:sp>
        <p:nvSpPr>
          <p:cNvPr id="30" name="Text 27"/>
          <p:cNvSpPr/>
          <p:nvPr/>
        </p:nvSpPr>
        <p:spPr>
          <a:xfrm>
            <a:off x="566928" y="41513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600200" y="40965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 da primeira etapa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099048" y="4096512"/>
            <a:ext cx="5522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apresentação: balanço do que foi feito e proposta do que vem a seguir.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66928" y="4892040"/>
            <a:ext cx="5367528" cy="1325880"/>
          </a:xfrm>
          <a:prstGeom prst="roundRect">
            <a:avLst>
              <a:gd name="adj" fmla="val 4138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50976" y="5074920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PROJETO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950976" y="53218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Concluída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50976" y="5742432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frentes combinadas foram entregues ou resolvidas.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254496" y="4892040"/>
            <a:ext cx="5367528" cy="1325880"/>
          </a:xfrm>
          <a:prstGeom prst="roundRect">
            <a:avLst>
              <a:gd name="adj" fmla="val 4138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638544" y="5074920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FINAL (50%)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638544" y="53218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R$ 1.250,00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6638544" y="5742432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 em 01/09/2026, conforme a proposta aprovada em 30/07.</a:t>
            </a:r>
            <a:b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PIX: 230.935.948-39</a:t>
            </a:r>
            <a:endParaRPr lang="en-US" sz="11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sClaude/pekar-joias/peka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47472"/>
            <a:ext cx="1014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050" dirty="0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BD94BDB1-07BE-1B03-8BE1-1D0D3FBA1C4B}"/>
              </a:ext>
            </a:extLst>
          </p:cNvPr>
          <p:cNvSpPr/>
          <p:nvPr/>
        </p:nvSpPr>
        <p:spPr>
          <a:xfrm>
            <a:off x="529117" y="2841058"/>
            <a:ext cx="4820527" cy="2399096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2" name="Image 0" descr="/home/user/SkillsClaude/pekar-joias/pekar-logo-claro.png">
            <a:extLst>
              <a:ext uri="{FF2B5EF4-FFF2-40B4-BE49-F238E27FC236}">
                <a16:creationId xmlns:a16="http://schemas.microsoft.com/office/drawing/2014/main" id="{7194F587-8DEF-2FC1-4FEF-9FE2A8119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54" name="Text 0">
            <a:extLst>
              <a:ext uri="{FF2B5EF4-FFF2-40B4-BE49-F238E27FC236}">
                <a16:creationId xmlns:a16="http://schemas.microsoft.com/office/drawing/2014/main" id="{9A3C15AD-0DF2-EB3D-A52F-D8613D159A7D}"/>
              </a:ext>
            </a:extLst>
          </p:cNvPr>
          <p:cNvSpPr/>
          <p:nvPr/>
        </p:nvSpPr>
        <p:spPr>
          <a:xfrm>
            <a:off x="566928" y="347472"/>
            <a:ext cx="1014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050" dirty="0"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B5D54652-6BFE-70C9-2DA0-E6F199CC1CF6}"/>
              </a:ext>
            </a:extLst>
          </p:cNvPr>
          <p:cNvSpPr/>
          <p:nvPr/>
        </p:nvSpPr>
        <p:spPr>
          <a:xfrm>
            <a:off x="566928" y="714401"/>
            <a:ext cx="4758838" cy="480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 que os números mostram</a:t>
            </a:r>
            <a:endParaRPr lang="en-US" sz="2500" dirty="0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AD64F269-9381-02C2-1B67-3B53EA0F0268}"/>
              </a:ext>
            </a:extLst>
          </p:cNvPr>
          <p:cNvSpPr/>
          <p:nvPr/>
        </p:nvSpPr>
        <p:spPr>
          <a:xfrm>
            <a:off x="566928" y="1235076"/>
            <a:ext cx="1046190" cy="1541646"/>
          </a:xfrm>
          <a:prstGeom prst="roundRect">
            <a:avLst>
              <a:gd name="adj" fmla="val 3889"/>
            </a:avLst>
          </a:prstGeom>
          <a:solidFill>
            <a:srgbClr val="43362C"/>
          </a:solidFill>
          <a:ln/>
        </p:spPr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3C30EA4F-0A11-9658-A186-7DA342AE0568}"/>
              </a:ext>
            </a:extLst>
          </p:cNvPr>
          <p:cNvSpPr/>
          <p:nvPr/>
        </p:nvSpPr>
        <p:spPr>
          <a:xfrm>
            <a:off x="447499" y="1381380"/>
            <a:ext cx="1266439" cy="66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2.826</a:t>
            </a:r>
            <a:endParaRPr lang="en-US" sz="2800" dirty="0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EBE6312A-A137-3468-ADB3-96BC6FDEEFBF}"/>
              </a:ext>
            </a:extLst>
          </p:cNvPr>
          <p:cNvSpPr/>
          <p:nvPr/>
        </p:nvSpPr>
        <p:spPr>
          <a:xfrm>
            <a:off x="447499" y="2103756"/>
            <a:ext cx="1266439" cy="256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</a:t>
            </a:r>
            <a:endParaRPr lang="en-US" sz="1250" dirty="0"/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59BDC869-9144-CBB2-3B08-5CB0628DEEF1}"/>
              </a:ext>
            </a:extLst>
          </p:cNvPr>
          <p:cNvSpPr/>
          <p:nvPr/>
        </p:nvSpPr>
        <p:spPr>
          <a:xfrm>
            <a:off x="447499" y="2378076"/>
            <a:ext cx="1266439" cy="239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03/08/2026</a:t>
            </a:r>
            <a:endParaRPr lang="en-US" sz="1100" dirty="0"/>
          </a:p>
        </p:txBody>
      </p:sp>
      <p:sp>
        <p:nvSpPr>
          <p:cNvPr id="66" name="Shape 6">
            <a:extLst>
              <a:ext uri="{FF2B5EF4-FFF2-40B4-BE49-F238E27FC236}">
                <a16:creationId xmlns:a16="http://schemas.microsoft.com/office/drawing/2014/main" id="{CA88398C-AF8F-03CB-3E5B-C161D36D672F}"/>
              </a:ext>
            </a:extLst>
          </p:cNvPr>
          <p:cNvSpPr/>
          <p:nvPr/>
        </p:nvSpPr>
        <p:spPr>
          <a:xfrm>
            <a:off x="1677327" y="1235076"/>
            <a:ext cx="1046190" cy="1541646"/>
          </a:xfrm>
          <a:prstGeom prst="roundRect">
            <a:avLst>
              <a:gd name="adj" fmla="val 3889"/>
            </a:avLst>
          </a:prstGeom>
          <a:solidFill>
            <a:srgbClr val="43362C"/>
          </a:solidFill>
          <a:ln/>
        </p:spPr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F1498C61-0FA9-5D8E-10F1-5A425E607586}"/>
              </a:ext>
            </a:extLst>
          </p:cNvPr>
          <p:cNvSpPr/>
          <p:nvPr/>
        </p:nvSpPr>
        <p:spPr>
          <a:xfrm>
            <a:off x="1025418" y="1381380"/>
            <a:ext cx="2350008" cy="66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2.838</a:t>
            </a:r>
            <a:endParaRPr lang="en-US" sz="2800" dirty="0"/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E2D72886-FEAF-9601-C80F-4E33B6DC71CF}"/>
              </a:ext>
            </a:extLst>
          </p:cNvPr>
          <p:cNvSpPr/>
          <p:nvPr/>
        </p:nvSpPr>
        <p:spPr>
          <a:xfrm>
            <a:off x="1002191" y="2096537"/>
            <a:ext cx="2350008" cy="256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</a:t>
            </a:r>
            <a:endParaRPr lang="en-US" sz="1250" dirty="0"/>
          </a:p>
        </p:txBody>
      </p:sp>
      <p:sp>
        <p:nvSpPr>
          <p:cNvPr id="72" name="Text 9">
            <a:extLst>
              <a:ext uri="{FF2B5EF4-FFF2-40B4-BE49-F238E27FC236}">
                <a16:creationId xmlns:a16="http://schemas.microsoft.com/office/drawing/2014/main" id="{44CD5B05-3CA2-4A2A-04C3-FC921618D0E3}"/>
              </a:ext>
            </a:extLst>
          </p:cNvPr>
          <p:cNvSpPr/>
          <p:nvPr/>
        </p:nvSpPr>
        <p:spPr>
          <a:xfrm>
            <a:off x="1002191" y="2378076"/>
            <a:ext cx="2350008" cy="239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25/08/2026</a:t>
            </a:r>
            <a:endParaRPr lang="en-US" sz="1100" dirty="0"/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73162F33-185E-C47B-691A-5400944670FB}"/>
              </a:ext>
            </a:extLst>
          </p:cNvPr>
          <p:cNvSpPr/>
          <p:nvPr/>
        </p:nvSpPr>
        <p:spPr>
          <a:xfrm>
            <a:off x="2804558" y="1245082"/>
            <a:ext cx="1223699" cy="1541646"/>
          </a:xfrm>
          <a:prstGeom prst="roundRect">
            <a:avLst>
              <a:gd name="adj" fmla="val 3889"/>
            </a:avLst>
          </a:prstGeom>
          <a:solidFill>
            <a:srgbClr val="C9A455"/>
          </a:solidFill>
          <a:ln/>
        </p:spPr>
      </p:sp>
      <p:sp>
        <p:nvSpPr>
          <p:cNvPr id="76" name="Text 11">
            <a:extLst>
              <a:ext uri="{FF2B5EF4-FFF2-40B4-BE49-F238E27FC236}">
                <a16:creationId xmlns:a16="http://schemas.microsoft.com/office/drawing/2014/main" id="{5A4560DD-496D-ABF0-B6AF-A2C9E0B9BF1E}"/>
              </a:ext>
            </a:extLst>
          </p:cNvPr>
          <p:cNvSpPr/>
          <p:nvPr/>
        </p:nvSpPr>
        <p:spPr>
          <a:xfrm>
            <a:off x="2109902" y="1374268"/>
            <a:ext cx="2350008" cy="66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</a:t>
            </a:r>
            <a:endParaRPr lang="en-US" sz="2800" dirty="0"/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CC2476E2-6B02-C8BF-1E3F-DB747FEA78D0}"/>
              </a:ext>
            </a:extLst>
          </p:cNvPr>
          <p:cNvSpPr/>
          <p:nvPr/>
        </p:nvSpPr>
        <p:spPr>
          <a:xfrm>
            <a:off x="2241403" y="2089267"/>
            <a:ext cx="2350008" cy="256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seguidores</a:t>
            </a:r>
            <a:endParaRPr lang="en-US" sz="1250" dirty="0"/>
          </a:p>
        </p:txBody>
      </p:sp>
      <p:sp>
        <p:nvSpPr>
          <p:cNvPr id="80" name="Text 13">
            <a:extLst>
              <a:ext uri="{FF2B5EF4-FFF2-40B4-BE49-F238E27FC236}">
                <a16:creationId xmlns:a16="http://schemas.microsoft.com/office/drawing/2014/main" id="{A3C52942-A4D6-867B-D1F9-43BB37DFCD82}"/>
              </a:ext>
            </a:extLst>
          </p:cNvPr>
          <p:cNvSpPr/>
          <p:nvPr/>
        </p:nvSpPr>
        <p:spPr>
          <a:xfrm>
            <a:off x="2217716" y="2370806"/>
            <a:ext cx="2350008" cy="239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período</a:t>
            </a:r>
            <a:endParaRPr lang="en-US" sz="1100" dirty="0"/>
          </a:p>
        </p:txBody>
      </p:sp>
      <p:sp>
        <p:nvSpPr>
          <p:cNvPr id="82" name="Shape 14">
            <a:extLst>
              <a:ext uri="{FF2B5EF4-FFF2-40B4-BE49-F238E27FC236}">
                <a16:creationId xmlns:a16="http://schemas.microsoft.com/office/drawing/2014/main" id="{EF081E71-2407-18B3-1F40-DA6C99119797}"/>
              </a:ext>
            </a:extLst>
          </p:cNvPr>
          <p:cNvSpPr/>
          <p:nvPr/>
        </p:nvSpPr>
        <p:spPr>
          <a:xfrm>
            <a:off x="4101880" y="1223546"/>
            <a:ext cx="1247764" cy="1550255"/>
          </a:xfrm>
          <a:prstGeom prst="roundRect">
            <a:avLst>
              <a:gd name="adj" fmla="val 3889"/>
            </a:avLst>
          </a:prstGeom>
          <a:solidFill>
            <a:srgbClr val="43362C"/>
          </a:solidFill>
          <a:ln/>
        </p:spPr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29152125-4A1A-3F1F-46AC-541173BC0654}"/>
              </a:ext>
            </a:extLst>
          </p:cNvPr>
          <p:cNvSpPr/>
          <p:nvPr/>
        </p:nvSpPr>
        <p:spPr>
          <a:xfrm>
            <a:off x="3540160" y="1379514"/>
            <a:ext cx="2350008" cy="671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800" dirty="0"/>
          </a:p>
        </p:txBody>
      </p:sp>
      <p:sp>
        <p:nvSpPr>
          <p:cNvPr id="86" name="Text 16">
            <a:extLst>
              <a:ext uri="{FF2B5EF4-FFF2-40B4-BE49-F238E27FC236}">
                <a16:creationId xmlns:a16="http://schemas.microsoft.com/office/drawing/2014/main" id="{607C2DC6-1CA5-9664-17BE-A30D3D3652E8}"/>
              </a:ext>
            </a:extLst>
          </p:cNvPr>
          <p:cNvSpPr/>
          <p:nvPr/>
        </p:nvSpPr>
        <p:spPr>
          <a:xfrm>
            <a:off x="3546637" y="2127624"/>
            <a:ext cx="2350008" cy="25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postagens</a:t>
            </a:r>
            <a:endParaRPr lang="en-US" sz="1250" dirty="0"/>
          </a:p>
        </p:txBody>
      </p:sp>
      <p:sp>
        <p:nvSpPr>
          <p:cNvPr id="88" name="Text 17">
            <a:extLst>
              <a:ext uri="{FF2B5EF4-FFF2-40B4-BE49-F238E27FC236}">
                <a16:creationId xmlns:a16="http://schemas.microsoft.com/office/drawing/2014/main" id="{25C69B9D-B747-67FA-6FDD-69CBC178B4C7}"/>
              </a:ext>
            </a:extLst>
          </p:cNvPr>
          <p:cNvSpPr/>
          <p:nvPr/>
        </p:nvSpPr>
        <p:spPr>
          <a:xfrm>
            <a:off x="3540160" y="2401093"/>
            <a:ext cx="2350008" cy="24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10/08 a 25/08</a:t>
            </a:r>
            <a:endParaRPr lang="en-US" sz="1100" dirty="0"/>
          </a:p>
        </p:txBody>
      </p:sp>
      <p:sp>
        <p:nvSpPr>
          <p:cNvPr id="90" name="Text 19">
            <a:extLst>
              <a:ext uri="{FF2B5EF4-FFF2-40B4-BE49-F238E27FC236}">
                <a16:creationId xmlns:a16="http://schemas.microsoft.com/office/drawing/2014/main" id="{B1711888-4539-5FC7-0242-D14E670FE7D1}"/>
              </a:ext>
            </a:extLst>
          </p:cNvPr>
          <p:cNvSpPr/>
          <p:nvPr/>
        </p:nvSpPr>
        <p:spPr>
          <a:xfrm>
            <a:off x="696955" y="2897085"/>
            <a:ext cx="4259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os números</a:t>
            </a:r>
            <a:endParaRPr lang="en-US" sz="1800" dirty="0"/>
          </a:p>
        </p:txBody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01F1F532-57E0-43B1-9E83-68660DB200EA}"/>
              </a:ext>
            </a:extLst>
          </p:cNvPr>
          <p:cNvSpPr/>
          <p:nvPr/>
        </p:nvSpPr>
        <p:spPr>
          <a:xfrm>
            <a:off x="696956" y="3219223"/>
            <a:ext cx="4556834" cy="1927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 15 dias de postagens o perfil ganhou 12 seguidores. Cresceu pouco, e isso era esperado: esta primeira etapa não foi de crescimento, foi de organização.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Seguidor novo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vem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constância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publicação e ações feitas para atrair quem ainda não conhece a marca. Em duas semanas não há como medir isso — o que existe hoje é a base pronta para esse crescimento acontecer.</a:t>
            </a:r>
            <a:endParaRPr lang="en-US" sz="1300" dirty="0"/>
          </a:p>
        </p:txBody>
      </p:sp>
      <p:sp>
        <p:nvSpPr>
          <p:cNvPr id="94" name="Text 1">
            <a:extLst>
              <a:ext uri="{FF2B5EF4-FFF2-40B4-BE49-F238E27FC236}">
                <a16:creationId xmlns:a16="http://schemas.microsoft.com/office/drawing/2014/main" id="{42B5A60E-1FBC-ECC2-157F-2B345F7DF70C}"/>
              </a:ext>
            </a:extLst>
          </p:cNvPr>
          <p:cNvSpPr/>
          <p:nvPr/>
        </p:nvSpPr>
        <p:spPr>
          <a:xfrm>
            <a:off x="6152147" y="730209"/>
            <a:ext cx="4499329" cy="464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Em aberto</a:t>
            </a:r>
            <a:endParaRPr lang="en-US" sz="2500" dirty="0"/>
          </a:p>
        </p:txBody>
      </p:sp>
      <p:sp>
        <p:nvSpPr>
          <p:cNvPr id="96" name="Shape 7">
            <a:extLst>
              <a:ext uri="{FF2B5EF4-FFF2-40B4-BE49-F238E27FC236}">
                <a16:creationId xmlns:a16="http://schemas.microsoft.com/office/drawing/2014/main" id="{AFED44F5-BE94-6C4E-ECA5-4FF1F27748C1}"/>
              </a:ext>
            </a:extLst>
          </p:cNvPr>
          <p:cNvSpPr/>
          <p:nvPr/>
        </p:nvSpPr>
        <p:spPr>
          <a:xfrm>
            <a:off x="5903122" y="1196104"/>
            <a:ext cx="5367528" cy="4044049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8" name="Shape 3">
            <a:extLst>
              <a:ext uri="{FF2B5EF4-FFF2-40B4-BE49-F238E27FC236}">
                <a16:creationId xmlns:a16="http://schemas.microsoft.com/office/drawing/2014/main" id="{56A644D2-E509-52BF-D80C-9D87A80B3731}"/>
              </a:ext>
            </a:extLst>
          </p:cNvPr>
          <p:cNvSpPr/>
          <p:nvPr/>
        </p:nvSpPr>
        <p:spPr>
          <a:xfrm>
            <a:off x="6080654" y="1474751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00" name="Text 4">
            <a:extLst>
              <a:ext uri="{FF2B5EF4-FFF2-40B4-BE49-F238E27FC236}">
                <a16:creationId xmlns:a16="http://schemas.microsoft.com/office/drawing/2014/main" id="{2FC27E05-2D02-37C0-3C62-75B9528E4A5A}"/>
              </a:ext>
            </a:extLst>
          </p:cNvPr>
          <p:cNvSpPr/>
          <p:nvPr/>
        </p:nvSpPr>
        <p:spPr>
          <a:xfrm>
            <a:off x="6080654" y="14747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2" name="Text 5">
            <a:extLst>
              <a:ext uri="{FF2B5EF4-FFF2-40B4-BE49-F238E27FC236}">
                <a16:creationId xmlns:a16="http://schemas.microsoft.com/office/drawing/2014/main" id="{CC08BA6D-9E65-4CC4-E9D5-BC3EA7CE32D9}"/>
              </a:ext>
            </a:extLst>
          </p:cNvPr>
          <p:cNvSpPr/>
          <p:nvPr/>
        </p:nvSpPr>
        <p:spPr>
          <a:xfrm>
            <a:off x="6482990" y="1328447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Deixar de seguir 2.000 contas</a:t>
            </a:r>
            <a:endParaRPr lang="en-US" sz="1350" dirty="0"/>
          </a:p>
        </p:txBody>
      </p:sp>
      <p:sp>
        <p:nvSpPr>
          <p:cNvPr id="104" name="Text 6">
            <a:extLst>
              <a:ext uri="{FF2B5EF4-FFF2-40B4-BE49-F238E27FC236}">
                <a16:creationId xmlns:a16="http://schemas.microsoft.com/office/drawing/2014/main" id="{8156AEDC-9C68-F1BD-0243-2CFEFF0D79B0}"/>
              </a:ext>
            </a:extLst>
          </p:cNvPr>
          <p:cNvSpPr/>
          <p:nvPr/>
        </p:nvSpPr>
        <p:spPr>
          <a:xfrm>
            <a:off x="6482990" y="1602767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da lista de “seguindo”, para o perfil ficar coerente com a marca.</a:t>
            </a:r>
            <a:endParaRPr lang="en-US" sz="1100" dirty="0"/>
          </a:p>
        </p:txBody>
      </p:sp>
      <p:sp>
        <p:nvSpPr>
          <p:cNvPr id="106" name="Shape 8">
            <a:extLst>
              <a:ext uri="{FF2B5EF4-FFF2-40B4-BE49-F238E27FC236}">
                <a16:creationId xmlns:a16="http://schemas.microsoft.com/office/drawing/2014/main" id="{AF12CCB1-D311-ADC0-47FB-97C62AF31CAE}"/>
              </a:ext>
            </a:extLst>
          </p:cNvPr>
          <p:cNvSpPr/>
          <p:nvPr/>
        </p:nvSpPr>
        <p:spPr>
          <a:xfrm>
            <a:off x="6084606" y="1961251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08" name="Text 9">
            <a:extLst>
              <a:ext uri="{FF2B5EF4-FFF2-40B4-BE49-F238E27FC236}">
                <a16:creationId xmlns:a16="http://schemas.microsoft.com/office/drawing/2014/main" id="{D4167616-1951-6BCB-2334-355D5AD340EA}"/>
              </a:ext>
            </a:extLst>
          </p:cNvPr>
          <p:cNvSpPr/>
          <p:nvPr/>
        </p:nvSpPr>
        <p:spPr>
          <a:xfrm>
            <a:off x="6084606" y="19612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FF1DFC87-8E20-2FC8-7C42-FD6588769137}"/>
              </a:ext>
            </a:extLst>
          </p:cNvPr>
          <p:cNvSpPr/>
          <p:nvPr/>
        </p:nvSpPr>
        <p:spPr>
          <a:xfrm>
            <a:off x="6486942" y="1814947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 com cartão de crédito</a:t>
            </a:r>
            <a:endParaRPr lang="en-US" sz="1350" dirty="0"/>
          </a:p>
        </p:txBody>
      </p:sp>
      <p:sp>
        <p:nvSpPr>
          <p:cNvPr id="112" name="Text 11">
            <a:extLst>
              <a:ext uri="{FF2B5EF4-FFF2-40B4-BE49-F238E27FC236}">
                <a16:creationId xmlns:a16="http://schemas.microsoft.com/office/drawing/2014/main" id="{1729BA92-0CD7-5294-F1FA-91B66719B1C2}"/>
              </a:ext>
            </a:extLst>
          </p:cNvPr>
          <p:cNvSpPr/>
          <p:nvPr/>
        </p:nvSpPr>
        <p:spPr>
          <a:xfrm>
            <a:off x="6486942" y="2089267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Pago. Assim que estiver funcionando, atualizamos a informação no Instagram.</a:t>
            </a:r>
            <a:endParaRPr lang="en-US" sz="1100" dirty="0"/>
          </a:p>
        </p:txBody>
      </p:sp>
      <p:sp>
        <p:nvSpPr>
          <p:cNvPr id="114" name="Shape 13">
            <a:extLst>
              <a:ext uri="{FF2B5EF4-FFF2-40B4-BE49-F238E27FC236}">
                <a16:creationId xmlns:a16="http://schemas.microsoft.com/office/drawing/2014/main" id="{9067FD24-F0EE-A0E7-4F08-D27CAA7FBE83}"/>
              </a:ext>
            </a:extLst>
          </p:cNvPr>
          <p:cNvSpPr/>
          <p:nvPr/>
        </p:nvSpPr>
        <p:spPr>
          <a:xfrm>
            <a:off x="6096000" y="2598382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16" name="Text 14">
            <a:extLst>
              <a:ext uri="{FF2B5EF4-FFF2-40B4-BE49-F238E27FC236}">
                <a16:creationId xmlns:a16="http://schemas.microsoft.com/office/drawing/2014/main" id="{FA739582-A1F5-54B0-F1B4-9866AE748090}"/>
              </a:ext>
            </a:extLst>
          </p:cNvPr>
          <p:cNvSpPr/>
          <p:nvPr/>
        </p:nvSpPr>
        <p:spPr>
          <a:xfrm>
            <a:off x="6096000" y="25983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8" name="Text 15">
            <a:extLst>
              <a:ext uri="{FF2B5EF4-FFF2-40B4-BE49-F238E27FC236}">
                <a16:creationId xmlns:a16="http://schemas.microsoft.com/office/drawing/2014/main" id="{B86BFC02-FE85-B5D2-37EA-FA90AA2368A4}"/>
              </a:ext>
            </a:extLst>
          </p:cNvPr>
          <p:cNvSpPr/>
          <p:nvPr/>
        </p:nvSpPr>
        <p:spPr>
          <a:xfrm>
            <a:off x="6498336" y="245207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Cupom de 1ª compra</a:t>
            </a:r>
            <a:endParaRPr lang="en-US" sz="1350" dirty="0"/>
          </a:p>
        </p:txBody>
      </p:sp>
      <p:sp>
        <p:nvSpPr>
          <p:cNvPr id="120" name="Text 16">
            <a:extLst>
              <a:ext uri="{FF2B5EF4-FFF2-40B4-BE49-F238E27FC236}">
                <a16:creationId xmlns:a16="http://schemas.microsoft.com/office/drawing/2014/main" id="{B8C6DBF1-F54E-24BC-C413-B0DAC0519A53}"/>
              </a:ext>
            </a:extLst>
          </p:cNvPr>
          <p:cNvSpPr/>
          <p:nvPr/>
        </p:nvSpPr>
        <p:spPr>
          <a:xfrm>
            <a:off x="6498336" y="2726398"/>
            <a:ext cx="355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em estudo: pode virar um desconto de …% no PIX.</a:t>
            </a:r>
            <a:endParaRPr lang="en-US" sz="1100" dirty="0"/>
          </a:p>
        </p:txBody>
      </p:sp>
      <p:sp>
        <p:nvSpPr>
          <p:cNvPr id="122" name="Shape 18">
            <a:extLst>
              <a:ext uri="{FF2B5EF4-FFF2-40B4-BE49-F238E27FC236}">
                <a16:creationId xmlns:a16="http://schemas.microsoft.com/office/drawing/2014/main" id="{E286E7A5-5DE0-CF95-D542-651962081785}"/>
              </a:ext>
            </a:extLst>
          </p:cNvPr>
          <p:cNvSpPr/>
          <p:nvPr/>
        </p:nvSpPr>
        <p:spPr>
          <a:xfrm>
            <a:off x="6080654" y="3117305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24" name="Text 19">
            <a:extLst>
              <a:ext uri="{FF2B5EF4-FFF2-40B4-BE49-F238E27FC236}">
                <a16:creationId xmlns:a16="http://schemas.microsoft.com/office/drawing/2014/main" id="{78B9149C-8C3C-4F27-662D-37C8C5661845}"/>
              </a:ext>
            </a:extLst>
          </p:cNvPr>
          <p:cNvSpPr/>
          <p:nvPr/>
        </p:nvSpPr>
        <p:spPr>
          <a:xfrm>
            <a:off x="6080654" y="31173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6" name="Text 20">
            <a:extLst>
              <a:ext uri="{FF2B5EF4-FFF2-40B4-BE49-F238E27FC236}">
                <a16:creationId xmlns:a16="http://schemas.microsoft.com/office/drawing/2014/main" id="{2B0CA8FE-F117-D884-1594-06E1743DCC4C}"/>
              </a:ext>
            </a:extLst>
          </p:cNvPr>
          <p:cNvSpPr/>
          <p:nvPr/>
        </p:nvSpPr>
        <p:spPr>
          <a:xfrm>
            <a:off x="6482990" y="2971001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novo para WhatsApp Business</a:t>
            </a:r>
            <a:endParaRPr lang="en-US" sz="1350" dirty="0"/>
          </a:p>
        </p:txBody>
      </p:sp>
      <p:sp>
        <p:nvSpPr>
          <p:cNvPr id="128" name="Text 21">
            <a:extLst>
              <a:ext uri="{FF2B5EF4-FFF2-40B4-BE49-F238E27FC236}">
                <a16:creationId xmlns:a16="http://schemas.microsoft.com/office/drawing/2014/main" id="{2624DD86-3B02-B00C-5039-635C60C521CE}"/>
              </a:ext>
            </a:extLst>
          </p:cNvPr>
          <p:cNvSpPr/>
          <p:nvPr/>
        </p:nvSpPr>
        <p:spPr>
          <a:xfrm>
            <a:off x="6482990" y="3245321"/>
            <a:ext cx="4434840" cy="22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 atendimento da loja do número pessoal.</a:t>
            </a:r>
            <a:endParaRPr lang="en-US" sz="1100" dirty="0"/>
          </a:p>
        </p:txBody>
      </p:sp>
      <p:sp>
        <p:nvSpPr>
          <p:cNvPr id="130" name="Shape 23">
            <a:extLst>
              <a:ext uri="{FF2B5EF4-FFF2-40B4-BE49-F238E27FC236}">
                <a16:creationId xmlns:a16="http://schemas.microsoft.com/office/drawing/2014/main" id="{25541934-B10F-EE10-AB8D-78BDD12D8EE8}"/>
              </a:ext>
            </a:extLst>
          </p:cNvPr>
          <p:cNvSpPr/>
          <p:nvPr/>
        </p:nvSpPr>
        <p:spPr>
          <a:xfrm>
            <a:off x="6080654" y="3670888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32" name="Text 24">
            <a:extLst>
              <a:ext uri="{FF2B5EF4-FFF2-40B4-BE49-F238E27FC236}">
                <a16:creationId xmlns:a16="http://schemas.microsoft.com/office/drawing/2014/main" id="{22FC557F-DB0A-C5A6-7630-F11E44198A6E}"/>
              </a:ext>
            </a:extLst>
          </p:cNvPr>
          <p:cNvSpPr/>
          <p:nvPr/>
        </p:nvSpPr>
        <p:spPr>
          <a:xfrm>
            <a:off x="6080654" y="3670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34" name="Text 25">
            <a:extLst>
              <a:ext uri="{FF2B5EF4-FFF2-40B4-BE49-F238E27FC236}">
                <a16:creationId xmlns:a16="http://schemas.microsoft.com/office/drawing/2014/main" id="{4F455388-F26B-EA1B-79AF-1A630BBFAC1D}"/>
              </a:ext>
            </a:extLst>
          </p:cNvPr>
          <p:cNvSpPr/>
          <p:nvPr/>
        </p:nvSpPr>
        <p:spPr>
          <a:xfrm>
            <a:off x="6482990" y="35245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responde as mensagens</a:t>
            </a:r>
            <a:endParaRPr lang="en-US" sz="1350" dirty="0"/>
          </a:p>
        </p:txBody>
      </p:sp>
      <p:sp>
        <p:nvSpPr>
          <p:cNvPr id="136" name="Text 26">
            <a:extLst>
              <a:ext uri="{FF2B5EF4-FFF2-40B4-BE49-F238E27FC236}">
                <a16:creationId xmlns:a16="http://schemas.microsoft.com/office/drawing/2014/main" id="{AF414CDA-2E74-234E-470B-6B572E80BB24}"/>
              </a:ext>
            </a:extLst>
          </p:cNvPr>
          <p:cNvSpPr/>
          <p:nvPr/>
        </p:nvSpPr>
        <p:spPr>
          <a:xfrm>
            <a:off x="6482990" y="379890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só a Karen responde. Na temporada, vai haver tempo de responder e atender?</a:t>
            </a:r>
            <a:endParaRPr lang="en-US" sz="1100" dirty="0"/>
          </a:p>
        </p:txBody>
      </p:sp>
      <p:sp>
        <p:nvSpPr>
          <p:cNvPr id="138" name="Shape 28">
            <a:extLst>
              <a:ext uri="{FF2B5EF4-FFF2-40B4-BE49-F238E27FC236}">
                <a16:creationId xmlns:a16="http://schemas.microsoft.com/office/drawing/2014/main" id="{444597A1-F340-40BB-3490-56E92BEC8C00}"/>
              </a:ext>
            </a:extLst>
          </p:cNvPr>
          <p:cNvSpPr/>
          <p:nvPr/>
        </p:nvSpPr>
        <p:spPr>
          <a:xfrm>
            <a:off x="6080654" y="4367595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40" name="Text 29">
            <a:extLst>
              <a:ext uri="{FF2B5EF4-FFF2-40B4-BE49-F238E27FC236}">
                <a16:creationId xmlns:a16="http://schemas.microsoft.com/office/drawing/2014/main" id="{35F113AB-34FD-E052-F157-AAE6C6F3B7D8}"/>
              </a:ext>
            </a:extLst>
          </p:cNvPr>
          <p:cNvSpPr/>
          <p:nvPr/>
        </p:nvSpPr>
        <p:spPr>
          <a:xfrm>
            <a:off x="6080654" y="43675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42" name="Text 30">
            <a:extLst>
              <a:ext uri="{FF2B5EF4-FFF2-40B4-BE49-F238E27FC236}">
                <a16:creationId xmlns:a16="http://schemas.microsoft.com/office/drawing/2014/main" id="{BB56EC27-0F5E-12FA-B9CB-A769CCA6D89E}"/>
              </a:ext>
            </a:extLst>
          </p:cNvPr>
          <p:cNvSpPr/>
          <p:nvPr/>
        </p:nvSpPr>
        <p:spPr>
          <a:xfrm>
            <a:off x="6482990" y="4221291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real de fotos e vídeos</a:t>
            </a:r>
            <a:endParaRPr lang="en-US" sz="1350" dirty="0"/>
          </a:p>
        </p:txBody>
      </p:sp>
      <p:sp>
        <p:nvSpPr>
          <p:cNvPr id="144" name="Text 31">
            <a:extLst>
              <a:ext uri="{FF2B5EF4-FFF2-40B4-BE49-F238E27FC236}">
                <a16:creationId xmlns:a16="http://schemas.microsoft.com/office/drawing/2014/main" id="{ABD0C88D-DB31-22A7-3D47-70C426B761FA}"/>
              </a:ext>
            </a:extLst>
          </p:cNvPr>
          <p:cNvSpPr/>
          <p:nvPr/>
        </p:nvSpPr>
        <p:spPr>
          <a:xfrm>
            <a:off x="6482990" y="4495611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por semana a Pekar consegue produzir de verdade? Precisamos de arquivo para atravessar a temporada.</a:t>
            </a:r>
            <a:endParaRPr lang="en-US" sz="1100" dirty="0"/>
          </a:p>
        </p:txBody>
      </p:sp>
      <p:sp>
        <p:nvSpPr>
          <p:cNvPr id="146" name="Shape 33">
            <a:extLst>
              <a:ext uri="{FF2B5EF4-FFF2-40B4-BE49-F238E27FC236}">
                <a16:creationId xmlns:a16="http://schemas.microsoft.com/office/drawing/2014/main" id="{1CB10028-6C04-D7BC-47E8-4475E40E9AE3}"/>
              </a:ext>
            </a:extLst>
          </p:cNvPr>
          <p:cNvSpPr/>
          <p:nvPr/>
        </p:nvSpPr>
        <p:spPr>
          <a:xfrm>
            <a:off x="2940283" y="5442611"/>
            <a:ext cx="5642244" cy="1067918"/>
          </a:xfrm>
          <a:prstGeom prst="roundRect">
            <a:avLst>
              <a:gd name="adj" fmla="val 4225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8" name="Text 32">
            <a:extLst>
              <a:ext uri="{FF2B5EF4-FFF2-40B4-BE49-F238E27FC236}">
                <a16:creationId xmlns:a16="http://schemas.microsoft.com/office/drawing/2014/main" id="{D788398E-E894-6002-65BB-BE257F78846C}"/>
              </a:ext>
            </a:extLst>
          </p:cNvPr>
          <p:cNvSpPr/>
          <p:nvPr/>
        </p:nvSpPr>
        <p:spPr>
          <a:xfrm>
            <a:off x="3078000" y="5531731"/>
            <a:ext cx="54403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dirty="0" err="1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abaixo </a:t>
            </a:r>
            <a:r>
              <a:rPr lang="en-US" sz="1250" dirty="0" err="1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</a:t>
            </a: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50" dirty="0" err="1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</a:t>
            </a: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Drive. Para </a:t>
            </a:r>
            <a:r>
              <a:rPr lang="en-US" sz="1250" dirty="0" err="1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r>
              <a:rPr lang="en-US" sz="12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perfil, falta o conteúdo.</a:t>
            </a:r>
            <a:endParaRPr lang="en-US" sz="1250" dirty="0"/>
          </a:p>
        </p:txBody>
      </p:sp>
      <p:sp>
        <p:nvSpPr>
          <p:cNvPr id="158" name="Shape 40">
            <a:extLst>
              <a:ext uri="{FF2B5EF4-FFF2-40B4-BE49-F238E27FC236}">
                <a16:creationId xmlns:a16="http://schemas.microsoft.com/office/drawing/2014/main" id="{4AEB82CC-719B-7CC4-66D1-5F786FD555FE}"/>
              </a:ext>
            </a:extLst>
          </p:cNvPr>
          <p:cNvSpPr/>
          <p:nvPr/>
        </p:nvSpPr>
        <p:spPr>
          <a:xfrm>
            <a:off x="3063166" y="5908123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BF5340"/>
          </a:solidFill>
          <a:ln/>
        </p:spPr>
      </p:sp>
      <p:sp>
        <p:nvSpPr>
          <p:cNvPr id="160" name="Text 41">
            <a:extLst>
              <a:ext uri="{FF2B5EF4-FFF2-40B4-BE49-F238E27FC236}">
                <a16:creationId xmlns:a16="http://schemas.microsoft.com/office/drawing/2014/main" id="{5AB17BFE-E5D7-CD58-2DF9-0A0FD4D8232E}"/>
              </a:ext>
            </a:extLst>
          </p:cNvPr>
          <p:cNvSpPr/>
          <p:nvPr/>
        </p:nvSpPr>
        <p:spPr>
          <a:xfrm>
            <a:off x="3063166" y="59081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2" name="Text 42">
            <a:extLst>
              <a:ext uri="{FF2B5EF4-FFF2-40B4-BE49-F238E27FC236}">
                <a16:creationId xmlns:a16="http://schemas.microsoft.com/office/drawing/2014/main" id="{4755C66B-F174-4727-6A9E-0FBF8E67A7F4}"/>
              </a:ext>
            </a:extLst>
          </p:cNvPr>
          <p:cNvSpPr/>
          <p:nvPr/>
        </p:nvSpPr>
        <p:spPr>
          <a:xfrm>
            <a:off x="3556942" y="5889835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Depoimentos de clientes</a:t>
            </a:r>
            <a:endParaRPr lang="en-US" sz="1400" dirty="0"/>
          </a:p>
        </p:txBody>
      </p:sp>
      <p:sp>
        <p:nvSpPr>
          <p:cNvPr id="164" name="Text 44">
            <a:extLst>
              <a:ext uri="{FF2B5EF4-FFF2-40B4-BE49-F238E27FC236}">
                <a16:creationId xmlns:a16="http://schemas.microsoft.com/office/drawing/2014/main" id="{6560E14E-C91E-D111-AC2A-6DED98706309}"/>
              </a:ext>
            </a:extLst>
          </p:cNvPr>
          <p:cNvSpPr/>
          <p:nvPr/>
        </p:nvSpPr>
        <p:spPr>
          <a:xfrm>
            <a:off x="3556942" y="6219019"/>
            <a:ext cx="3554931" cy="32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</a:t>
            </a:r>
            <a:r>
              <a:rPr lang="en-US" sz="1100" dirty="0" err="1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colherem</a:t>
            </a: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depoimentos com as clientes das lojas.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sClaude/pekar-joias/peka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47472"/>
            <a:ext cx="1014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 ·  PARTE 01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603504"/>
            <a:ext cx="10140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Meu Negócio e os arquivos da marca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66928" y="1325880"/>
            <a:ext cx="5367528" cy="4846320"/>
          </a:xfrm>
          <a:prstGeom prst="roundRect">
            <a:avLst>
              <a:gd name="adj" fmla="val 1132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50976" y="1517904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Meu Negócio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0976" y="1883664"/>
            <a:ext cx="4599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 era atualizar fotos e informações das lojas no Google. Ao tentar o acesso, descobrimos que a Pekar não o tinha para editar — então o trabalho virou investigação.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50976" y="2670048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DESCOBERTO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50976" y="3008376"/>
            <a:ext cx="237744" cy="237744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0" name="Text 7"/>
          <p:cNvSpPr/>
          <p:nvPr/>
        </p:nvSpPr>
        <p:spPr>
          <a:xfrm>
            <a:off x="950976" y="3008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98448" y="293522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Juquehy tem 2 contas: uma como joalheria e outra como restaurante.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50976" y="3520440"/>
            <a:ext cx="237744" cy="237744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3" name="Text 10"/>
          <p:cNvSpPr/>
          <p:nvPr/>
        </p:nvSpPr>
        <p:spPr>
          <a:xfrm>
            <a:off x="950976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98448" y="344728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Maresias tem 1 conta.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50976" y="4032504"/>
            <a:ext cx="237744" cy="237744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6" name="Text 13"/>
          <p:cNvSpPr/>
          <p:nvPr/>
        </p:nvSpPr>
        <p:spPr>
          <a:xfrm>
            <a:off x="950976" y="4032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98448" y="395935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acesso das três está com o e-mail co….@gmail.com, fora do controle da Pekar.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50976" y="4572000"/>
            <a:ext cx="4599432" cy="777240"/>
          </a:xfrm>
          <a:prstGeom prst="roundRect">
            <a:avLst>
              <a:gd name="adj" fmla="val 7059"/>
            </a:avLst>
          </a:prstGeom>
          <a:solidFill>
            <a:srgbClr val="332821"/>
          </a:solidFill>
          <a:ln/>
        </p:spPr>
      </p:sp>
      <p:sp>
        <p:nvSpPr>
          <p:cNvPr id="19" name="Text 16"/>
          <p:cNvSpPr/>
          <p:nvPr/>
        </p:nvSpPr>
        <p:spPr>
          <a:xfrm>
            <a:off x="1225296" y="469087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FEITO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25296" y="495604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pekarjoias@gmail.com</a:t>
            </a:r>
            <a:r>
              <a:rPr lang="en-US" sz="120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senha: 080112Batismo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50976" y="5468112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necessária:  </a:t>
            </a: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reivindicar as três contas e atualizar fotos e informações assim que o acesso for liberado.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54496" y="1325880"/>
            <a:ext cx="5367528" cy="4846320"/>
          </a:xfrm>
          <a:prstGeom prst="roundRect">
            <a:avLst>
              <a:gd name="adj" fmla="val 1132"/>
            </a:avLst>
          </a:prstGeom>
          <a:solidFill>
            <a:srgbClr val="332821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638544" y="1517904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Bônus: todos os arquivos em um lugar só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638544" y="1883664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pasta no Google Drive, dentro do e-mail pekarjoias@gmail.com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638544" y="2340864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estava na proposta, mas foi criada para manter todos os arquivos do </a:t>
            </a:r>
            <a:r>
              <a:rPr lang="en-US" sz="1150" dirty="0" err="1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reunidos</a:t>
            </a: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salvos.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638544" y="2962656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 DENTRO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638544" y="3291840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8" name="Text 25"/>
          <p:cNvSpPr/>
          <p:nvPr/>
        </p:nvSpPr>
        <p:spPr>
          <a:xfrm>
            <a:off x="6638544" y="3291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86016" y="321868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de destaque do Instagram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86016" y="34747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imagens das bolinhas do perfil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638544" y="3895344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32" name="Text 29"/>
          <p:cNvSpPr/>
          <p:nvPr/>
        </p:nvSpPr>
        <p:spPr>
          <a:xfrm>
            <a:off x="6638544" y="3895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986016" y="3822192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Imagens da logo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86016" y="4078224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versões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638544" y="4498848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36" name="Text 33"/>
          <p:cNvSpPr/>
          <p:nvPr/>
        </p:nvSpPr>
        <p:spPr>
          <a:xfrm>
            <a:off x="6638544" y="4498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86016" y="4425696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do projeto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986016" y="468172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identidade, guia de Instagram e demais materiais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638544" y="5102352"/>
            <a:ext cx="237744" cy="237744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40" name="Text 37"/>
          <p:cNvSpPr/>
          <p:nvPr/>
        </p:nvSpPr>
        <p:spPr>
          <a:xfrm>
            <a:off x="6638544" y="5102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86016" y="502920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Termos de autorização de imagem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986016" y="5285232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funcionários e para clientes, liberando o uso de fotos, vídeos e depoimentos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6638544" y="571500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acessar: entrar no Google Drive com esse e-mail.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sClaude/pekar-joias/peka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47472"/>
            <a:ext cx="1014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 ·  PARTE 02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603504"/>
            <a:ext cx="10140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Tendências de joalheria para 2026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66928" y="1325880"/>
            <a:ext cx="2624328" cy="3246120"/>
          </a:xfrm>
          <a:prstGeom prst="roundRect">
            <a:avLst>
              <a:gd name="adj" fmla="val 2091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" y="15179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41248" y="2011680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prata voltou como tendência estética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2816352"/>
            <a:ext cx="207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anos de dourado, a prata 925 e o banho de ródio voltam como aposta do ano, especialmente para clima quente.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56432" y="1325880"/>
            <a:ext cx="2624328" cy="3246120"/>
          </a:xfrm>
          <a:prstGeom prst="roundRect">
            <a:avLst>
              <a:gd name="adj" fmla="val 2091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30752" y="15179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F5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730752" y="2011680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Prata escultural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30752" y="2816352"/>
            <a:ext cx="207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 martelada imitando seixo de rio, bezel assimétrico, borda crua, acabamento fosco no lugar do polido espelhado. A Pekar não precisa perseguir essa tendência — precisa nomear que já a pratica.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45936" y="1325880"/>
            <a:ext cx="2624328" cy="3246120"/>
          </a:xfrm>
          <a:prstGeom prst="roundRect">
            <a:avLst>
              <a:gd name="adj" fmla="val 2091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20256" y="15179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7A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20256" y="2011680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Pedra colorida natural no centro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20256" y="2816352"/>
            <a:ext cx="207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consumidor tem preferido a gema natural, irregular e única, à perfeição industrial repetida. Em alta: morganita, ametista lavanda, turmalina verde e tanzanita.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235440" y="1325880"/>
            <a:ext cx="2624328" cy="3246120"/>
          </a:xfrm>
          <a:prstGeom prst="roundRect">
            <a:avLst>
              <a:gd name="adj" fmla="val 2091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509760" y="15179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509760" y="2011680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Água-marinha, a pedra de 2026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509760" y="2816352"/>
            <a:ext cx="207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Historicamente o amuleto dos navegantes, hoje associada a calma e proteção. Para uma joalheria que nasceu num mostruário na areia, é um presente de posicionamento — não precisa ser inventado, precisa ser ocupado.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" y="4754880"/>
            <a:ext cx="11055096" cy="1234440"/>
          </a:xfrm>
          <a:prstGeom prst="roundRect">
            <a:avLst>
              <a:gd name="adj" fmla="val 4444"/>
            </a:avLst>
          </a:prstGeom>
          <a:solidFill>
            <a:srgbClr val="332821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8408" y="4919472"/>
            <a:ext cx="10232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 por trás das quatro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78408" y="5212080"/>
            <a:ext cx="10232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joia passou a ser vista como ferramenta de bem-estar e conexão com o natural, não como enfeite. A Pekar já trabalha pedra natural: agora é só verbalizar o significado em cada peça.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sClaude/pekar-joias/peka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47472"/>
            <a:ext cx="1014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 ·  PARTE 02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603504"/>
            <a:ext cx="10140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pilares e os formatos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 err="1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posts da Pekar </a:t>
            </a:r>
            <a:r>
              <a:rPr lang="en-US" sz="1150" i="1" dirty="0" err="1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devem</a:t>
            </a:r>
            <a:r>
              <a:rPr lang="en-US" sz="115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caber em um destes cinco assuntos.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2020824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70432" y="1856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pedra e seu significado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70432" y="21122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Água-marinha, morganita, ametista. O território que gera salvamento.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" y="2624328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" y="2862072"/>
            <a:ext cx="274320" cy="274320"/>
          </a:xfrm>
          <a:prstGeom prst="ellipse">
            <a:avLst/>
          </a:prstGeom>
          <a:solidFill>
            <a:srgbClr val="87AF9F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70432" y="26974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mar como referência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70432" y="29535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conchas, a areia, a origem da marca no litoral norte.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" y="3465576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6384" y="3703320"/>
            <a:ext cx="274320" cy="274320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70432" y="3538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social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70432" y="3794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frases que as clientes já dizem. Vale mais que qualquer anúncio.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4306824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4544568"/>
            <a:ext cx="274320" cy="274320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70432" y="43799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História da marca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70432" y="4636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início, a evolução e o jeito de fazer — em doses pequenas.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66928" y="5148072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86384" y="5385816"/>
            <a:ext cx="274320" cy="274320"/>
          </a:xfrm>
          <a:prstGeom prst="ellipse">
            <a:avLst/>
          </a:prstGeom>
          <a:solidFill>
            <a:srgbClr val="87AF9F"/>
          </a:solidFill>
          <a:ln/>
        </p:spPr>
      </p:sp>
      <p:sp>
        <p:nvSpPr>
          <p:cNvPr id="28" name="Text 25"/>
          <p:cNvSpPr/>
          <p:nvPr/>
        </p:nvSpPr>
        <p:spPr>
          <a:xfrm>
            <a:off x="786384" y="5385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70432" y="5221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Educativo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70432" y="54772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com a prata, guia de medidas, como escolher uma pedra.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64608" y="1280160"/>
            <a:ext cx="6757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E FREQUÊNCIA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4608" y="1591056"/>
          <a:ext cx="6510528" cy="268833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1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2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2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2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FREQUÊNCIA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de quem ainda não segue. Brilho, textura e movimento da peça — o vídeo mostra o que a foto não mostra.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por semana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Carrossel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Salvamento e autoridade. Guias, significado da pedra, processo de escolha de produção.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por semana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Vitrine da marca. A peça bem fotografada, com o nome e o significado, para quem já acompanha.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por semana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 e conversão. Cada resposta abre uma conversa no direct, e é ali que a venda consultiva acontece.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diário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Shape 29"/>
          <p:cNvSpPr/>
          <p:nvPr/>
        </p:nvSpPr>
        <p:spPr>
          <a:xfrm>
            <a:off x="4864608" y="4590288"/>
            <a:ext cx="6757416" cy="1371600"/>
          </a:xfrm>
          <a:prstGeom prst="roundRect">
            <a:avLst>
              <a:gd name="adj" fmla="val 4000"/>
            </a:avLst>
          </a:prstGeom>
          <a:solidFill>
            <a:srgbClr val="E9DDCA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5230368" y="4590288"/>
            <a:ext cx="6025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332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 divisão:  </a:t>
            </a:r>
            <a:r>
              <a:rPr lang="en-US" sz="115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formato tem um trabalho diferente. Reels traz gente nova, carrossel constrói confiança, estático mantém a vitrine bonita e stories fecha a venda. Publicar só um formato deixa uma dessas pontas descoberta.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sClaude/pekar-joias/peka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47472"/>
            <a:ext cx="1014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 ·  PARTE 02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603504"/>
            <a:ext cx="10140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Horários e roteiro de produção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SUGERIDOS DE POSTAGEM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1591056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9536" y="166420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Terça a quinta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5292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no feed.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59536" y="1938528"/>
            <a:ext cx="33924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entre 9h e 11h · Carrossel no almoço · Stories no fim da tarde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2551176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59536" y="262432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852928" y="2624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de tarde e noite.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9536" y="2898648"/>
            <a:ext cx="3392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17h – 20h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3209544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59536" y="3282696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Sábado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852928" y="32826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e fim de tarde.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59536" y="3557016"/>
            <a:ext cx="3392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 – 10h  ·  17h – 20h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3867912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7F1E7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9536" y="3941064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8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Domingo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852928" y="3941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e tarde.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59536" y="4215384"/>
            <a:ext cx="3392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 – 11h30  ·  12h – 16h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461772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332821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59536" y="4773168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VALIDAR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59536" y="5029200"/>
            <a:ext cx="3392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acima é hipótese estruturada, não verdade estabelecida. Para virar certeza, precisa de quatro semanas de grade fixa, medindo alcance de não-seguidores, salvamentos e conversas geradas. E precisa ser cruzada com o dado que só a Karen tem: o horário real de pico das lojas.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64608" y="1280160"/>
            <a:ext cx="6757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PRODUÇÃO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4608" y="1591056"/>
          <a:ext cx="6510528" cy="2878328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7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kern="0" spc="12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kern="0" spc="120" dirty="0">
                          <a:solidFill>
                            <a:srgbClr val="E9DD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GRAVAR / FOTOGRAFAR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Loja e ambiente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Fachada, vitrine, interior, balcão e embalagem. Também as fotos com o celular deitado para o Google: 5 fotos horizontais e bem iluminadas. O Google privilegia horizontal e penaliza foto escura.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Anéis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Carro-chefe. 8 a 10 peças, com prioridade para as autorais com pedra natural.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Brincos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 8 peças. O segundo que mais vende.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Colares e pingentes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 6 peças.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Pulseiras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 5 peças.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 3 combinações completas.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Karen em cena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Vídeo sobre a história da loja, cuidados com a prata e como as peças autorais são pensadas e produzidas.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2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2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peça sendo colocada na sacolinha; mãos ajustando uma peça no mostruário.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4864608" y="4617720"/>
            <a:ext cx="6757416" cy="1600200"/>
          </a:xfrm>
          <a:prstGeom prst="roundRect">
            <a:avLst>
              <a:gd name="adj" fmla="val 3429"/>
            </a:avLst>
          </a:prstGeom>
          <a:solidFill>
            <a:srgbClr val="332821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5157216" y="4773168"/>
            <a:ext cx="6172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DESTE BLOCO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157216" y="5029200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ligada antes de começar. Três blocos de três a cinco minutos, sem roteiro decorado — depois a gente corta. O que não se recupera é a frase espontânea que saiu enquanto a câmera estava desligada.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2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4"/>
          <p:cNvSpPr/>
          <p:nvPr/>
        </p:nvSpPr>
        <p:spPr>
          <a:xfrm>
            <a:off x="428968" y="1777225"/>
            <a:ext cx="5174680" cy="2624328"/>
          </a:xfrm>
          <a:prstGeom prst="roundRect">
            <a:avLst>
              <a:gd name="adj" fmla="val 7692"/>
            </a:avLst>
          </a:prstGeom>
          <a:solidFill>
            <a:srgbClr val="43362C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" name="Image 0" descr="/home/user/SkillsClaude/pekar-joias/pekar-logo-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4572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47472"/>
            <a:ext cx="1014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 ·  PARTE 03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93560" y="1005990"/>
            <a:ext cx="46307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Meu Negócio e QR codes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120" y="1946389"/>
            <a:ext cx="310896" cy="31089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7" name="Text 4"/>
          <p:cNvSpPr/>
          <p:nvPr/>
        </p:nvSpPr>
        <p:spPr>
          <a:xfrm>
            <a:off x="502120" y="19463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59320" y="1891525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Meu Negócio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59320" y="2220709"/>
            <a:ext cx="43807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Reivindicação e disputa de acesso das 3 contas junto ao Google. Após a aprovação, com o acesso transferido para o e-mail pekarjoias@gmail.com, atualização das fotos e das informações das lojas.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511237" y="189539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R$ 900,00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120" y="3031959"/>
            <a:ext cx="310896" cy="31089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120" y="303195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59320" y="2977095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codes para o balcão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59320" y="3306279"/>
            <a:ext cx="43807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direcionando para o Instagram e para o Google, com a arte pronta para as duas lojas.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511237" y="301094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R$ 50,00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93560" y="3688321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96240" y="369660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R$ 475,00 para iniciar  ·  R$ 475,00 na entrega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511237" y="3688321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R$ 950,00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8968" y="4692878"/>
            <a:ext cx="5174680" cy="1602766"/>
          </a:xfrm>
          <a:prstGeom prst="roundRect">
            <a:avLst>
              <a:gd name="adj" fmla="val 4444"/>
            </a:avLst>
          </a:prstGeom>
          <a:solidFill>
            <a:srgbClr val="43362C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93560" y="4854787"/>
            <a:ext cx="4853569" cy="4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DE FRASES PARA PEDIR AVALIAÇÃO NO GOOGLE E SEGUIDOR NO INSTAGRAM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3560" y="5436714"/>
            <a:ext cx="474647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peças novas eu mostro lá primeiro.”   ·   “Você é de onde? Então guarda o nosso contato — a gente envia para o Brasil todo, o frete é fixo.”   ·   “Avalia a gente no Google, ajuda muito outras pessoas a encontrarem a loja.”</a:t>
            </a:r>
            <a:endParaRPr lang="en-US" sz="11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0070AE83-075A-7457-7B65-5A7165306791}"/>
              </a:ext>
            </a:extLst>
          </p:cNvPr>
          <p:cNvSpPr/>
          <p:nvPr/>
        </p:nvSpPr>
        <p:spPr>
          <a:xfrm>
            <a:off x="6096000" y="1010549"/>
            <a:ext cx="552221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media: o perfil tocado por mim</a:t>
            </a:r>
            <a:endParaRPr lang="en-US" sz="25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D22CA178-F6F8-1577-375C-F8DB8BABED8A}"/>
              </a:ext>
            </a:extLst>
          </p:cNvPr>
          <p:cNvSpPr/>
          <p:nvPr/>
        </p:nvSpPr>
        <p:spPr>
          <a:xfrm>
            <a:off x="5870389" y="1777225"/>
            <a:ext cx="6035041" cy="4489704"/>
          </a:xfrm>
          <a:prstGeom prst="roundRect">
            <a:avLst>
              <a:gd name="adj" fmla="val 1600"/>
            </a:avLst>
          </a:prstGeom>
          <a:solidFill>
            <a:srgbClr val="43362C"/>
          </a:solidFill>
          <a:ln/>
          <a:effectLst>
            <a:outerShdw blurRad="1778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D9CC2431-BBBE-507C-016C-FDDAFD75D95B}"/>
              </a:ext>
            </a:extLst>
          </p:cNvPr>
          <p:cNvSpPr/>
          <p:nvPr/>
        </p:nvSpPr>
        <p:spPr>
          <a:xfrm>
            <a:off x="6108134" y="207087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</a:t>
            </a:r>
            <a:endParaRPr lang="en-US" sz="100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86E6390A-E074-DCC5-C15D-8AE177E0E749}"/>
              </a:ext>
            </a:extLst>
          </p:cNvPr>
          <p:cNvSpPr/>
          <p:nvPr/>
        </p:nvSpPr>
        <p:spPr>
          <a:xfrm>
            <a:off x="6108134" y="2418346"/>
            <a:ext cx="219456" cy="21945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A3541CA2-B847-E2ED-DB44-F6309FC91BFD}"/>
              </a:ext>
            </a:extLst>
          </p:cNvPr>
          <p:cNvSpPr/>
          <p:nvPr/>
        </p:nvSpPr>
        <p:spPr>
          <a:xfrm>
            <a:off x="6108134" y="241834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ED0BB8C6-3AEF-352A-8A8D-FBD381E3CE68}"/>
              </a:ext>
            </a:extLst>
          </p:cNvPr>
          <p:cNvSpPr/>
          <p:nvPr/>
        </p:nvSpPr>
        <p:spPr>
          <a:xfrm>
            <a:off x="6455606" y="234519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Legendas e programação das publicações</a:t>
            </a:r>
            <a:endParaRPr lang="en-US" sz="1150" dirty="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A7ACA003-9B28-32D1-4E20-15CA5BAE3289}"/>
              </a:ext>
            </a:extLst>
          </p:cNvPr>
          <p:cNvSpPr/>
          <p:nvPr/>
        </p:nvSpPr>
        <p:spPr>
          <a:xfrm>
            <a:off x="6108134" y="2802394"/>
            <a:ext cx="219456" cy="21945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61514FA3-BBE5-729E-4CC1-698227236F45}"/>
              </a:ext>
            </a:extLst>
          </p:cNvPr>
          <p:cNvSpPr/>
          <p:nvPr/>
        </p:nvSpPr>
        <p:spPr>
          <a:xfrm>
            <a:off x="6108134" y="280239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DA3B283C-804F-EC5B-D5C0-8AFC5F82C015}"/>
              </a:ext>
            </a:extLst>
          </p:cNvPr>
          <p:cNvSpPr/>
          <p:nvPr/>
        </p:nvSpPr>
        <p:spPr>
          <a:xfrm>
            <a:off x="6455606" y="272924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Postagens diversificadas entre Reels, carrossel e estático, conforme o material recebido</a:t>
            </a:r>
            <a:endParaRPr lang="en-US" sz="115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9104A878-E605-3591-0919-A18199FC97F8}"/>
              </a:ext>
            </a:extLst>
          </p:cNvPr>
          <p:cNvSpPr/>
          <p:nvPr/>
        </p:nvSpPr>
        <p:spPr>
          <a:xfrm>
            <a:off x="6108134" y="3186442"/>
            <a:ext cx="219456" cy="21945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640EE9BC-1566-C2B3-5BC0-5D0EB8F088A3}"/>
              </a:ext>
            </a:extLst>
          </p:cNvPr>
          <p:cNvSpPr/>
          <p:nvPr/>
        </p:nvSpPr>
        <p:spPr>
          <a:xfrm>
            <a:off x="6108134" y="318644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F9B50637-1D78-7333-741D-AEFB6FA043CE}"/>
              </a:ext>
            </a:extLst>
          </p:cNvPr>
          <p:cNvSpPr/>
          <p:nvPr/>
        </p:nvSpPr>
        <p:spPr>
          <a:xfrm>
            <a:off x="6455606" y="311329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conforme o material disponível</a:t>
            </a:r>
            <a:endParaRPr lang="en-US" sz="1150" dirty="0"/>
          </a:p>
        </p:txBody>
      </p:sp>
      <p:sp>
        <p:nvSpPr>
          <p:cNvPr id="49" name="Shape 13">
            <a:extLst>
              <a:ext uri="{FF2B5EF4-FFF2-40B4-BE49-F238E27FC236}">
                <a16:creationId xmlns:a16="http://schemas.microsoft.com/office/drawing/2014/main" id="{E6FBBCEC-5010-01BF-9B79-E9021824301C}"/>
              </a:ext>
            </a:extLst>
          </p:cNvPr>
          <p:cNvSpPr/>
          <p:nvPr/>
        </p:nvSpPr>
        <p:spPr>
          <a:xfrm>
            <a:off x="6108134" y="3570490"/>
            <a:ext cx="219456" cy="21945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0ED7E3CC-E9C5-D8CE-E738-C9C5702A7D1E}"/>
              </a:ext>
            </a:extLst>
          </p:cNvPr>
          <p:cNvSpPr/>
          <p:nvPr/>
        </p:nvSpPr>
        <p:spPr>
          <a:xfrm>
            <a:off x="6108134" y="357049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A1C168B2-3C94-F46A-1044-6ACC6EBB142A}"/>
              </a:ext>
            </a:extLst>
          </p:cNvPr>
          <p:cNvSpPr/>
          <p:nvPr/>
        </p:nvSpPr>
        <p:spPr>
          <a:xfrm>
            <a:off x="6455606" y="349733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produção de fotos e vídeos</a:t>
            </a:r>
            <a:endParaRPr lang="en-US" sz="115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D9D694AA-E3F4-0DE6-AC3F-CCCD6C81AA2D}"/>
              </a:ext>
            </a:extLst>
          </p:cNvPr>
          <p:cNvSpPr/>
          <p:nvPr/>
        </p:nvSpPr>
        <p:spPr>
          <a:xfrm>
            <a:off x="6108134" y="3954538"/>
            <a:ext cx="219456" cy="21945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1514989D-CD67-FC9B-EB2E-2A48232C60C7}"/>
              </a:ext>
            </a:extLst>
          </p:cNvPr>
          <p:cNvSpPr/>
          <p:nvPr/>
        </p:nvSpPr>
        <p:spPr>
          <a:xfrm>
            <a:off x="6108134" y="395453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28CC18B2-E8EF-D8E2-7A90-47C5ED162B14}"/>
              </a:ext>
            </a:extLst>
          </p:cNvPr>
          <p:cNvSpPr/>
          <p:nvPr/>
        </p:nvSpPr>
        <p:spPr>
          <a:xfrm>
            <a:off x="6455606" y="388138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Análise, sugestões de conteúdo e relatório de tendências</a:t>
            </a:r>
            <a:endParaRPr lang="en-US" sz="1150" dirty="0"/>
          </a:p>
        </p:txBody>
      </p:sp>
      <p:sp>
        <p:nvSpPr>
          <p:cNvPr id="61" name="Shape 19">
            <a:extLst>
              <a:ext uri="{FF2B5EF4-FFF2-40B4-BE49-F238E27FC236}">
                <a16:creationId xmlns:a16="http://schemas.microsoft.com/office/drawing/2014/main" id="{A39D0DC0-33D0-FF02-B321-97B8C1722908}"/>
              </a:ext>
            </a:extLst>
          </p:cNvPr>
          <p:cNvSpPr/>
          <p:nvPr/>
        </p:nvSpPr>
        <p:spPr>
          <a:xfrm>
            <a:off x="6108134" y="4338586"/>
            <a:ext cx="219456" cy="21945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9FE3DBDE-A6F4-63AA-BDCD-B8DF10BA0EFA}"/>
              </a:ext>
            </a:extLst>
          </p:cNvPr>
          <p:cNvSpPr/>
          <p:nvPr/>
        </p:nvSpPr>
        <p:spPr>
          <a:xfrm>
            <a:off x="6108134" y="433858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C0AC24FA-19FC-9BA4-6A6C-E34E29A9FCB1}"/>
              </a:ext>
            </a:extLst>
          </p:cNvPr>
          <p:cNvSpPr/>
          <p:nvPr/>
        </p:nvSpPr>
        <p:spPr>
          <a:xfrm>
            <a:off x="6455606" y="426543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quinzenais de alinhamento</a:t>
            </a:r>
            <a:endParaRPr lang="en-US" sz="1150" dirty="0"/>
          </a:p>
        </p:txBody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925C1985-8E13-2BE3-F86A-65F58F1A4FED}"/>
              </a:ext>
            </a:extLst>
          </p:cNvPr>
          <p:cNvSpPr/>
          <p:nvPr/>
        </p:nvSpPr>
        <p:spPr>
          <a:xfrm>
            <a:off x="6108134" y="4722634"/>
            <a:ext cx="219456" cy="219456"/>
          </a:xfrm>
          <a:prstGeom prst="ellipse">
            <a:avLst/>
          </a:prstGeom>
          <a:solidFill>
            <a:srgbClr val="C9A455"/>
          </a:solidFill>
          <a:ln/>
        </p:spPr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83159589-9BCA-AD7C-B199-5AA4355D31C2}"/>
              </a:ext>
            </a:extLst>
          </p:cNvPr>
          <p:cNvSpPr/>
          <p:nvPr/>
        </p:nvSpPr>
        <p:spPr>
          <a:xfrm>
            <a:off x="6108134" y="47226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1" name="Text 24">
            <a:extLst>
              <a:ext uri="{FF2B5EF4-FFF2-40B4-BE49-F238E27FC236}">
                <a16:creationId xmlns:a16="http://schemas.microsoft.com/office/drawing/2014/main" id="{D90F862D-042D-6A7D-1916-2C3940414C5D}"/>
              </a:ext>
            </a:extLst>
          </p:cNvPr>
          <p:cNvSpPr/>
          <p:nvPr/>
        </p:nvSpPr>
        <p:spPr>
          <a:xfrm>
            <a:off x="6455606" y="464948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D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no WhatsApp em qualquer dia</a:t>
            </a:r>
            <a:endParaRPr lang="en-US" sz="1150" dirty="0"/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A7097D09-0C29-A77A-7296-C6DA3DE245E9}"/>
              </a:ext>
            </a:extLst>
          </p:cNvPr>
          <p:cNvSpPr/>
          <p:nvPr/>
        </p:nvSpPr>
        <p:spPr>
          <a:xfrm>
            <a:off x="6079820" y="523012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000" dirty="0"/>
          </a:p>
        </p:txBody>
      </p:sp>
      <p:sp>
        <p:nvSpPr>
          <p:cNvPr id="75" name="Text 27">
            <a:extLst>
              <a:ext uri="{FF2B5EF4-FFF2-40B4-BE49-F238E27FC236}">
                <a16:creationId xmlns:a16="http://schemas.microsoft.com/office/drawing/2014/main" id="{D8828BFF-118D-4A13-D458-C0367ABBD9D1}"/>
              </a:ext>
            </a:extLst>
          </p:cNvPr>
          <p:cNvSpPr/>
          <p:nvPr/>
        </p:nvSpPr>
        <p:spPr>
          <a:xfrm>
            <a:off x="6079820" y="542672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R$ 900,00</a:t>
            </a: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mês</a:t>
            </a:r>
            <a:endParaRPr lang="en-US" sz="1400" dirty="0"/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FE6D2567-D1F1-D80A-4D5D-3C7E226F6AFF}"/>
              </a:ext>
            </a:extLst>
          </p:cNvPr>
          <p:cNvSpPr/>
          <p:nvPr/>
        </p:nvSpPr>
        <p:spPr>
          <a:xfrm>
            <a:off x="6079820" y="5696470"/>
            <a:ext cx="2898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podemos definir juntas o melhor dia de cobrança</a:t>
            </a:r>
            <a:endParaRPr lang="en-US" sz="1050" dirty="0"/>
          </a:p>
        </p:txBody>
      </p:sp>
      <p:sp>
        <p:nvSpPr>
          <p:cNvPr id="79" name="Text 30">
            <a:extLst>
              <a:ext uri="{FF2B5EF4-FFF2-40B4-BE49-F238E27FC236}">
                <a16:creationId xmlns:a16="http://schemas.microsoft.com/office/drawing/2014/main" id="{35574454-45FE-B420-E8DA-1EB9E48D2356}"/>
              </a:ext>
            </a:extLst>
          </p:cNvPr>
          <p:cNvSpPr/>
          <p:nvPr/>
        </p:nvSpPr>
        <p:spPr>
          <a:xfrm>
            <a:off x="9290246" y="523012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B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PEKAR ENTREGA</a:t>
            </a:r>
            <a:endParaRPr lang="en-US" sz="1000" dirty="0"/>
          </a:p>
        </p:txBody>
      </p:sp>
      <p:sp>
        <p:nvSpPr>
          <p:cNvPr id="81" name="Text 31">
            <a:extLst>
              <a:ext uri="{FF2B5EF4-FFF2-40B4-BE49-F238E27FC236}">
                <a16:creationId xmlns:a16="http://schemas.microsoft.com/office/drawing/2014/main" id="{A046203B-7099-C6C3-A67A-C68DE7CC0A12}"/>
              </a:ext>
            </a:extLst>
          </p:cNvPr>
          <p:cNvSpPr/>
          <p:nvPr/>
        </p:nvSpPr>
        <p:spPr>
          <a:xfrm>
            <a:off x="9290246" y="5408875"/>
            <a:ext cx="2478265" cy="428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de foto e vídeo já selecionado e tratado, com o nome da peça.</a:t>
            </a:r>
            <a:endParaRPr lang="en-US" sz="1150" dirty="0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7F1E918E-9B94-331B-F124-6365A3070209}"/>
              </a:ext>
            </a:extLst>
          </p:cNvPr>
          <p:cNvSpPr/>
          <p:nvPr/>
        </p:nvSpPr>
        <p:spPr>
          <a:xfrm>
            <a:off x="466767" y="6389075"/>
            <a:ext cx="5641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propostas são independentes.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32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023360" cy="4023360"/>
          </a:xfrm>
          <a:prstGeom prst="ellipse">
            <a:avLst/>
          </a:prstGeom>
          <a:ln w="12700">
            <a:solidFill>
              <a:srgbClr val="C9A45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3291840" cy="3291840"/>
          </a:xfrm>
          <a:prstGeom prst="ellipse">
            <a:avLst/>
          </a:prstGeom>
          <a:solidFill>
            <a:srgbClr val="C9A455">
              <a:alpha val="10000"/>
            </a:srgbClr>
          </a:solidFill>
          <a:ln/>
        </p:spPr>
      </p:sp>
      <p:pic>
        <p:nvPicPr>
          <p:cNvPr id="4" name="Image 0" descr="/home/user/SkillsClaude/pekar-joias/pekar-logo-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051560"/>
            <a:ext cx="1170432" cy="1517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88036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 pela confiança.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66928" y="363931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D9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dúvida sobre esta apresentação, é só me chamar no WhatsApp do grupo do projeto.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956048" y="4315968"/>
            <a:ext cx="2286000" cy="0"/>
          </a:xfrm>
          <a:prstGeom prst="line">
            <a:avLst/>
          </a:prstGeom>
          <a:noFill/>
          <a:ln w="9525">
            <a:solidFill>
              <a:srgbClr val="C9A455">
                <a:alpha val="60000"/>
              </a:srgbClr>
            </a:solidFill>
            <a:prstDash val="solid"/>
          </a:ln>
        </p:spPr>
      </p:sp>
      <p:pic>
        <p:nvPicPr>
          <p:cNvPr id="8" name="Image 1" descr="/home/user/SkillsClaude/pekar-joias/assinatura-alusul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4498848"/>
            <a:ext cx="237744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557784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kern="0" spc="12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Pekar Arte </a:t>
            </a:r>
            <a:r>
              <a:rPr lang="en-US" sz="1150" kern="0" spc="120" dirty="0" err="1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kern="0" spc="12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kern="0" spc="120" dirty="0" err="1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Joias</a:t>
            </a:r>
            <a:r>
              <a:rPr lang="en-US" sz="1150" kern="0" spc="12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25 de agosto de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2118</Words>
  <Application>Microsoft Office PowerPoint</Application>
  <PresentationFormat>Widescreen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Pekar Arte em Jóias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Pekar Arte em Jóias — Análise, entrega e nova proposta</dc:title>
  <dc:subject>PptxGenJS Presentation</dc:subject>
  <dc:creator>AluSulina</dc:creator>
  <cp:lastModifiedBy>Adriana Luiza Sulina</cp:lastModifiedBy>
  <cp:revision>4</cp:revision>
  <dcterms:created xsi:type="dcterms:W3CDTF">2026-08-25T21:36:53Z</dcterms:created>
  <dcterms:modified xsi:type="dcterms:W3CDTF">2026-08-25T22:42:28Z</dcterms:modified>
</cp:coreProperties>
</file>