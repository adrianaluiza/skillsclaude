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0691961" cy="7559873"/>
  <p:notesSz cx="7559873" cy="1069196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15950" cy="7559873"/>
          </a:xfrm>
          <a:prstGeom prst="rect">
            <a:avLst/>
          </a:prstGeom>
          <a:solidFill>
            <a:srgbClr val="16283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15950" cy="272147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5" name="Shape 3"/>
          <p:cNvSpPr/>
          <p:nvPr/>
        </p:nvSpPr>
        <p:spPr>
          <a:xfrm>
            <a:off x="1151930" y="5831384"/>
            <a:ext cx="287982" cy="1771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6808291" y="1901577"/>
            <a:ext cx="9525" cy="4014936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393781" y="1901577"/>
            <a:ext cx="2506266" cy="1730276"/>
          </a:xfrm>
          <a:prstGeom prst="roundRect">
            <a:avLst>
              <a:gd name="adj" fmla="val 4161"/>
            </a:avLst>
          </a:prstGeom>
          <a:solidFill>
            <a:srgbClr val="FAF8F5"/>
          </a:solidFill>
          <a:ln/>
        </p:spPr>
      </p:sp>
      <p:sp>
        <p:nvSpPr>
          <p:cNvPr id="8" name="Shape 6"/>
          <p:cNvSpPr/>
          <p:nvPr/>
        </p:nvSpPr>
        <p:spPr>
          <a:xfrm>
            <a:off x="7393781" y="1901577"/>
            <a:ext cx="19050" cy="1730276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9" name="Shape 7"/>
          <p:cNvSpPr/>
          <p:nvPr/>
        </p:nvSpPr>
        <p:spPr>
          <a:xfrm>
            <a:off x="1151930" y="6115348"/>
            <a:ext cx="8748117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10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930" y="611981"/>
            <a:ext cx="2807940" cy="785664"/>
          </a:xfrm>
          <a:prstGeom prst="rect">
            <a:avLst/>
          </a:prstGeom>
        </p:spPr>
      </p:pic>
      <p:pic>
        <p:nvPicPr>
          <p:cNvPr id="11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930" y="6340822"/>
            <a:ext cx="1151930" cy="7511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1930" y="1901577"/>
            <a:ext cx="50540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700" spc="224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 BRASIL</a:t>
            </a:r>
            <a:endParaRPr lang="en-US" sz="700" dirty="0"/>
          </a:p>
        </p:txBody>
      </p:sp>
      <p:sp>
        <p:nvSpPr>
          <p:cNvPr id="13" name="Text 9"/>
          <p:cNvSpPr txBox="1"/>
          <p:nvPr/>
        </p:nvSpPr>
        <p:spPr>
          <a:xfrm>
            <a:off x="1151930" y="2165152"/>
            <a:ext cx="406110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4500" spc="-22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Projeto Victorinox</a:t>
            </a:r>
            <a:endParaRPr lang="en-US" sz="4500" dirty="0"/>
          </a:p>
        </p:txBody>
      </p:sp>
      <p:sp>
        <p:nvSpPr>
          <p:cNvPr id="14" name="Text 10"/>
          <p:cNvSpPr txBox="1"/>
          <p:nvPr/>
        </p:nvSpPr>
        <p:spPr>
          <a:xfrm>
            <a:off x="1151930" y="2835622"/>
            <a:ext cx="505408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4500" i="1" spc="-22" kern="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Experiência Camburi</a:t>
            </a:r>
            <a:endParaRPr lang="en-US" sz="4500" dirty="0"/>
          </a:p>
        </p:txBody>
      </p:sp>
      <p:sp>
        <p:nvSpPr>
          <p:cNvPr id="15" name="Text 11"/>
          <p:cNvSpPr txBox="1"/>
          <p:nvPr/>
        </p:nvSpPr>
        <p:spPr>
          <a:xfrm>
            <a:off x="1151930" y="3681859"/>
            <a:ext cx="4545687" cy="52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8"/>
              </a:lnSpc>
              <a:buNone/>
            </a:pPr>
            <a:r>
              <a:rPr lang="en-US" sz="124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Hospitalidade, produto e relacionamento de marca em um final de semana dedicado aos convidados da Victorinox.</a:t>
            </a:r>
            <a:endParaRPr lang="en-US" sz="1240" dirty="0"/>
          </a:p>
        </p:txBody>
      </p:sp>
      <p:sp>
        <p:nvSpPr>
          <p:cNvPr id="16" name="Text 12"/>
          <p:cNvSpPr txBox="1"/>
          <p:nvPr/>
        </p:nvSpPr>
        <p:spPr>
          <a:xfrm>
            <a:off x="1619845" y="5764113"/>
            <a:ext cx="43315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spc="118" kern="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04 A 06 DE DEZEMBRO DE 2026 · CAMBURI, SÃO SEBASTIÃO — SP</a:t>
            </a:r>
            <a:endParaRPr lang="en-US" sz="840" dirty="0"/>
          </a:p>
        </p:txBody>
      </p:sp>
      <p:sp>
        <p:nvSpPr>
          <p:cNvPr id="17" name="Text 13"/>
          <p:cNvSpPr txBox="1"/>
          <p:nvPr/>
        </p:nvSpPr>
        <p:spPr>
          <a:xfrm>
            <a:off x="7700814" y="2153543"/>
            <a:ext cx="1956971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31"/>
              </a:lnSpc>
              <a:buNone/>
            </a:pPr>
            <a:r>
              <a:rPr lang="en-US" sz="136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Três dias no litoral norte de São Paulo, com a estrutura da pousada inteiramente dedicada a um único grupo de convidados da marca.</a:t>
            </a:r>
            <a:endParaRPr lang="en-US" sz="1360" dirty="0"/>
          </a:p>
        </p:txBody>
      </p:sp>
      <p:sp>
        <p:nvSpPr>
          <p:cNvPr id="18" name="Text 14"/>
          <p:cNvSpPr txBox="1"/>
          <p:nvPr/>
        </p:nvSpPr>
        <p:spPr>
          <a:xfrm>
            <a:off x="7393781" y="3955852"/>
            <a:ext cx="2551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PRECISÃO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7393781" y="4196953"/>
            <a:ext cx="225611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8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Operação dedicada e previsível, do check-in ao último atendimento.</a:t>
            </a:r>
            <a:endParaRPr lang="en-US" sz="860" dirty="0"/>
          </a:p>
        </p:txBody>
      </p:sp>
      <p:sp>
        <p:nvSpPr>
          <p:cNvPr id="20" name="Text 16"/>
          <p:cNvSpPr txBox="1"/>
          <p:nvPr/>
        </p:nvSpPr>
        <p:spPr>
          <a:xfrm>
            <a:off x="7393781" y="4839444"/>
            <a:ext cx="2551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HOSPITALIDADE</a:t>
            </a:r>
            <a:endParaRPr lang="en-US" sz="640" dirty="0"/>
          </a:p>
        </p:txBody>
      </p:sp>
      <p:sp>
        <p:nvSpPr>
          <p:cNvPr id="21" name="Text 17"/>
          <p:cNvSpPr txBox="1"/>
          <p:nvPr/>
        </p:nvSpPr>
        <p:spPr>
          <a:xfrm>
            <a:off x="7393781" y="5080546"/>
            <a:ext cx="23266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8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Estrutura inteira à disposição de um único grupo.</a:t>
            </a:r>
            <a:endParaRPr lang="en-US" sz="860" dirty="0"/>
          </a:p>
        </p:txBody>
      </p:sp>
      <p:sp>
        <p:nvSpPr>
          <p:cNvPr id="22" name="Text 18"/>
          <p:cNvSpPr txBox="1"/>
          <p:nvPr/>
        </p:nvSpPr>
        <p:spPr>
          <a:xfrm>
            <a:off x="7393781" y="5503962"/>
            <a:ext cx="25519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EXPERIÊNCIA</a:t>
            </a:r>
            <a:endParaRPr lang="en-US" sz="640" dirty="0"/>
          </a:p>
        </p:txBody>
      </p:sp>
      <p:sp>
        <p:nvSpPr>
          <p:cNvPr id="23" name="Text 19"/>
          <p:cNvSpPr txBox="1"/>
          <p:nvPr/>
        </p:nvSpPr>
        <p:spPr>
          <a:xfrm>
            <a:off x="7393781" y="5745063"/>
            <a:ext cx="2298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8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Produto vivido em contexto, não apenas exposto.</a:t>
            </a:r>
            <a:endParaRPr lang="en-US" sz="860" dirty="0"/>
          </a:p>
        </p:txBody>
      </p:sp>
      <p:sp>
        <p:nvSpPr>
          <p:cNvPr id="24" name="Text 20"/>
          <p:cNvSpPr txBox="1"/>
          <p:nvPr/>
        </p:nvSpPr>
        <p:spPr>
          <a:xfrm>
            <a:off x="7432447" y="6763941"/>
            <a:ext cx="2467600" cy="32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92"/>
              </a:lnSpc>
              <a:buNone/>
            </a:pPr>
            <a:r>
              <a:rPr lang="en-US" sz="680" spc="109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APRESENTAÇÃO INSTITUCIONAL · REVISÃO 04</a:t>
            </a:r>
            <a:endParaRPr lang="en-US" sz="680" dirty="0"/>
          </a:p>
          <a:p>
            <a:pPr algn="r" indent="0" marL="0">
              <a:lnSpc>
                <a:spcPts val="1292"/>
              </a:lnSpc>
              <a:buNone/>
            </a:pPr>
            <a:r>
              <a:rPr lang="en-US" sz="680" spc="109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AGOSTO DE 2026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080248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 PONTO DE PARTIDA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Uma experiência construída sobre afinidades reais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“Criar contexto para que o produto seja conhecido, demonstrado e lembrado.”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796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 Pousada Camburi reúne hospitalidade, gastronomia, praia, natureza e um público que valoriza qualidade, funcionalidade, design e experiências bem cuidadas.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569666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É nesse ambiente que enxergamos uma oportunidade natural para a Victorinox: transformar um encontro de colecionadores e entusiastas em uma experiência de marca vivida.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3257848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proposta não é uma ação publicitária convencional. É criar contexto para que o produto seja conhecido, demonstrado e lembrado — no lugar e no momento em que a sua função realmente faz sentido.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FORMATO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585520"/>
            <a:ext cx="1593830" cy="47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Final de semana exclusivo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Três dias, um único grupo, estrutura integralmente dedicada.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3811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PÚBLICO</a:t>
            </a:r>
            <a:endParaRPr lang="en-US" sz="640" dirty="0"/>
          </a:p>
        </p:txBody>
      </p:sp>
      <p:sp>
        <p:nvSpPr>
          <p:cNvPr id="22" name="Text 18"/>
          <p:cNvSpPr txBox="1"/>
          <p:nvPr/>
        </p:nvSpPr>
        <p:spPr>
          <a:xfrm>
            <a:off x="6443811" y="5585520"/>
            <a:ext cx="1593830" cy="47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Colecionadores e entusiastas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443811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Pessoas que já escolhem a marca e influenciam quem está ao redor.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423821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ENTREGA</a:t>
            </a:r>
            <a:endParaRPr lang="en-US" sz="640" dirty="0"/>
          </a:p>
        </p:txBody>
      </p:sp>
      <p:sp>
        <p:nvSpPr>
          <p:cNvPr id="25" name="Text 21"/>
          <p:cNvSpPr txBox="1"/>
          <p:nvPr/>
        </p:nvSpPr>
        <p:spPr>
          <a:xfrm>
            <a:off x="8423821" y="5585520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Relacionamento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423821" y="5900291"/>
            <a:ext cx="159383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Vínculo construído no convívio, não em audiência comprada.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341239"/>
            <a:ext cx="2610148" cy="2537668"/>
          </a:xfrm>
          <a:prstGeom prst="roundRect">
            <a:avLst>
              <a:gd name="adj" fmla="val 354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463802" y="1341239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" name="Shape 6"/>
          <p:cNvSpPr/>
          <p:nvPr/>
        </p:nvSpPr>
        <p:spPr>
          <a:xfrm>
            <a:off x="7064425" y="1341239"/>
            <a:ext cx="9525" cy="25376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9" name="Shape 7"/>
          <p:cNvSpPr/>
          <p:nvPr/>
        </p:nvSpPr>
        <p:spPr>
          <a:xfrm>
            <a:off x="4463802" y="3869382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1341239"/>
            <a:ext cx="9525" cy="25376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4463802" y="1341239"/>
            <a:ext cx="2591095" cy="2277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12" name="Shape 10"/>
          <p:cNvSpPr/>
          <p:nvPr/>
        </p:nvSpPr>
        <p:spPr>
          <a:xfrm>
            <a:off x="4725293" y="3298031"/>
            <a:ext cx="208716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61932" y="1341239"/>
            <a:ext cx="2610148" cy="2537668"/>
          </a:xfrm>
          <a:prstGeom prst="roundRect">
            <a:avLst>
              <a:gd name="adj" fmla="val 354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61932" y="1341239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5" name="Shape 13"/>
          <p:cNvSpPr/>
          <p:nvPr/>
        </p:nvSpPr>
        <p:spPr>
          <a:xfrm>
            <a:off x="9962555" y="1341239"/>
            <a:ext cx="9525" cy="25376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61932" y="3869382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61932" y="1341239"/>
            <a:ext cx="9525" cy="25376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361932" y="1341239"/>
            <a:ext cx="2591095" cy="2277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3423" y="3168104"/>
            <a:ext cx="208716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0" name="Shape 18"/>
          <p:cNvSpPr/>
          <p:nvPr/>
        </p:nvSpPr>
        <p:spPr>
          <a:xfrm>
            <a:off x="4463802" y="4166890"/>
            <a:ext cx="2610148" cy="2537817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3802" y="4166890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2" name="Shape 20"/>
          <p:cNvSpPr/>
          <p:nvPr/>
        </p:nvSpPr>
        <p:spPr>
          <a:xfrm>
            <a:off x="7064425" y="4166890"/>
            <a:ext cx="9525" cy="2537817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463802" y="6695182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4463802" y="4166890"/>
            <a:ext cx="9525" cy="2537817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3802" y="4166890"/>
            <a:ext cx="2591095" cy="2277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26" name="Shape 24"/>
          <p:cNvSpPr/>
          <p:nvPr/>
        </p:nvSpPr>
        <p:spPr>
          <a:xfrm>
            <a:off x="4725293" y="6125319"/>
            <a:ext cx="208716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61932" y="4166890"/>
            <a:ext cx="2610148" cy="2537817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61932" y="4166890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9" name="Shape 27"/>
          <p:cNvSpPr/>
          <p:nvPr/>
        </p:nvSpPr>
        <p:spPr>
          <a:xfrm>
            <a:off x="9962555" y="4166890"/>
            <a:ext cx="9525" cy="2537817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0" name="Shape 28"/>
          <p:cNvSpPr/>
          <p:nvPr/>
        </p:nvSpPr>
        <p:spPr>
          <a:xfrm>
            <a:off x="7361932" y="6695182"/>
            <a:ext cx="261014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1932" y="4166890"/>
            <a:ext cx="9525" cy="2537817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2" name="Shape 30"/>
          <p:cNvSpPr/>
          <p:nvPr/>
        </p:nvSpPr>
        <p:spPr>
          <a:xfrm>
            <a:off x="7361932" y="4166890"/>
            <a:ext cx="2591095" cy="22771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33" name="Shape 31"/>
          <p:cNvSpPr/>
          <p:nvPr/>
        </p:nvSpPr>
        <p:spPr>
          <a:xfrm>
            <a:off x="7623423" y="6123831"/>
            <a:ext cx="208716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4" name="Shape 32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35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36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38" name="Text 34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UNIVERSOS DA MARCA</a:t>
            </a:r>
            <a:endParaRPr lang="en-US" sz="660" dirty="0"/>
          </a:p>
        </p:txBody>
      </p:sp>
      <p:sp>
        <p:nvSpPr>
          <p:cNvPr id="40" name="Text 36"/>
          <p:cNvSpPr txBox="1"/>
          <p:nvPr/>
        </p:nvSpPr>
        <p:spPr>
          <a:xfrm>
            <a:off x="719882" y="1617464"/>
            <a:ext cx="2700218" cy="1563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Quatro universos Victorinox encontram Camburi</a:t>
            </a:r>
            <a:endParaRPr lang="en-US" sz="2700" dirty="0"/>
          </a:p>
        </p:txBody>
      </p:sp>
      <p:sp>
        <p:nvSpPr>
          <p:cNvPr id="41" name="Text 37"/>
          <p:cNvSpPr txBox="1"/>
          <p:nvPr/>
        </p:nvSpPr>
        <p:spPr>
          <a:xfrm>
            <a:off x="719882" y="3396704"/>
            <a:ext cx="270021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Cada linha da marca encontra, na rotina do final de semana, uma situação de uso coerente com a sua proposta.</a:t>
            </a:r>
            <a:endParaRPr lang="en-US" sz="1060" dirty="0"/>
          </a:p>
        </p:txBody>
      </p:sp>
      <p:sp>
        <p:nvSpPr>
          <p:cNvPr id="42" name="Text 38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“Cada produto no contexto em que a sua função faz sentido.”</a:t>
            </a:r>
            <a:endParaRPr lang="en-US" sz="1500" dirty="0"/>
          </a:p>
        </p:txBody>
      </p:sp>
      <p:sp>
        <p:nvSpPr>
          <p:cNvPr id="43" name="Text 39"/>
          <p:cNvSpPr txBox="1"/>
          <p:nvPr/>
        </p:nvSpPr>
        <p:spPr>
          <a:xfrm>
            <a:off x="6677769" y="1530697"/>
            <a:ext cx="2164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D3CFC7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4725293" y="1602730"/>
            <a:ext cx="21328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49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GASTRONOMIA</a:t>
            </a:r>
            <a:endParaRPr lang="en-US" sz="620" dirty="0"/>
          </a:p>
        </p:txBody>
      </p:sp>
      <p:sp>
        <p:nvSpPr>
          <p:cNvPr id="45" name="Text 41"/>
          <p:cNvSpPr txBox="1"/>
          <p:nvPr/>
        </p:nvSpPr>
        <p:spPr>
          <a:xfrm>
            <a:off x="4725293" y="1824930"/>
            <a:ext cx="213288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spc="-7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Cutelaria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4725293" y="2152799"/>
            <a:ext cx="2132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30" kern="0" dirty="0">
                <a:solidFill>
                  <a:srgbClr val="2E3A45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SWISS MODERN</a:t>
            </a:r>
            <a:endParaRPr lang="en-US" sz="720" dirty="0"/>
          </a:p>
        </p:txBody>
      </p:sp>
      <p:sp>
        <p:nvSpPr>
          <p:cNvPr id="47" name="Text 43"/>
          <p:cNvSpPr txBox="1"/>
          <p:nvPr/>
        </p:nvSpPr>
        <p:spPr>
          <a:xfrm>
            <a:off x="4725293" y="2448074"/>
            <a:ext cx="2132886" cy="794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92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lâmina aparece em uso: corte, ergonomia e acabamento percebidos na prática, diante de quem cozinha e de quem observa.</a:t>
            </a:r>
            <a:endParaRPr lang="en-US" sz="920" dirty="0"/>
          </a:p>
        </p:txBody>
      </p:sp>
      <p:sp>
        <p:nvSpPr>
          <p:cNvPr id="48" name="Text 44"/>
          <p:cNvSpPr txBox="1"/>
          <p:nvPr/>
        </p:nvSpPr>
        <p:spPr>
          <a:xfrm>
            <a:off x="4725293" y="3478031"/>
            <a:ext cx="2132886" cy="13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640" spc="128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COZINHA, PREPARO E SERVIÇO</a:t>
            </a:r>
            <a:endParaRPr lang="en-US" sz="640" dirty="0"/>
          </a:p>
        </p:txBody>
      </p:sp>
      <p:sp>
        <p:nvSpPr>
          <p:cNvPr id="49" name="Text 45"/>
          <p:cNvSpPr txBox="1"/>
          <p:nvPr/>
        </p:nvSpPr>
        <p:spPr>
          <a:xfrm>
            <a:off x="9575899" y="1530697"/>
            <a:ext cx="2164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D3CFC7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50" name="Text 46"/>
          <p:cNvSpPr txBox="1"/>
          <p:nvPr/>
        </p:nvSpPr>
        <p:spPr>
          <a:xfrm>
            <a:off x="7623423" y="1602730"/>
            <a:ext cx="21328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49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VIAGEM</a:t>
            </a:r>
            <a:endParaRPr lang="en-US" sz="620" dirty="0"/>
          </a:p>
        </p:txBody>
      </p:sp>
      <p:sp>
        <p:nvSpPr>
          <p:cNvPr id="51" name="Text 47"/>
          <p:cNvSpPr txBox="1"/>
          <p:nvPr/>
        </p:nvSpPr>
        <p:spPr>
          <a:xfrm>
            <a:off x="7623423" y="1824930"/>
            <a:ext cx="213288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spc="-7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Travel Gear</a:t>
            </a:r>
            <a:endParaRPr lang="en-US" sz="1800" dirty="0"/>
          </a:p>
        </p:txBody>
      </p:sp>
      <p:sp>
        <p:nvSpPr>
          <p:cNvPr id="52" name="Text 48"/>
          <p:cNvSpPr txBox="1"/>
          <p:nvPr/>
        </p:nvSpPr>
        <p:spPr>
          <a:xfrm>
            <a:off x="7623423" y="2152799"/>
            <a:ext cx="2132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30" kern="0" dirty="0">
                <a:solidFill>
                  <a:srgbClr val="2E3A45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SPECTRA 3.0</a:t>
            </a:r>
            <a:endParaRPr lang="en-US" sz="720" dirty="0"/>
          </a:p>
        </p:txBody>
      </p:sp>
      <p:sp>
        <p:nvSpPr>
          <p:cNvPr id="53" name="Text 49"/>
          <p:cNvSpPr txBox="1"/>
          <p:nvPr/>
        </p:nvSpPr>
        <p:spPr>
          <a:xfrm>
            <a:off x="7623423" y="2448074"/>
            <a:ext cx="2132886" cy="59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92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Malas e acessórios ganham contexto real de uso ao longo dos três dias, da chegada ao retorno.</a:t>
            </a:r>
            <a:endParaRPr lang="en-US" sz="920" dirty="0"/>
          </a:p>
        </p:txBody>
      </p:sp>
      <p:sp>
        <p:nvSpPr>
          <p:cNvPr id="54" name="Text 50"/>
          <p:cNvSpPr txBox="1"/>
          <p:nvPr/>
        </p:nvSpPr>
        <p:spPr>
          <a:xfrm>
            <a:off x="7623423" y="3348104"/>
            <a:ext cx="2132886" cy="26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640" spc="128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CHEGADA, HOSPEDAGEM E DESLOCAMENTO</a:t>
            </a:r>
            <a:endParaRPr lang="en-US" sz="640" dirty="0"/>
          </a:p>
        </p:txBody>
      </p:sp>
      <p:sp>
        <p:nvSpPr>
          <p:cNvPr id="55" name="Text 51"/>
          <p:cNvSpPr txBox="1"/>
          <p:nvPr/>
        </p:nvSpPr>
        <p:spPr>
          <a:xfrm>
            <a:off x="6677769" y="4356348"/>
            <a:ext cx="2164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D3CFC7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56" name="Text 52"/>
          <p:cNvSpPr txBox="1"/>
          <p:nvPr/>
        </p:nvSpPr>
        <p:spPr>
          <a:xfrm>
            <a:off x="4725293" y="4428381"/>
            <a:ext cx="21328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49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OUTDOOR</a:t>
            </a:r>
            <a:endParaRPr lang="en-US" sz="620" dirty="0"/>
          </a:p>
        </p:txBody>
      </p:sp>
      <p:sp>
        <p:nvSpPr>
          <p:cNvPr id="57" name="Text 53"/>
          <p:cNvSpPr txBox="1"/>
          <p:nvPr/>
        </p:nvSpPr>
        <p:spPr>
          <a:xfrm>
            <a:off x="4725293" y="4650581"/>
            <a:ext cx="2132886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spc="-7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Swiss Army Knife™ &amp; Tools</a:t>
            </a:r>
            <a:endParaRPr lang="en-US" sz="1800" dirty="0"/>
          </a:p>
        </p:txBody>
      </p:sp>
      <p:sp>
        <p:nvSpPr>
          <p:cNvPr id="58" name="Text 54"/>
          <p:cNvSpPr txBox="1"/>
          <p:nvPr/>
        </p:nvSpPr>
        <p:spPr>
          <a:xfrm>
            <a:off x="4725293" y="5234434"/>
            <a:ext cx="2132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30" kern="0" dirty="0">
                <a:solidFill>
                  <a:srgbClr val="2E3A45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HUNTSMAN WOOD</a:t>
            </a:r>
            <a:endParaRPr lang="en-US" sz="720" dirty="0"/>
          </a:p>
        </p:txBody>
      </p:sp>
      <p:sp>
        <p:nvSpPr>
          <p:cNvPr id="59" name="Text 55"/>
          <p:cNvSpPr txBox="1"/>
          <p:nvPr/>
        </p:nvSpPr>
        <p:spPr>
          <a:xfrm>
            <a:off x="4725293" y="5529709"/>
            <a:ext cx="2132886" cy="59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92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Ferramentas em situações que revelam versatilidade e preparação — a função se explica sozinha.</a:t>
            </a:r>
            <a:endParaRPr lang="en-US" sz="920" dirty="0"/>
          </a:p>
        </p:txBody>
      </p:sp>
      <p:sp>
        <p:nvSpPr>
          <p:cNvPr id="60" name="Text 56"/>
          <p:cNvSpPr txBox="1"/>
          <p:nvPr/>
        </p:nvSpPr>
        <p:spPr>
          <a:xfrm>
            <a:off x="4725293" y="6305319"/>
            <a:ext cx="2132886" cy="13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640" spc="128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PRAIA, TRILHAS E NATUREZA</a:t>
            </a:r>
            <a:endParaRPr lang="en-US" sz="640" dirty="0"/>
          </a:p>
        </p:txBody>
      </p:sp>
      <p:sp>
        <p:nvSpPr>
          <p:cNvPr id="61" name="Text 57"/>
          <p:cNvSpPr txBox="1"/>
          <p:nvPr/>
        </p:nvSpPr>
        <p:spPr>
          <a:xfrm>
            <a:off x="9575899" y="4356348"/>
            <a:ext cx="2164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D3CFC7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62" name="Text 58"/>
          <p:cNvSpPr txBox="1"/>
          <p:nvPr/>
        </p:nvSpPr>
        <p:spPr>
          <a:xfrm>
            <a:off x="7623423" y="4428381"/>
            <a:ext cx="21328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49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LIFESTYLE</a:t>
            </a:r>
            <a:endParaRPr lang="en-US" sz="620" dirty="0"/>
          </a:p>
        </p:txBody>
      </p:sp>
      <p:sp>
        <p:nvSpPr>
          <p:cNvPr id="63" name="Text 59"/>
          <p:cNvSpPr txBox="1"/>
          <p:nvPr/>
        </p:nvSpPr>
        <p:spPr>
          <a:xfrm>
            <a:off x="7623423" y="4650581"/>
            <a:ext cx="213288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spc="-7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Relógios</a:t>
            </a:r>
            <a:endParaRPr lang="en-US" sz="1800" dirty="0"/>
          </a:p>
        </p:txBody>
      </p:sp>
      <p:sp>
        <p:nvSpPr>
          <p:cNvPr id="64" name="Text 60"/>
          <p:cNvSpPr txBox="1"/>
          <p:nvPr/>
        </p:nvSpPr>
        <p:spPr>
          <a:xfrm>
            <a:off x="7623423" y="4978450"/>
            <a:ext cx="21328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720" spc="130" kern="0" dirty="0">
                <a:solidFill>
                  <a:srgbClr val="2E3A45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I.N.O.X.</a:t>
            </a:r>
            <a:endParaRPr lang="en-US" sz="720" dirty="0"/>
          </a:p>
        </p:txBody>
      </p:sp>
      <p:sp>
        <p:nvSpPr>
          <p:cNvPr id="65" name="Text 61"/>
          <p:cNvSpPr txBox="1"/>
          <p:nvPr/>
        </p:nvSpPr>
        <p:spPr>
          <a:xfrm>
            <a:off x="7623423" y="5273725"/>
            <a:ext cx="2132886" cy="595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92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Resistência e leitura demonstradas em um ambiente de mar, sol e movimento constante.</a:t>
            </a:r>
            <a:endParaRPr lang="en-US" sz="920" dirty="0"/>
          </a:p>
        </p:txBody>
      </p:sp>
      <p:sp>
        <p:nvSpPr>
          <p:cNvPr id="66" name="Text 62"/>
          <p:cNvSpPr txBox="1"/>
          <p:nvPr/>
        </p:nvSpPr>
        <p:spPr>
          <a:xfrm>
            <a:off x="7623423" y="6303830"/>
            <a:ext cx="2132886" cy="13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640" spc="128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PRECISÃO, DESEMPENHO E ESTILO</a:t>
            </a:r>
            <a:endParaRPr lang="en-US" sz="640" dirty="0"/>
          </a:p>
        </p:txBody>
      </p:sp>
      <p:sp>
        <p:nvSpPr>
          <p:cNvPr id="67" name="Text 63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4701034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04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 CONCEITO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O conceito do encontro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“Nada é apresentado como vitrine. Tudo é apresentado como uso.”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Um final de semana exclusivo para convidados da Victorinox, com a Pousada Camburi dedicada integralmente ao grupo.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experiência poderá percorrer diferentes universos da marca, permitindo que os convidados conheçam produtos, histórias, características e aplicações.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992338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 objetivo é que cada produto apareça no contexto em que a sua função realmente faz sentido — a cutelaria na cozinha, as malas no deslocamento, as ferramentas ao ar livre, os relógios no ritmo do dia.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4998541"/>
            <a:ext cx="10708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SEXTA · 04 DEZ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206305"/>
            <a:ext cx="1070848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Chegada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5521077"/>
            <a:ext cx="1070848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Recepção, acomodação e abertura do encontro.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920829" y="4998541"/>
            <a:ext cx="1070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SÁBADO · 05 DEZ</a:t>
            </a:r>
            <a:endParaRPr lang="en-US" sz="640" dirty="0"/>
          </a:p>
        </p:txBody>
      </p:sp>
      <p:sp>
        <p:nvSpPr>
          <p:cNvPr id="22" name="Text 18"/>
          <p:cNvSpPr txBox="1"/>
          <p:nvPr/>
        </p:nvSpPr>
        <p:spPr>
          <a:xfrm>
            <a:off x="5920829" y="5206305"/>
            <a:ext cx="1070997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Vivências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5920829" y="5521077"/>
            <a:ext cx="1070997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Praia, natureza, cozinha e convívio: o corpo do programa.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7378005" y="4998541"/>
            <a:ext cx="1182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DOMINGO · 06 DEZ</a:t>
            </a:r>
            <a:endParaRPr lang="en-US" sz="640" dirty="0"/>
          </a:p>
        </p:txBody>
      </p:sp>
      <p:sp>
        <p:nvSpPr>
          <p:cNvPr id="25" name="Text 21"/>
          <p:cNvSpPr txBox="1"/>
          <p:nvPr/>
        </p:nvSpPr>
        <p:spPr>
          <a:xfrm>
            <a:off x="7378005" y="5206305"/>
            <a:ext cx="1182618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Encerramento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7378005" y="5521077"/>
            <a:ext cx="1182618" cy="758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Fechamento, despedida e desdobramentos de relacionamento.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8946803" y="4998541"/>
            <a:ext cx="10708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OBSERVAÇÃO</a:t>
            </a:r>
            <a:endParaRPr lang="en-US" sz="640" dirty="0"/>
          </a:p>
        </p:txBody>
      </p:sp>
      <p:sp>
        <p:nvSpPr>
          <p:cNvPr id="28" name="Text 24"/>
          <p:cNvSpPr txBox="1"/>
          <p:nvPr/>
        </p:nvSpPr>
        <p:spPr>
          <a:xfrm>
            <a:off x="8946803" y="5206305"/>
            <a:ext cx="1070848" cy="47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Estrutura indicativa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946803" y="5756672"/>
            <a:ext cx="1070848" cy="948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programação definitiva será desenhada em conjunto com a Victorinox.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341239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4463802" y="2679799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" name="Shape 6"/>
          <p:cNvSpPr/>
          <p:nvPr/>
        </p:nvSpPr>
        <p:spPr>
          <a:xfrm>
            <a:off x="4463802" y="4018359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9" name="Shape 7"/>
          <p:cNvSpPr/>
          <p:nvPr/>
        </p:nvSpPr>
        <p:spPr>
          <a:xfrm>
            <a:off x="4463802" y="535692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669548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12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13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5" name="Text 11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ABORDAGEM</a:t>
            </a:r>
            <a:endParaRPr lang="en-US" sz="660" dirty="0"/>
          </a:p>
        </p:txBody>
      </p:sp>
      <p:sp>
        <p:nvSpPr>
          <p:cNvPr id="17" name="Text 13"/>
          <p:cNvSpPr txBox="1"/>
          <p:nvPr/>
        </p:nvSpPr>
        <p:spPr>
          <a:xfrm>
            <a:off x="719882" y="1617464"/>
            <a:ext cx="2700218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Produto em uso: mais experiência, menos exposição</a:t>
            </a:r>
            <a:endParaRPr lang="en-US" sz="2700" dirty="0"/>
          </a:p>
        </p:txBody>
      </p:sp>
      <p:sp>
        <p:nvSpPr>
          <p:cNvPr id="18" name="Text 14"/>
          <p:cNvSpPr txBox="1"/>
          <p:nvPr/>
        </p:nvSpPr>
        <p:spPr>
          <a:xfrm>
            <a:off x="719882" y="3005882"/>
            <a:ext cx="270021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lógica acompanha a abordagem oficial da Victorinox: funcionalidade, qualidade, precisão, versatilidade e preparação.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“O produto não é exibido. Ele é usado — e é isso que fica.”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1886694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895701" y="1785640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Na cozinha,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a cutelaria aparece em uso — no preparo, no corte e no serviço, diante de quem cozinha e de quem observa.</a:t>
            </a:r>
            <a:endParaRPr lang="en-US" sz="1040" dirty="0"/>
          </a:p>
        </p:txBody>
      </p:sp>
      <p:sp>
        <p:nvSpPr>
          <p:cNvPr id="22" name="Text 18"/>
          <p:cNvSpPr txBox="1"/>
          <p:nvPr/>
        </p:nvSpPr>
        <p:spPr>
          <a:xfrm>
            <a:off x="4463802" y="3225254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4895701" y="3124200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Na mesa,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ergonomia e desempenho podem ser percebidos no gesto, sem necessidade de discurso.</a:t>
            </a:r>
            <a:endParaRPr lang="en-US" sz="1040" dirty="0"/>
          </a:p>
        </p:txBody>
      </p:sp>
      <p:sp>
        <p:nvSpPr>
          <p:cNvPr id="24" name="Text 20"/>
          <p:cNvSpPr txBox="1"/>
          <p:nvPr/>
        </p:nvSpPr>
        <p:spPr>
          <a:xfrm>
            <a:off x="4463802" y="4563814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895701" y="4462760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Na viagem,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malas e acessórios ganham contexto: chegada, acomodação, deslocamento e retorno.</a:t>
            </a:r>
            <a:endParaRPr lang="en-US" sz="1040" dirty="0"/>
          </a:p>
        </p:txBody>
      </p:sp>
      <p:sp>
        <p:nvSpPr>
          <p:cNvPr id="26" name="Text 22"/>
          <p:cNvSpPr txBox="1"/>
          <p:nvPr/>
        </p:nvSpPr>
        <p:spPr>
          <a:xfrm>
            <a:off x="4463802" y="5902375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4895701" y="5801320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Ao ar livre,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ferramentas e relógios encontram situações coerentes com a sua proposta — praia, trilha, sol e água.</a:t>
            </a:r>
            <a:endParaRPr lang="en-US" sz="1040" dirty="0"/>
          </a:p>
        </p:txBody>
      </p:sp>
      <p:sp>
        <p:nvSpPr>
          <p:cNvPr id="28" name="Text 24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341239"/>
            <a:ext cx="1155799" cy="1157883"/>
          </a:xfrm>
          <a:prstGeom prst="roundRect">
            <a:avLst>
              <a:gd name="adj" fmla="val 7787"/>
            </a:avLst>
          </a:prstGeom>
          <a:solidFill>
            <a:srgbClr val="FAF8F5"/>
          </a:solidFill>
          <a:ln/>
        </p:spPr>
      </p:sp>
      <p:sp>
        <p:nvSpPr>
          <p:cNvPr id="7" name="Shape 5"/>
          <p:cNvSpPr/>
          <p:nvPr/>
        </p:nvSpPr>
        <p:spPr>
          <a:xfrm>
            <a:off x="5835551" y="1341239"/>
            <a:ext cx="1186607" cy="1157883"/>
          </a:xfrm>
          <a:prstGeom prst="roundRect">
            <a:avLst>
              <a:gd name="adj" fmla="val 7773"/>
            </a:avLst>
          </a:prstGeom>
          <a:solidFill>
            <a:srgbClr val="FAF8F5"/>
          </a:solidFill>
          <a:ln/>
        </p:spPr>
      </p:sp>
      <p:sp>
        <p:nvSpPr>
          <p:cNvPr id="8" name="Shape 6"/>
          <p:cNvSpPr/>
          <p:nvPr/>
        </p:nvSpPr>
        <p:spPr>
          <a:xfrm>
            <a:off x="7238107" y="1341239"/>
            <a:ext cx="1200150" cy="1157883"/>
          </a:xfrm>
          <a:prstGeom prst="roundRect">
            <a:avLst>
              <a:gd name="adj" fmla="val 7773"/>
            </a:avLst>
          </a:prstGeom>
          <a:solidFill>
            <a:srgbClr val="FAF8F5"/>
          </a:solidFill>
          <a:ln/>
        </p:spPr>
      </p:sp>
      <p:sp>
        <p:nvSpPr>
          <p:cNvPr id="9" name="Shape 7"/>
          <p:cNvSpPr/>
          <p:nvPr/>
        </p:nvSpPr>
        <p:spPr>
          <a:xfrm>
            <a:off x="8654207" y="1341239"/>
            <a:ext cx="1317873" cy="1157883"/>
          </a:xfrm>
          <a:prstGeom prst="roundRect">
            <a:avLst>
              <a:gd name="adj" fmla="val 7773"/>
            </a:avLst>
          </a:prstGeom>
          <a:solidFill>
            <a:srgbClr val="FAF8F5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3058567"/>
            <a:ext cx="2282428" cy="9525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11" name="Shape 9"/>
          <p:cNvSpPr/>
          <p:nvPr/>
        </p:nvSpPr>
        <p:spPr>
          <a:xfrm>
            <a:off x="6746230" y="3058567"/>
            <a:ext cx="1001316" cy="9525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47546" y="3058567"/>
            <a:ext cx="2224534" cy="9525"/>
          </a:xfrm>
          <a:prstGeom prst="rect">
            <a:avLst/>
          </a:prstGeom>
          <a:solidFill>
            <a:srgbClr val="16222E"/>
          </a:solidFill>
          <a:ln/>
        </p:spPr>
      </p:sp>
      <p:sp>
        <p:nvSpPr>
          <p:cNvPr id="13" name="Shape 11"/>
          <p:cNvSpPr/>
          <p:nvPr/>
        </p:nvSpPr>
        <p:spPr>
          <a:xfrm>
            <a:off x="4463802" y="3622923"/>
            <a:ext cx="228242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746230" y="3622923"/>
            <a:ext cx="100131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747546" y="3622923"/>
            <a:ext cx="222453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463802" y="4187279"/>
            <a:ext cx="228242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6230" y="4187279"/>
            <a:ext cx="100131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8" name="Shape 16"/>
          <p:cNvSpPr/>
          <p:nvPr/>
        </p:nvSpPr>
        <p:spPr>
          <a:xfrm>
            <a:off x="7747546" y="4187279"/>
            <a:ext cx="222453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4463802" y="4751636"/>
            <a:ext cx="228242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746230" y="4751636"/>
            <a:ext cx="100131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47546" y="4751636"/>
            <a:ext cx="222453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2" name="Shape 20"/>
          <p:cNvSpPr/>
          <p:nvPr/>
        </p:nvSpPr>
        <p:spPr>
          <a:xfrm>
            <a:off x="4463802" y="5315992"/>
            <a:ext cx="228242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6746230" y="5315992"/>
            <a:ext cx="100131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47546" y="5315992"/>
            <a:ext cx="222453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5" name="Shape 23"/>
          <p:cNvSpPr/>
          <p:nvPr/>
        </p:nvSpPr>
        <p:spPr>
          <a:xfrm>
            <a:off x="4463802" y="5505450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6" name="Shape 24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27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28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30" name="Text 26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ESTRUTURA</a:t>
            </a:r>
            <a:endParaRPr lang="en-US" sz="660" dirty="0"/>
          </a:p>
        </p:txBody>
      </p:sp>
      <p:sp>
        <p:nvSpPr>
          <p:cNvPr id="32" name="Text 28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Acomodações e capacidade</a:t>
            </a:r>
            <a:endParaRPr lang="en-US" sz="2700" dirty="0"/>
          </a:p>
        </p:txBody>
      </p:sp>
      <p:sp>
        <p:nvSpPr>
          <p:cNvPr id="33" name="Text 29"/>
          <p:cNvSpPr txBox="1"/>
          <p:nvPr/>
        </p:nvSpPr>
        <p:spPr>
          <a:xfrm>
            <a:off x="719882" y="2615059"/>
            <a:ext cx="270021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18 apartamentos, 45 leitos principais e 9 leitos auxiliares — capacidade máxima de 54 pessoas.</a:t>
            </a:r>
            <a:endParaRPr lang="en-US" sz="1060" dirty="0"/>
          </a:p>
        </p:txBody>
      </p:sp>
      <p:sp>
        <p:nvSpPr>
          <p:cNvPr id="34" name="Text 3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“A configuração é ajustável ao perfil do grupo: casais, duplas ou convidados individuais.”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4584859" y="1593205"/>
            <a:ext cx="913686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18</a:t>
            </a:r>
            <a:endParaRPr lang="en-US" sz="3400" dirty="0"/>
          </a:p>
        </p:txBody>
      </p:sp>
      <p:sp>
        <p:nvSpPr>
          <p:cNvPr id="36" name="Text 32"/>
          <p:cNvSpPr txBox="1"/>
          <p:nvPr/>
        </p:nvSpPr>
        <p:spPr>
          <a:xfrm>
            <a:off x="4584859" y="2132856"/>
            <a:ext cx="913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APARTAMENTOS</a:t>
            </a:r>
            <a:endParaRPr lang="en-US" sz="620" dirty="0"/>
          </a:p>
        </p:txBody>
      </p:sp>
      <p:sp>
        <p:nvSpPr>
          <p:cNvPr id="37" name="Text 33"/>
          <p:cNvSpPr txBox="1"/>
          <p:nvPr/>
        </p:nvSpPr>
        <p:spPr>
          <a:xfrm>
            <a:off x="5956608" y="1593205"/>
            <a:ext cx="944493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45</a:t>
            </a:r>
            <a:endParaRPr lang="en-US" sz="3400" dirty="0"/>
          </a:p>
        </p:txBody>
      </p:sp>
      <p:sp>
        <p:nvSpPr>
          <p:cNvPr id="38" name="Text 34"/>
          <p:cNvSpPr txBox="1"/>
          <p:nvPr/>
        </p:nvSpPr>
        <p:spPr>
          <a:xfrm>
            <a:off x="5956608" y="2132856"/>
            <a:ext cx="94449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LEITOS PRINCIPAIS</a:t>
            </a:r>
            <a:endParaRPr lang="en-US" sz="620" dirty="0"/>
          </a:p>
        </p:txBody>
      </p:sp>
      <p:sp>
        <p:nvSpPr>
          <p:cNvPr id="39" name="Text 35"/>
          <p:cNvSpPr txBox="1"/>
          <p:nvPr/>
        </p:nvSpPr>
        <p:spPr>
          <a:xfrm>
            <a:off x="7359164" y="1593205"/>
            <a:ext cx="958036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+9</a:t>
            </a:r>
            <a:endParaRPr lang="en-US" sz="3400" dirty="0"/>
          </a:p>
        </p:txBody>
      </p:sp>
      <p:sp>
        <p:nvSpPr>
          <p:cNvPr id="40" name="Text 36"/>
          <p:cNvSpPr txBox="1"/>
          <p:nvPr/>
        </p:nvSpPr>
        <p:spPr>
          <a:xfrm>
            <a:off x="7359164" y="2132856"/>
            <a:ext cx="958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LEITOS AUXILIARES</a:t>
            </a:r>
            <a:endParaRPr lang="en-US" sz="620" dirty="0"/>
          </a:p>
        </p:txBody>
      </p:sp>
      <p:sp>
        <p:nvSpPr>
          <p:cNvPr id="41" name="Text 37"/>
          <p:cNvSpPr txBox="1"/>
          <p:nvPr/>
        </p:nvSpPr>
        <p:spPr>
          <a:xfrm>
            <a:off x="8775263" y="1593205"/>
            <a:ext cx="1075759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34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54</a:t>
            </a:r>
            <a:endParaRPr lang="en-US" sz="3400" dirty="0"/>
          </a:p>
        </p:txBody>
      </p:sp>
      <p:sp>
        <p:nvSpPr>
          <p:cNvPr id="42" name="Text 38"/>
          <p:cNvSpPr txBox="1"/>
          <p:nvPr/>
        </p:nvSpPr>
        <p:spPr>
          <a:xfrm>
            <a:off x="8775263" y="2132856"/>
            <a:ext cx="10757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99" kern="0" dirty="0">
                <a:solidFill>
                  <a:srgbClr val="5A6672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CAPACIDADE MÁXIMA</a:t>
            </a:r>
            <a:endParaRPr lang="en-US" sz="620" dirty="0"/>
          </a:p>
        </p:txBody>
      </p:sp>
      <p:sp>
        <p:nvSpPr>
          <p:cNvPr id="43" name="Text 39"/>
          <p:cNvSpPr txBox="1"/>
          <p:nvPr/>
        </p:nvSpPr>
        <p:spPr>
          <a:xfrm>
            <a:off x="4463802" y="2823121"/>
            <a:ext cx="2328148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3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TIPO DE APARTAMENTO</a:t>
            </a:r>
            <a:endParaRPr lang="en-US" sz="620" dirty="0"/>
          </a:p>
        </p:txBody>
      </p:sp>
      <p:sp>
        <p:nvSpPr>
          <p:cNvPr id="44" name="Text 40"/>
          <p:cNvSpPr txBox="1"/>
          <p:nvPr/>
        </p:nvSpPr>
        <p:spPr>
          <a:xfrm>
            <a:off x="6723370" y="2823121"/>
            <a:ext cx="1047036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4"/>
              </a:lnSpc>
              <a:buNone/>
            </a:pPr>
            <a:r>
              <a:rPr lang="en-US" sz="620" spc="13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UNIDADES</a:t>
            </a:r>
            <a:endParaRPr lang="en-US" sz="620" dirty="0"/>
          </a:p>
        </p:txBody>
      </p:sp>
      <p:sp>
        <p:nvSpPr>
          <p:cNvPr id="45" name="Text 41"/>
          <p:cNvSpPr txBox="1"/>
          <p:nvPr/>
        </p:nvSpPr>
        <p:spPr>
          <a:xfrm>
            <a:off x="7701826" y="2823121"/>
            <a:ext cx="2270254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44"/>
              </a:lnSpc>
              <a:buNone/>
            </a:pPr>
            <a:r>
              <a:rPr lang="en-US" sz="620" spc="13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HÓSPEDES PRINCIPAIS</a:t>
            </a:r>
            <a:endParaRPr lang="en-US" sz="620" dirty="0"/>
          </a:p>
        </p:txBody>
      </p:sp>
      <p:sp>
        <p:nvSpPr>
          <p:cNvPr id="46" name="Text 42"/>
          <p:cNvSpPr txBox="1"/>
          <p:nvPr/>
        </p:nvSpPr>
        <p:spPr>
          <a:xfrm>
            <a:off x="4463802" y="3226492"/>
            <a:ext cx="2328148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Duplo</a:t>
            </a:r>
            <a:endParaRPr lang="en-US" sz="1040" dirty="0"/>
          </a:p>
        </p:txBody>
      </p:sp>
      <p:sp>
        <p:nvSpPr>
          <p:cNvPr id="47" name="Text 43"/>
          <p:cNvSpPr txBox="1"/>
          <p:nvPr/>
        </p:nvSpPr>
        <p:spPr>
          <a:xfrm>
            <a:off x="6723370" y="3226492"/>
            <a:ext cx="1047036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11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7701826" y="3226492"/>
            <a:ext cx="2270254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22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4463802" y="3790848"/>
            <a:ext cx="2328148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Triplo</a:t>
            </a:r>
            <a:endParaRPr lang="en-US" sz="1040" dirty="0"/>
          </a:p>
        </p:txBody>
      </p:sp>
      <p:sp>
        <p:nvSpPr>
          <p:cNvPr id="50" name="Text 46"/>
          <p:cNvSpPr txBox="1"/>
          <p:nvPr/>
        </p:nvSpPr>
        <p:spPr>
          <a:xfrm>
            <a:off x="6723370" y="3790848"/>
            <a:ext cx="1047036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7701826" y="3790848"/>
            <a:ext cx="2270254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15</a:t>
            </a:r>
            <a:endParaRPr lang="en-US" sz="1400" dirty="0"/>
          </a:p>
        </p:txBody>
      </p:sp>
      <p:sp>
        <p:nvSpPr>
          <p:cNvPr id="52" name="Text 48"/>
          <p:cNvSpPr txBox="1"/>
          <p:nvPr/>
        </p:nvSpPr>
        <p:spPr>
          <a:xfrm>
            <a:off x="4463802" y="4355204"/>
            <a:ext cx="2328148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Quádruplo</a:t>
            </a:r>
            <a:endParaRPr lang="en-US" sz="1040" dirty="0"/>
          </a:p>
        </p:txBody>
      </p:sp>
      <p:sp>
        <p:nvSpPr>
          <p:cNvPr id="53" name="Text 49"/>
          <p:cNvSpPr txBox="1"/>
          <p:nvPr/>
        </p:nvSpPr>
        <p:spPr>
          <a:xfrm>
            <a:off x="6723370" y="4355204"/>
            <a:ext cx="1047036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7701826" y="4355204"/>
            <a:ext cx="2270254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E3A45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8</a:t>
            </a:r>
            <a:endParaRPr lang="en-US" sz="1400" dirty="0"/>
          </a:p>
        </p:txBody>
      </p:sp>
      <p:sp>
        <p:nvSpPr>
          <p:cNvPr id="55" name="Text 51"/>
          <p:cNvSpPr txBox="1"/>
          <p:nvPr/>
        </p:nvSpPr>
        <p:spPr>
          <a:xfrm>
            <a:off x="4463802" y="4919560"/>
            <a:ext cx="2328148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Total</a:t>
            </a:r>
            <a:endParaRPr lang="en-US" sz="1040" dirty="0"/>
          </a:p>
        </p:txBody>
      </p:sp>
      <p:sp>
        <p:nvSpPr>
          <p:cNvPr id="56" name="Text 52"/>
          <p:cNvSpPr txBox="1"/>
          <p:nvPr/>
        </p:nvSpPr>
        <p:spPr>
          <a:xfrm>
            <a:off x="6723370" y="4919560"/>
            <a:ext cx="1047036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18</a:t>
            </a:r>
            <a:endParaRPr lang="en-US" sz="1400" dirty="0"/>
          </a:p>
        </p:txBody>
      </p:sp>
      <p:sp>
        <p:nvSpPr>
          <p:cNvPr id="57" name="Text 53"/>
          <p:cNvSpPr txBox="1"/>
          <p:nvPr/>
        </p:nvSpPr>
        <p:spPr>
          <a:xfrm>
            <a:off x="7701826" y="4919560"/>
            <a:ext cx="2270254" cy="40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45</a:t>
            </a:r>
            <a:endParaRPr lang="en-US" sz="1400" dirty="0"/>
          </a:p>
        </p:txBody>
      </p:sp>
      <p:sp>
        <p:nvSpPr>
          <p:cNvPr id="58" name="Text 54"/>
          <p:cNvSpPr txBox="1"/>
          <p:nvPr/>
        </p:nvSpPr>
        <p:spPr>
          <a:xfrm>
            <a:off x="4463802" y="5802957"/>
            <a:ext cx="25838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DISTRIBUIÇÃO</a:t>
            </a:r>
            <a:endParaRPr lang="en-US" sz="640" dirty="0"/>
          </a:p>
        </p:txBody>
      </p:sp>
      <p:sp>
        <p:nvSpPr>
          <p:cNvPr id="59" name="Text 55"/>
          <p:cNvSpPr txBox="1"/>
          <p:nvPr/>
        </p:nvSpPr>
        <p:spPr>
          <a:xfrm>
            <a:off x="4463802" y="6010721"/>
            <a:ext cx="2583835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Definida em conjunto</a:t>
            </a:r>
            <a:endParaRPr lang="en-US" sz="1600" dirty="0"/>
          </a:p>
        </p:txBody>
      </p:sp>
      <p:sp>
        <p:nvSpPr>
          <p:cNvPr id="60" name="Text 56"/>
          <p:cNvSpPr txBox="1"/>
          <p:nvPr/>
        </p:nvSpPr>
        <p:spPr>
          <a:xfrm>
            <a:off x="4463802" y="6325493"/>
            <a:ext cx="2583835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alocação final dos apartamentos seguirá a lista de convidados da Victorinox.</a:t>
            </a:r>
            <a:endParaRPr lang="en-US" sz="900" dirty="0"/>
          </a:p>
        </p:txBody>
      </p:sp>
      <p:sp>
        <p:nvSpPr>
          <p:cNvPr id="61" name="Text 57"/>
          <p:cNvSpPr txBox="1"/>
          <p:nvPr/>
        </p:nvSpPr>
        <p:spPr>
          <a:xfrm>
            <a:off x="7433816" y="5802957"/>
            <a:ext cx="25839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LEITOS AUXILIARES</a:t>
            </a:r>
            <a:endParaRPr lang="en-US" sz="640" dirty="0"/>
          </a:p>
        </p:txBody>
      </p:sp>
      <p:sp>
        <p:nvSpPr>
          <p:cNvPr id="62" name="Text 58"/>
          <p:cNvSpPr txBox="1"/>
          <p:nvPr/>
        </p:nvSpPr>
        <p:spPr>
          <a:xfrm>
            <a:off x="7433816" y="6010721"/>
            <a:ext cx="2583984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Nove posições extras</a:t>
            </a:r>
            <a:endParaRPr lang="en-US" sz="1600" dirty="0"/>
          </a:p>
        </p:txBody>
      </p:sp>
      <p:sp>
        <p:nvSpPr>
          <p:cNvPr id="63" name="Text 59"/>
          <p:cNvSpPr txBox="1"/>
          <p:nvPr/>
        </p:nvSpPr>
        <p:spPr>
          <a:xfrm>
            <a:off x="7433816" y="6325493"/>
            <a:ext cx="258398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Permitem ajustes de configuração sem alterar a estrutura contratada.</a:t>
            </a:r>
            <a:endParaRPr lang="en-US" sz="900" dirty="0"/>
          </a:p>
        </p:txBody>
      </p:sp>
      <p:sp>
        <p:nvSpPr>
          <p:cNvPr id="64" name="Text 60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65472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315843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07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 BASE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Pousada Camburi como base exclusiva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5916216"/>
            <a:ext cx="270021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“Privacidade, fluidez operacional e um ambiente controlado para as ativações.”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 estrutura será dedicada ao grupo Victorinox, proporcionando privacidade, fluidez operacional e um ambiente controlado para as ativações.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pousada fica a aproximadamente 170 metros da praia, cerca de dois minutos de caminhada — perto o bastante para que o mar faça parte da programação sem exigir deslocamento.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99233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operação inclui hospedagem, café da manhã, gastronomia, piscina aquecida, serviço de praia, estacionamento com manobrista e serviço de camareira.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5613350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DISTÂNCIA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821114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170 metros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6135886"/>
            <a:ext cx="159383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Cerca de dois minutos de caminhada até a praia.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3811" y="5613350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EXCLUSIVIDADE</a:t>
            </a:r>
            <a:endParaRPr lang="en-US" sz="640" dirty="0"/>
          </a:p>
        </p:txBody>
      </p:sp>
      <p:sp>
        <p:nvSpPr>
          <p:cNvPr id="22" name="Text 18"/>
          <p:cNvSpPr txBox="1"/>
          <p:nvPr/>
        </p:nvSpPr>
        <p:spPr>
          <a:xfrm>
            <a:off x="6443811" y="5821114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100% da estrutura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443811" y="6135886"/>
            <a:ext cx="159383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Sem outros hóspedes durante o período do encontro.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423821" y="5613350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SERVIÇOS</a:t>
            </a:r>
            <a:endParaRPr lang="en-US" sz="640" dirty="0"/>
          </a:p>
        </p:txBody>
      </p:sp>
      <p:sp>
        <p:nvSpPr>
          <p:cNvPr id="25" name="Text 21"/>
          <p:cNvSpPr txBox="1"/>
          <p:nvPr/>
        </p:nvSpPr>
        <p:spPr>
          <a:xfrm>
            <a:off x="8423821" y="5821114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Operação completa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423821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Café da manhã, gastronomia, piscina aquecida, serviço de praia, manobrista e camareira.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080248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08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COMUNICAÇÃO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Exclusividade sem isolamento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“Nenhuma comunicação é publicada sem o aval da marca.”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O encontro permanece exclusivo aos convidados da Victorinox.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03864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 aprovação prévia da marca, a Pousada Camburi poderá comunicar a realização do evento em suas redes sociais e em canais institucionais locais, incluindo a Associação de Bairro.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726829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Também poderá ser considerada a presença pontual de convidados institucionais e empresariais selecionados — autoridades municipais, representantes da segurança pública e empresários da região —, preservando o controle da lista e o caráter privado do encontro.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3660130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Eventuais convites externos e qualquer divulgação serão previamente alinhados com a Victorinox.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REGRA GERAL</a:t>
            </a:r>
            <a:endParaRPr lang="en-US" sz="64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5585520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Aprovação prévia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463802" y="5900291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Toda divulgação passa pelo crivo da Victorinox antes de existir.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443811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CANAIS POSSÍVEIS</a:t>
            </a:r>
            <a:endParaRPr lang="en-US" sz="640" dirty="0"/>
          </a:p>
        </p:txBody>
      </p:sp>
      <p:sp>
        <p:nvSpPr>
          <p:cNvPr id="23" name="Text 19"/>
          <p:cNvSpPr txBox="1"/>
          <p:nvPr/>
        </p:nvSpPr>
        <p:spPr>
          <a:xfrm>
            <a:off x="6443811" y="5585520"/>
            <a:ext cx="1593830" cy="47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Locais e institucionais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443811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Redes sociais da pousada e canais do bairro, quando autorizados.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423821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LISTA DE CONVIDADOS</a:t>
            </a:r>
            <a:endParaRPr lang="en-US" sz="640" dirty="0"/>
          </a:p>
        </p:txBody>
      </p:sp>
      <p:sp>
        <p:nvSpPr>
          <p:cNvPr id="26" name="Text 22"/>
          <p:cNvSpPr txBox="1"/>
          <p:nvPr/>
        </p:nvSpPr>
        <p:spPr>
          <a:xfrm>
            <a:off x="8423821" y="5585520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Controlada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8423821" y="5900291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Acessos pontuais avaliados caso a caso, sempre em conjunto.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315843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09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DESDOBRAMENTO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 encontro que pode ir além do evento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“Construir relacionamento, não apenas audiência.”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 presença da Victorinox em Camburi pode aproximar a marca de colecionadores, entusiastas, empresários e formadores de opinião de segmentos relacionados.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proposta é construir relacionamento, não apenas audiência. O que se leva de um encontro assim não é alcance: é memória, confiança e proximidade.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299233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experiência local pode ser discreta, qualificada e coerente com a cultura de confiança, responsabilidade, modéstia e excelência da Victorinox.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5613350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OBJETIVO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821114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Relacionamento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Vínculos duradouros com pessoas que já escolhem a marca.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3811" y="5613350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TOM</a:t>
            </a:r>
            <a:endParaRPr lang="en-US" sz="640" dirty="0"/>
          </a:p>
        </p:txBody>
      </p:sp>
      <p:sp>
        <p:nvSpPr>
          <p:cNvPr id="22" name="Text 18"/>
          <p:cNvSpPr txBox="1"/>
          <p:nvPr/>
        </p:nvSpPr>
        <p:spPr>
          <a:xfrm>
            <a:off x="6443811" y="5821114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Discrição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443811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Sem espetáculo e sem ruído, coerente com a cultura da marca.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423821" y="5613350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LEGADO</a:t>
            </a:r>
            <a:endParaRPr lang="en-US" sz="640" dirty="0"/>
          </a:p>
        </p:txBody>
      </p:sp>
      <p:sp>
        <p:nvSpPr>
          <p:cNvPr id="25" name="Text 21"/>
          <p:cNvSpPr txBox="1"/>
          <p:nvPr/>
        </p:nvSpPr>
        <p:spPr>
          <a:xfrm>
            <a:off x="8423821" y="5821114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Continuidade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423821" y="6135886"/>
            <a:ext cx="159383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Uma base possível para futuras edições e ações no litoral norte.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5080248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9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1" name="Text 7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10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ESCALA</a:t>
            </a:r>
            <a:endParaRPr lang="en-US" sz="660" dirty="0"/>
          </a:p>
        </p:txBody>
      </p:sp>
      <p:sp>
        <p:nvSpPr>
          <p:cNvPr id="13" name="Text 9"/>
          <p:cNvSpPr txBox="1"/>
          <p:nvPr/>
        </p:nvSpPr>
        <p:spPr>
          <a:xfrm>
            <a:off x="719882" y="1617464"/>
            <a:ext cx="2700218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Capacidade com possibilidade de expansão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“Uma só base. A expansão resolve hospedagem, nunca a experiência.”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463802" y="1341239"/>
            <a:ext cx="5553998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260" dirty="0">
                <a:solidFill>
                  <a:srgbClr val="2E3A45"/>
                </a:solidFill>
                <a:latin typeface="Jost Light" pitchFamily="34" charset="0"/>
                <a:ea typeface="Jost Light" pitchFamily="34" charset="-122"/>
                <a:cs typeface="Jost Light" pitchFamily="34" charset="-120"/>
              </a:rPr>
              <a:t>A Pousada Camburi será o núcleo central da experiência, com capacidade de até 54 pessoas conforme o projeto.</a:t>
            </a:r>
            <a:endParaRPr lang="en-US" sz="1260" dirty="0"/>
          </a:p>
        </p:txBody>
      </p:sp>
      <p:sp>
        <p:nvSpPr>
          <p:cNvPr id="16" name="Text 12"/>
          <p:cNvSpPr txBox="1"/>
          <p:nvPr/>
        </p:nvSpPr>
        <p:spPr>
          <a:xfrm>
            <a:off x="4463802" y="2304157"/>
            <a:ext cx="555399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 a procura superar essa capacidade, poderemos ampliar a hospedagem por meio de pousadas vizinhas previamente selecionadas e parceiras, mantendo o padrão de atendimento acordado.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4463802" y="3237458"/>
            <a:ext cx="5553998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Pousada Camburi permanece como base de convivência, programação e experiência de marca — todos os momentos coletivos acontecem aqui.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4463802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NÚCLEO</a:t>
            </a:r>
            <a:endParaRPr lang="en-US" sz="640" dirty="0"/>
          </a:p>
        </p:txBody>
      </p:sp>
      <p:sp>
        <p:nvSpPr>
          <p:cNvPr id="19" name="Text 15"/>
          <p:cNvSpPr txBox="1"/>
          <p:nvPr/>
        </p:nvSpPr>
        <p:spPr>
          <a:xfrm>
            <a:off x="4463802" y="5585520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Até 54 pessoas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5900291"/>
            <a:ext cx="1593830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Capacidade máxima da estrutura dedicada ao grupo.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43811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EXPANSÃO</a:t>
            </a:r>
            <a:endParaRPr lang="en-US" sz="640" dirty="0"/>
          </a:p>
        </p:txBody>
      </p:sp>
      <p:sp>
        <p:nvSpPr>
          <p:cNvPr id="22" name="Text 18"/>
          <p:cNvSpPr txBox="1"/>
          <p:nvPr/>
        </p:nvSpPr>
        <p:spPr>
          <a:xfrm>
            <a:off x="6443811" y="5585520"/>
            <a:ext cx="1593830" cy="23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Pousadas parceiras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443811" y="5900291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Selecionadas previamente, próximas e alinhadas ao padrão do projeto.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8423821" y="5377755"/>
            <a:ext cx="1593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54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INVARIANTE</a:t>
            </a:r>
            <a:endParaRPr lang="en-US" sz="640" dirty="0"/>
          </a:p>
        </p:txBody>
      </p:sp>
      <p:sp>
        <p:nvSpPr>
          <p:cNvPr id="25" name="Text 21"/>
          <p:cNvSpPr txBox="1"/>
          <p:nvPr/>
        </p:nvSpPr>
        <p:spPr>
          <a:xfrm>
            <a:off x="8423821" y="5585520"/>
            <a:ext cx="1593830" cy="471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60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Programação centralizada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8423821" y="6135886"/>
            <a:ext cx="159383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0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Convívio e ativações permanecem integralmente na Pousada Camburi.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617464"/>
            <a:ext cx="1767483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7" name="Shape 5"/>
          <p:cNvSpPr/>
          <p:nvPr/>
        </p:nvSpPr>
        <p:spPr>
          <a:xfrm>
            <a:off x="4463802" y="1617464"/>
            <a:ext cx="1767483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" name="Shape 6"/>
          <p:cNvSpPr/>
          <p:nvPr/>
        </p:nvSpPr>
        <p:spPr>
          <a:xfrm>
            <a:off x="6221760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9" name="Shape 7"/>
          <p:cNvSpPr/>
          <p:nvPr/>
        </p:nvSpPr>
        <p:spPr>
          <a:xfrm>
            <a:off x="4463802" y="1975842"/>
            <a:ext cx="1767483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6339185" y="1617464"/>
            <a:ext cx="890885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39185" y="1617464"/>
            <a:ext cx="89088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0545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6339185" y="1975842"/>
            <a:ext cx="89088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9185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37971" y="1617464"/>
            <a:ext cx="874068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337971" y="1617464"/>
            <a:ext cx="87406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2513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337971" y="1975842"/>
            <a:ext cx="87406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0" name="Shape 18"/>
          <p:cNvSpPr/>
          <p:nvPr/>
        </p:nvSpPr>
        <p:spPr>
          <a:xfrm>
            <a:off x="7337971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319939" y="1617464"/>
            <a:ext cx="1372791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22" name="Shape 20"/>
          <p:cNvSpPr/>
          <p:nvPr/>
        </p:nvSpPr>
        <p:spPr>
          <a:xfrm>
            <a:off x="8319939" y="1617464"/>
            <a:ext cx="1372791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9683204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8319939" y="1975842"/>
            <a:ext cx="1372791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5" name="Shape 23"/>
          <p:cNvSpPr/>
          <p:nvPr/>
        </p:nvSpPr>
        <p:spPr>
          <a:xfrm>
            <a:off x="8319939" y="1617464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3802" y="2093268"/>
            <a:ext cx="1016794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463802" y="2093268"/>
            <a:ext cx="101679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8" name="Shape 26"/>
          <p:cNvSpPr/>
          <p:nvPr/>
        </p:nvSpPr>
        <p:spPr>
          <a:xfrm>
            <a:off x="5471071" y="209326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29" name="Shape 27"/>
          <p:cNvSpPr/>
          <p:nvPr/>
        </p:nvSpPr>
        <p:spPr>
          <a:xfrm>
            <a:off x="4463802" y="2451646"/>
            <a:ext cx="1016794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0" name="Shape 28"/>
          <p:cNvSpPr/>
          <p:nvPr/>
        </p:nvSpPr>
        <p:spPr>
          <a:xfrm>
            <a:off x="4463802" y="209326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1" name="Shape 29"/>
          <p:cNvSpPr/>
          <p:nvPr/>
        </p:nvSpPr>
        <p:spPr>
          <a:xfrm>
            <a:off x="4463802" y="3025378"/>
            <a:ext cx="1343323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463802" y="3025378"/>
            <a:ext cx="1343323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3" name="Shape 31"/>
          <p:cNvSpPr/>
          <p:nvPr/>
        </p:nvSpPr>
        <p:spPr>
          <a:xfrm>
            <a:off x="5797600" y="302537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4" name="Shape 32"/>
          <p:cNvSpPr/>
          <p:nvPr/>
        </p:nvSpPr>
        <p:spPr>
          <a:xfrm>
            <a:off x="4463802" y="3383756"/>
            <a:ext cx="1343323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5" name="Shape 33"/>
          <p:cNvSpPr/>
          <p:nvPr/>
        </p:nvSpPr>
        <p:spPr>
          <a:xfrm>
            <a:off x="4463802" y="302537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6" name="Shape 34"/>
          <p:cNvSpPr/>
          <p:nvPr/>
        </p:nvSpPr>
        <p:spPr>
          <a:xfrm>
            <a:off x="5915025" y="3025378"/>
            <a:ext cx="964555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37" name="Shape 35"/>
          <p:cNvSpPr/>
          <p:nvPr/>
        </p:nvSpPr>
        <p:spPr>
          <a:xfrm>
            <a:off x="5915025" y="3025378"/>
            <a:ext cx="96455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8" name="Shape 36"/>
          <p:cNvSpPr/>
          <p:nvPr/>
        </p:nvSpPr>
        <p:spPr>
          <a:xfrm>
            <a:off x="6870055" y="302537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39" name="Shape 37"/>
          <p:cNvSpPr/>
          <p:nvPr/>
        </p:nvSpPr>
        <p:spPr>
          <a:xfrm>
            <a:off x="5915025" y="3383756"/>
            <a:ext cx="96455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0" name="Shape 38"/>
          <p:cNvSpPr/>
          <p:nvPr/>
        </p:nvSpPr>
        <p:spPr>
          <a:xfrm>
            <a:off x="5915025" y="302537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1" name="Shape 39"/>
          <p:cNvSpPr/>
          <p:nvPr/>
        </p:nvSpPr>
        <p:spPr>
          <a:xfrm>
            <a:off x="6987480" y="3025378"/>
            <a:ext cx="897285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42" name="Shape 40"/>
          <p:cNvSpPr/>
          <p:nvPr/>
        </p:nvSpPr>
        <p:spPr>
          <a:xfrm>
            <a:off x="6987480" y="3025378"/>
            <a:ext cx="89728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3" name="Shape 41"/>
          <p:cNvSpPr/>
          <p:nvPr/>
        </p:nvSpPr>
        <p:spPr>
          <a:xfrm>
            <a:off x="7875240" y="302537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4" name="Shape 42"/>
          <p:cNvSpPr/>
          <p:nvPr/>
        </p:nvSpPr>
        <p:spPr>
          <a:xfrm>
            <a:off x="6987480" y="3383756"/>
            <a:ext cx="89728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5" name="Shape 43"/>
          <p:cNvSpPr/>
          <p:nvPr/>
        </p:nvSpPr>
        <p:spPr>
          <a:xfrm>
            <a:off x="6987480" y="302537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6" name="Shape 44"/>
          <p:cNvSpPr/>
          <p:nvPr/>
        </p:nvSpPr>
        <p:spPr>
          <a:xfrm>
            <a:off x="4463802" y="4748808"/>
            <a:ext cx="871686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47" name="Shape 45"/>
          <p:cNvSpPr/>
          <p:nvPr/>
        </p:nvSpPr>
        <p:spPr>
          <a:xfrm>
            <a:off x="4463802" y="4748808"/>
            <a:ext cx="87168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8" name="Shape 46"/>
          <p:cNvSpPr/>
          <p:nvPr/>
        </p:nvSpPr>
        <p:spPr>
          <a:xfrm>
            <a:off x="5325963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9" name="Shape 47"/>
          <p:cNvSpPr/>
          <p:nvPr/>
        </p:nvSpPr>
        <p:spPr>
          <a:xfrm>
            <a:off x="4463802" y="5107186"/>
            <a:ext cx="87168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0" name="Shape 48"/>
          <p:cNvSpPr/>
          <p:nvPr/>
        </p:nvSpPr>
        <p:spPr>
          <a:xfrm>
            <a:off x="4463802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1" name="Shape 49"/>
          <p:cNvSpPr/>
          <p:nvPr/>
        </p:nvSpPr>
        <p:spPr>
          <a:xfrm>
            <a:off x="5443389" y="4748808"/>
            <a:ext cx="1319361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52" name="Shape 50"/>
          <p:cNvSpPr/>
          <p:nvPr/>
        </p:nvSpPr>
        <p:spPr>
          <a:xfrm>
            <a:off x="5443389" y="4748808"/>
            <a:ext cx="1319361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3" name="Shape 51"/>
          <p:cNvSpPr/>
          <p:nvPr/>
        </p:nvSpPr>
        <p:spPr>
          <a:xfrm>
            <a:off x="6753225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4" name="Shape 52"/>
          <p:cNvSpPr/>
          <p:nvPr/>
        </p:nvSpPr>
        <p:spPr>
          <a:xfrm>
            <a:off x="5443389" y="5107186"/>
            <a:ext cx="1319361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5" name="Shape 53"/>
          <p:cNvSpPr/>
          <p:nvPr/>
        </p:nvSpPr>
        <p:spPr>
          <a:xfrm>
            <a:off x="5443389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6" name="Shape 54"/>
          <p:cNvSpPr/>
          <p:nvPr/>
        </p:nvSpPr>
        <p:spPr>
          <a:xfrm>
            <a:off x="6870650" y="4748808"/>
            <a:ext cx="881955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57" name="Shape 55"/>
          <p:cNvSpPr/>
          <p:nvPr/>
        </p:nvSpPr>
        <p:spPr>
          <a:xfrm>
            <a:off x="6870650" y="4748808"/>
            <a:ext cx="88195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8" name="Shape 56"/>
          <p:cNvSpPr/>
          <p:nvPr/>
        </p:nvSpPr>
        <p:spPr>
          <a:xfrm>
            <a:off x="7743081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9" name="Shape 57"/>
          <p:cNvSpPr/>
          <p:nvPr/>
        </p:nvSpPr>
        <p:spPr>
          <a:xfrm>
            <a:off x="6870650" y="5107186"/>
            <a:ext cx="881955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0" name="Shape 58"/>
          <p:cNvSpPr/>
          <p:nvPr/>
        </p:nvSpPr>
        <p:spPr>
          <a:xfrm>
            <a:off x="6870650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1" name="Shape 59"/>
          <p:cNvSpPr/>
          <p:nvPr/>
        </p:nvSpPr>
        <p:spPr>
          <a:xfrm>
            <a:off x="7860506" y="4748808"/>
            <a:ext cx="1398389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62" name="Shape 60"/>
          <p:cNvSpPr/>
          <p:nvPr/>
        </p:nvSpPr>
        <p:spPr>
          <a:xfrm>
            <a:off x="7860506" y="4748808"/>
            <a:ext cx="1398389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3" name="Shape 61"/>
          <p:cNvSpPr/>
          <p:nvPr/>
        </p:nvSpPr>
        <p:spPr>
          <a:xfrm>
            <a:off x="9249370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4" name="Shape 62"/>
          <p:cNvSpPr/>
          <p:nvPr/>
        </p:nvSpPr>
        <p:spPr>
          <a:xfrm>
            <a:off x="7860506" y="5107186"/>
            <a:ext cx="1398389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5" name="Shape 63"/>
          <p:cNvSpPr/>
          <p:nvPr/>
        </p:nvSpPr>
        <p:spPr>
          <a:xfrm>
            <a:off x="7860506" y="4748808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6" name="Shape 64"/>
          <p:cNvSpPr/>
          <p:nvPr/>
        </p:nvSpPr>
        <p:spPr>
          <a:xfrm>
            <a:off x="4463802" y="5224611"/>
            <a:ext cx="895796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67" name="Shape 65"/>
          <p:cNvSpPr/>
          <p:nvPr/>
        </p:nvSpPr>
        <p:spPr>
          <a:xfrm>
            <a:off x="4463802" y="5224611"/>
            <a:ext cx="89579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8" name="Shape 66"/>
          <p:cNvSpPr/>
          <p:nvPr/>
        </p:nvSpPr>
        <p:spPr>
          <a:xfrm>
            <a:off x="5350073" y="5224611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69" name="Shape 67"/>
          <p:cNvSpPr/>
          <p:nvPr/>
        </p:nvSpPr>
        <p:spPr>
          <a:xfrm>
            <a:off x="4463802" y="5582989"/>
            <a:ext cx="895796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0" name="Shape 68"/>
          <p:cNvSpPr/>
          <p:nvPr/>
        </p:nvSpPr>
        <p:spPr>
          <a:xfrm>
            <a:off x="4463802" y="5224611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1" name="Shape 69"/>
          <p:cNvSpPr/>
          <p:nvPr/>
        </p:nvSpPr>
        <p:spPr>
          <a:xfrm>
            <a:off x="5467499" y="5224611"/>
            <a:ext cx="947440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72" name="Shape 70"/>
          <p:cNvSpPr/>
          <p:nvPr/>
        </p:nvSpPr>
        <p:spPr>
          <a:xfrm>
            <a:off x="5467499" y="5224611"/>
            <a:ext cx="947440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3" name="Shape 71"/>
          <p:cNvSpPr/>
          <p:nvPr/>
        </p:nvSpPr>
        <p:spPr>
          <a:xfrm>
            <a:off x="6405414" y="5224611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4" name="Shape 72"/>
          <p:cNvSpPr/>
          <p:nvPr/>
        </p:nvSpPr>
        <p:spPr>
          <a:xfrm>
            <a:off x="5467499" y="5582989"/>
            <a:ext cx="947440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5" name="Shape 73"/>
          <p:cNvSpPr/>
          <p:nvPr/>
        </p:nvSpPr>
        <p:spPr>
          <a:xfrm>
            <a:off x="5467499" y="5224611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6" name="Shape 74"/>
          <p:cNvSpPr/>
          <p:nvPr/>
        </p:nvSpPr>
        <p:spPr>
          <a:xfrm>
            <a:off x="6522839" y="5224611"/>
            <a:ext cx="904280" cy="367903"/>
          </a:xfrm>
          <a:prstGeom prst="roundRect">
            <a:avLst>
              <a:gd name="adj" fmla="val 50000"/>
            </a:avLst>
          </a:prstGeom>
          <a:solidFill>
            <a:srgbClr val="FAF8F5"/>
          </a:solidFill>
          <a:ln/>
        </p:spPr>
      </p:sp>
      <p:sp>
        <p:nvSpPr>
          <p:cNvPr id="77" name="Shape 75"/>
          <p:cNvSpPr/>
          <p:nvPr/>
        </p:nvSpPr>
        <p:spPr>
          <a:xfrm>
            <a:off x="6522839" y="5224611"/>
            <a:ext cx="904280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8" name="Shape 76"/>
          <p:cNvSpPr/>
          <p:nvPr/>
        </p:nvSpPr>
        <p:spPr>
          <a:xfrm>
            <a:off x="7417594" y="5224611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9" name="Shape 77"/>
          <p:cNvSpPr/>
          <p:nvPr/>
        </p:nvSpPr>
        <p:spPr>
          <a:xfrm>
            <a:off x="6522839" y="5582989"/>
            <a:ext cx="904280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0" name="Shape 78"/>
          <p:cNvSpPr/>
          <p:nvPr/>
        </p:nvSpPr>
        <p:spPr>
          <a:xfrm>
            <a:off x="6522839" y="5224611"/>
            <a:ext cx="9525" cy="367903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1" name="Shape 79"/>
          <p:cNvSpPr/>
          <p:nvPr/>
        </p:nvSpPr>
        <p:spPr>
          <a:xfrm>
            <a:off x="4463802" y="5849838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2" name="Shape 80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83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84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85" name="Text 81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86" name="Text 82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11</a:t>
            </a:r>
            <a:endParaRPr lang="en-US" sz="1300" dirty="0"/>
          </a:p>
        </p:txBody>
      </p:sp>
      <p:sp>
        <p:nvSpPr>
          <p:cNvPr id="87" name="Text 83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ANEXO</a:t>
            </a:r>
            <a:endParaRPr lang="en-US" sz="660" dirty="0"/>
          </a:p>
        </p:txBody>
      </p:sp>
      <p:sp>
        <p:nvSpPr>
          <p:cNvPr id="88" name="Text 84"/>
          <p:cNvSpPr txBox="1"/>
          <p:nvPr/>
        </p:nvSpPr>
        <p:spPr>
          <a:xfrm>
            <a:off x="719882" y="1617464"/>
            <a:ext cx="2700218" cy="781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Base de alinhamento</a:t>
            </a:r>
            <a:endParaRPr lang="en-US" sz="2700" dirty="0"/>
          </a:p>
        </p:txBody>
      </p:sp>
      <p:sp>
        <p:nvSpPr>
          <p:cNvPr id="89" name="Text 85"/>
          <p:cNvSpPr txBox="1"/>
          <p:nvPr/>
        </p:nvSpPr>
        <p:spPr>
          <a:xfrm>
            <a:off x="719882" y="2615059"/>
            <a:ext cx="270021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Os elementos ao lado orientaram a construção desta proposta e foram extraídos das comunicações oficiais da própria Victorinox.</a:t>
            </a:r>
            <a:endParaRPr lang="en-US" sz="1060" dirty="0"/>
          </a:p>
        </p:txBody>
      </p:sp>
      <p:sp>
        <p:nvSpPr>
          <p:cNvPr id="90" name="Text 86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“Coerência com o que a marca já diz de si mesma.”</a:t>
            </a:r>
            <a:endParaRPr lang="en-US" sz="1500" dirty="0"/>
          </a:p>
        </p:txBody>
      </p:sp>
      <p:sp>
        <p:nvSpPr>
          <p:cNvPr id="91" name="Text 87"/>
          <p:cNvSpPr txBox="1"/>
          <p:nvPr/>
        </p:nvSpPr>
        <p:spPr>
          <a:xfrm>
            <a:off x="4463802" y="1341239"/>
            <a:ext cx="5553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CATEGORIAS DE PRODUTO</a:t>
            </a:r>
            <a:endParaRPr lang="en-US" sz="660" dirty="0"/>
          </a:p>
        </p:txBody>
      </p:sp>
      <p:sp>
        <p:nvSpPr>
          <p:cNvPr id="92" name="Text 88"/>
          <p:cNvSpPr txBox="1"/>
          <p:nvPr/>
        </p:nvSpPr>
        <p:spPr>
          <a:xfrm>
            <a:off x="4679802" y="1711064"/>
            <a:ext cx="1381202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Swiss Army Knife™ &amp; Tools</a:t>
            </a:r>
            <a:endParaRPr lang="en-US" sz="880" dirty="0"/>
          </a:p>
        </p:txBody>
      </p:sp>
      <p:sp>
        <p:nvSpPr>
          <p:cNvPr id="93" name="Text 89"/>
          <p:cNvSpPr txBox="1"/>
          <p:nvPr/>
        </p:nvSpPr>
        <p:spPr>
          <a:xfrm>
            <a:off x="6555185" y="1711064"/>
            <a:ext cx="504604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Cutelaria</a:t>
            </a:r>
            <a:endParaRPr lang="en-US" sz="880" dirty="0"/>
          </a:p>
        </p:txBody>
      </p:sp>
      <p:sp>
        <p:nvSpPr>
          <p:cNvPr id="94" name="Text 90"/>
          <p:cNvSpPr txBox="1"/>
          <p:nvPr/>
        </p:nvSpPr>
        <p:spPr>
          <a:xfrm>
            <a:off x="7553971" y="1711064"/>
            <a:ext cx="487787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Relógios</a:t>
            </a:r>
            <a:endParaRPr lang="en-US" sz="880" dirty="0"/>
          </a:p>
        </p:txBody>
      </p:sp>
      <p:sp>
        <p:nvSpPr>
          <p:cNvPr id="95" name="Text 91"/>
          <p:cNvSpPr txBox="1"/>
          <p:nvPr/>
        </p:nvSpPr>
        <p:spPr>
          <a:xfrm>
            <a:off x="8535939" y="1711064"/>
            <a:ext cx="986510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Malas e acessórios</a:t>
            </a:r>
            <a:endParaRPr lang="en-US" sz="880" dirty="0"/>
          </a:p>
        </p:txBody>
      </p:sp>
      <p:sp>
        <p:nvSpPr>
          <p:cNvPr id="96" name="Text 92"/>
          <p:cNvSpPr txBox="1"/>
          <p:nvPr/>
        </p:nvSpPr>
        <p:spPr>
          <a:xfrm>
            <a:off x="4679802" y="2186868"/>
            <a:ext cx="630513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Fragrâncias</a:t>
            </a:r>
            <a:endParaRPr lang="en-US" sz="880" dirty="0"/>
          </a:p>
        </p:txBody>
      </p:sp>
      <p:sp>
        <p:nvSpPr>
          <p:cNvPr id="97" name="Text 93"/>
          <p:cNvSpPr txBox="1"/>
          <p:nvPr/>
        </p:nvSpPr>
        <p:spPr>
          <a:xfrm>
            <a:off x="4463802" y="2749153"/>
            <a:ext cx="5553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ATRIBUTOS DE MARCA</a:t>
            </a:r>
            <a:endParaRPr lang="en-US" sz="660" dirty="0"/>
          </a:p>
        </p:txBody>
      </p:sp>
      <p:sp>
        <p:nvSpPr>
          <p:cNvPr id="98" name="Text 94"/>
          <p:cNvSpPr txBox="1"/>
          <p:nvPr/>
        </p:nvSpPr>
        <p:spPr>
          <a:xfrm>
            <a:off x="4679802" y="3118978"/>
            <a:ext cx="957042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Melhor preparado</a:t>
            </a:r>
            <a:endParaRPr lang="en-US" sz="880" dirty="0"/>
          </a:p>
        </p:txBody>
      </p:sp>
      <p:sp>
        <p:nvSpPr>
          <p:cNvPr id="99" name="Text 95"/>
          <p:cNvSpPr txBox="1"/>
          <p:nvPr/>
        </p:nvSpPr>
        <p:spPr>
          <a:xfrm>
            <a:off x="6131025" y="3118978"/>
            <a:ext cx="578274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Inteligente</a:t>
            </a:r>
            <a:endParaRPr lang="en-US" sz="880" dirty="0"/>
          </a:p>
        </p:txBody>
      </p:sp>
      <p:sp>
        <p:nvSpPr>
          <p:cNvPr id="100" name="Text 96"/>
          <p:cNvSpPr txBox="1"/>
          <p:nvPr/>
        </p:nvSpPr>
        <p:spPr>
          <a:xfrm>
            <a:off x="7203481" y="3118978"/>
            <a:ext cx="511004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Magistral</a:t>
            </a:r>
            <a:endParaRPr lang="en-US" sz="880" dirty="0"/>
          </a:p>
        </p:txBody>
      </p:sp>
      <p:sp>
        <p:nvSpPr>
          <p:cNvPr id="101" name="Text 97"/>
          <p:cNvSpPr txBox="1"/>
          <p:nvPr/>
        </p:nvSpPr>
        <p:spPr>
          <a:xfrm>
            <a:off x="4463802" y="3681264"/>
            <a:ext cx="5553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ABORDAGEM DE DESIGN</a:t>
            </a:r>
            <a:endParaRPr lang="en-US" sz="660" dirty="0"/>
          </a:p>
        </p:txBody>
      </p:sp>
      <p:sp>
        <p:nvSpPr>
          <p:cNvPr id="102" name="Text 98"/>
          <p:cNvSpPr txBox="1"/>
          <p:nvPr/>
        </p:nvSpPr>
        <p:spPr>
          <a:xfrm>
            <a:off x="4463802" y="3939480"/>
            <a:ext cx="5553998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Funcionalidade, qualidade, precisão e soluções em que a forma acompanha a função.</a:t>
            </a:r>
            <a:endParaRPr lang="en-US" sz="1060" dirty="0"/>
          </a:p>
        </p:txBody>
      </p:sp>
      <p:sp>
        <p:nvSpPr>
          <p:cNvPr id="103" name="Text 99"/>
          <p:cNvSpPr txBox="1"/>
          <p:nvPr/>
        </p:nvSpPr>
        <p:spPr>
          <a:xfrm>
            <a:off x="4463802" y="4472583"/>
            <a:ext cx="5553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VALORES CULTURAIS</a:t>
            </a:r>
            <a:endParaRPr lang="en-US" sz="660" dirty="0"/>
          </a:p>
        </p:txBody>
      </p:sp>
      <p:sp>
        <p:nvSpPr>
          <p:cNvPr id="104" name="Text 100"/>
          <p:cNvSpPr txBox="1"/>
          <p:nvPr/>
        </p:nvSpPr>
        <p:spPr>
          <a:xfrm>
            <a:off x="4679802" y="4842408"/>
            <a:ext cx="485406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Respeito</a:t>
            </a:r>
            <a:endParaRPr lang="en-US" sz="880" dirty="0"/>
          </a:p>
        </p:txBody>
      </p:sp>
      <p:sp>
        <p:nvSpPr>
          <p:cNvPr id="105" name="Text 101"/>
          <p:cNvSpPr txBox="1"/>
          <p:nvPr/>
        </p:nvSpPr>
        <p:spPr>
          <a:xfrm>
            <a:off x="5659389" y="4842408"/>
            <a:ext cx="933081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Responsabilidade</a:t>
            </a:r>
            <a:endParaRPr lang="en-US" sz="880" dirty="0"/>
          </a:p>
        </p:txBody>
      </p:sp>
      <p:sp>
        <p:nvSpPr>
          <p:cNvPr id="106" name="Text 102"/>
          <p:cNvSpPr txBox="1"/>
          <p:nvPr/>
        </p:nvSpPr>
        <p:spPr>
          <a:xfrm>
            <a:off x="7086651" y="4842408"/>
            <a:ext cx="495675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Gratidão</a:t>
            </a:r>
            <a:endParaRPr lang="en-US" sz="880" dirty="0"/>
          </a:p>
        </p:txBody>
      </p:sp>
      <p:sp>
        <p:nvSpPr>
          <p:cNvPr id="107" name="Text 103"/>
          <p:cNvSpPr txBox="1"/>
          <p:nvPr/>
        </p:nvSpPr>
        <p:spPr>
          <a:xfrm>
            <a:off x="8076507" y="4842408"/>
            <a:ext cx="1012108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Mentalidade aberta</a:t>
            </a:r>
            <a:endParaRPr lang="en-US" sz="880" dirty="0"/>
          </a:p>
        </p:txBody>
      </p:sp>
      <p:sp>
        <p:nvSpPr>
          <p:cNvPr id="108" name="Text 104"/>
          <p:cNvSpPr txBox="1"/>
          <p:nvPr/>
        </p:nvSpPr>
        <p:spPr>
          <a:xfrm>
            <a:off x="4679802" y="5318211"/>
            <a:ext cx="509516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Modéstia</a:t>
            </a:r>
            <a:endParaRPr lang="en-US" sz="880" dirty="0"/>
          </a:p>
        </p:txBody>
      </p:sp>
      <p:sp>
        <p:nvSpPr>
          <p:cNvPr id="109" name="Text 105"/>
          <p:cNvSpPr txBox="1"/>
          <p:nvPr/>
        </p:nvSpPr>
        <p:spPr>
          <a:xfrm>
            <a:off x="5683499" y="5318211"/>
            <a:ext cx="561159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Confiança</a:t>
            </a:r>
            <a:endParaRPr lang="en-US" sz="880" dirty="0"/>
          </a:p>
        </p:txBody>
      </p:sp>
      <p:sp>
        <p:nvSpPr>
          <p:cNvPr id="110" name="Text 106"/>
          <p:cNvSpPr txBox="1"/>
          <p:nvPr/>
        </p:nvSpPr>
        <p:spPr>
          <a:xfrm>
            <a:off x="6738839" y="5318211"/>
            <a:ext cx="517999" cy="274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spc="18" kern="0" dirty="0">
                <a:solidFill>
                  <a:srgbClr val="2E3A4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Coragem</a:t>
            </a:r>
            <a:endParaRPr lang="en-US" sz="880" dirty="0"/>
          </a:p>
        </p:txBody>
      </p:sp>
      <p:sp>
        <p:nvSpPr>
          <p:cNvPr id="111" name="Text 107"/>
          <p:cNvSpPr txBox="1"/>
          <p:nvPr/>
        </p:nvSpPr>
        <p:spPr>
          <a:xfrm>
            <a:off x="4463802" y="6111329"/>
            <a:ext cx="5553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49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FONTES OFICIAIS CONSULTADAS EM AGOSTO DE 2026</a:t>
            </a:r>
            <a:endParaRPr lang="en-US" sz="620" dirty="0"/>
          </a:p>
        </p:txBody>
      </p:sp>
      <p:sp>
        <p:nvSpPr>
          <p:cNvPr id="112" name="Text 108"/>
          <p:cNvSpPr txBox="1"/>
          <p:nvPr/>
        </p:nvSpPr>
        <p:spPr>
          <a:xfrm>
            <a:off x="4463802" y="6333530"/>
            <a:ext cx="5553998" cy="37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2"/>
              </a:lnSpc>
              <a:buNone/>
            </a:pPr>
            <a:r>
              <a:rPr lang="en-US" sz="84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Victorinox — Nossos princípios; Nossos valores e cultura; Nossa abordagem de design; Produtos; Qualidade e materiais; Tudo sobre a Victorinox.</a:t>
            </a:r>
            <a:endParaRPr lang="en-US" sz="840" dirty="0"/>
          </a:p>
        </p:txBody>
      </p:sp>
      <p:sp>
        <p:nvSpPr>
          <p:cNvPr id="113" name="Text 109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1961" cy="75598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19882" y="1007715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4" name="Shape 2"/>
          <p:cNvSpPr/>
          <p:nvPr/>
        </p:nvSpPr>
        <p:spPr>
          <a:xfrm>
            <a:off x="3878312" y="1341239"/>
            <a:ext cx="9525" cy="5363468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5" name="Shape 3"/>
          <p:cNvSpPr/>
          <p:nvPr/>
        </p:nvSpPr>
        <p:spPr>
          <a:xfrm>
            <a:off x="719882" y="5917555"/>
            <a:ext cx="2654498" cy="9525"/>
          </a:xfrm>
          <a:prstGeom prst="rect">
            <a:avLst/>
          </a:prstGeom>
          <a:solidFill>
            <a:srgbClr val="C1121C"/>
          </a:solidFill>
          <a:ln/>
        </p:spPr>
      </p:sp>
      <p:sp>
        <p:nvSpPr>
          <p:cNvPr id="6" name="Shape 4"/>
          <p:cNvSpPr/>
          <p:nvPr/>
        </p:nvSpPr>
        <p:spPr>
          <a:xfrm>
            <a:off x="4463802" y="1341239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4463802" y="2025848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8" name="Shape 6"/>
          <p:cNvSpPr/>
          <p:nvPr/>
        </p:nvSpPr>
        <p:spPr>
          <a:xfrm>
            <a:off x="4463802" y="2710458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9" name="Shape 7"/>
          <p:cNvSpPr/>
          <p:nvPr/>
        </p:nvSpPr>
        <p:spPr>
          <a:xfrm>
            <a:off x="4463802" y="3395067"/>
            <a:ext cx="5508278" cy="9525"/>
          </a:xfrm>
          <a:prstGeom prst="rect">
            <a:avLst/>
          </a:prstGeom>
          <a:solidFill>
            <a:srgbClr val="E2D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463802" y="5010001"/>
            <a:ext cx="5508278" cy="1694706"/>
          </a:xfrm>
          <a:prstGeom prst="roundRect">
            <a:avLst>
              <a:gd name="adj" fmla="val 6373"/>
            </a:avLst>
          </a:prstGeom>
          <a:solidFill>
            <a:srgbClr val="16283C"/>
          </a:solidFill>
          <a:ln/>
        </p:spPr>
      </p:sp>
      <p:sp>
        <p:nvSpPr>
          <p:cNvPr id="11" name="Shape 9"/>
          <p:cNvSpPr/>
          <p:nvPr/>
        </p:nvSpPr>
        <p:spPr>
          <a:xfrm>
            <a:off x="719882" y="6704707"/>
            <a:ext cx="9252198" cy="9525"/>
          </a:xfrm>
          <a:prstGeom prst="rect">
            <a:avLst/>
          </a:prstGeom>
          <a:solidFill>
            <a:srgbClr val="E2DFD9"/>
          </a:solidFill>
          <a:ln/>
        </p:spPr>
      </p:sp>
      <p:pic>
        <p:nvPicPr>
          <p:cNvPr id="12" name="Image 0" descr="/home/user/SkillsClaude/apresentacao-victorinox/build/logos/logo-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82" y="467916"/>
            <a:ext cx="1478905" cy="413891"/>
          </a:xfrm>
          <a:prstGeom prst="rect">
            <a:avLst/>
          </a:prstGeom>
        </p:spPr>
      </p:pic>
      <p:pic>
        <p:nvPicPr>
          <p:cNvPr id="13" name="Image 1" descr="/home/user/SkillsClaude/apresentacao-victorinox/build/logos/logo-v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374" y="6840141"/>
            <a:ext cx="551706" cy="3598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19405" y="748457"/>
            <a:ext cx="196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640" spc="166" kern="0" dirty="0">
                <a:solidFill>
                  <a:srgbClr val="8C959D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POUSADA CAMBURI × VICTORINOX</a:t>
            </a:r>
            <a:endParaRPr lang="en-US" sz="640" dirty="0"/>
          </a:p>
        </p:txBody>
      </p:sp>
      <p:sp>
        <p:nvSpPr>
          <p:cNvPr id="15" name="Text 11"/>
          <p:cNvSpPr txBox="1"/>
          <p:nvPr/>
        </p:nvSpPr>
        <p:spPr>
          <a:xfrm>
            <a:off x="9794677" y="672257"/>
            <a:ext cx="223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spc="52" kern="0" dirty="0">
                <a:solidFill>
                  <a:srgbClr val="C1121C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12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9882" y="1341239"/>
            <a:ext cx="27002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172" kern="0" dirty="0">
                <a:solidFill>
                  <a:srgbClr val="C1121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PRÓXIMO PASSO</a:t>
            </a:r>
            <a:endParaRPr lang="en-US" sz="660" dirty="0"/>
          </a:p>
        </p:txBody>
      </p:sp>
      <p:sp>
        <p:nvSpPr>
          <p:cNvPr id="17" name="Text 13"/>
          <p:cNvSpPr txBox="1"/>
          <p:nvPr/>
        </p:nvSpPr>
        <p:spPr>
          <a:xfrm>
            <a:off x="719882" y="1617464"/>
            <a:ext cx="2700218" cy="117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spc="-11" kern="0" dirty="0">
                <a:solidFill>
                  <a:srgbClr val="16222E"/>
                </a:solidFill>
                <a:latin typeface="EB Garamond Medium" pitchFamily="34" charset="0"/>
                <a:ea typeface="EB Garamond Medium" pitchFamily="34" charset="-122"/>
                <a:cs typeface="EB Garamond Medium" pitchFamily="34" charset="-120"/>
              </a:rPr>
              <a:t>Uma base para começarmos a conversa</a:t>
            </a:r>
            <a:endParaRPr lang="en-US" sz="2700" dirty="0"/>
          </a:p>
        </p:txBody>
      </p:sp>
      <p:sp>
        <p:nvSpPr>
          <p:cNvPr id="18" name="Text 14"/>
          <p:cNvSpPr txBox="1"/>
          <p:nvPr/>
        </p:nvSpPr>
        <p:spPr>
          <a:xfrm>
            <a:off x="719882" y="3005882"/>
            <a:ext cx="2700218" cy="73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06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Esta apresentação é uma base institucional para iniciarmos o diálogo e construirmos, em conjunto, o formato definitivo do encontro.</a:t>
            </a:r>
            <a:endParaRPr lang="en-US" sz="1060" dirty="0"/>
          </a:p>
        </p:txBody>
      </p:sp>
      <p:sp>
        <p:nvSpPr>
          <p:cNvPr id="19" name="Text 15"/>
          <p:cNvSpPr txBox="1"/>
          <p:nvPr/>
        </p:nvSpPr>
        <p:spPr>
          <a:xfrm>
            <a:off x="719882" y="6179046"/>
            <a:ext cx="270021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500" i="1" spc="3" kern="0" dirty="0">
                <a:solidFill>
                  <a:srgbClr val="16222E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“Uma base para desenharmos o encontro juntos.”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4463802" y="1559719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4895701" y="1458664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Segunda etapa.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Programação, ativações, presença da equipe Victorinox, materiais de demonstração e comunicação.</a:t>
            </a:r>
            <a:endParaRPr lang="en-US" sz="1040" dirty="0"/>
          </a:p>
        </p:txBody>
      </p:sp>
      <p:sp>
        <p:nvSpPr>
          <p:cNvPr id="22" name="Text 18"/>
          <p:cNvSpPr txBox="1"/>
          <p:nvPr/>
        </p:nvSpPr>
        <p:spPr>
          <a:xfrm>
            <a:off x="4463802" y="2244328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4895701" y="2143274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Convidados.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Definição da lista, de eventuais convidados institucionais e das contrapartidas envolvidas.</a:t>
            </a:r>
            <a:endParaRPr lang="en-US" sz="1040" dirty="0"/>
          </a:p>
        </p:txBody>
      </p:sp>
      <p:sp>
        <p:nvSpPr>
          <p:cNvPr id="24" name="Text 20"/>
          <p:cNvSpPr txBox="1"/>
          <p:nvPr/>
        </p:nvSpPr>
        <p:spPr>
          <a:xfrm>
            <a:off x="4463802" y="2928938"/>
            <a:ext cx="477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1121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4895701" y="2827883"/>
            <a:ext cx="5122099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16222E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Condições comerciais.</a:t>
            </a:r>
            <a:pPr algn="l" indent="0" marL="0">
              <a:lnSpc>
                <a:spcPts val="1810"/>
              </a:lnSpc>
              <a:buNone/>
            </a:pPr>
            <a:r>
              <a:rPr lang="en-US" sz="1040" dirty="0">
                <a:solidFill>
                  <a:srgbClr val="5A667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Valores de hospedagem e demais condições serão apresentados separadamente.</a:t>
            </a:r>
            <a:endParaRPr lang="en-US" sz="1040" dirty="0"/>
          </a:p>
        </p:txBody>
      </p:sp>
      <p:sp>
        <p:nvSpPr>
          <p:cNvPr id="26" name="Text 22"/>
          <p:cNvSpPr txBox="1"/>
          <p:nvPr/>
        </p:nvSpPr>
        <p:spPr>
          <a:xfrm>
            <a:off x="4859685" y="5369868"/>
            <a:ext cx="27148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44"/>
              </a:lnSpc>
              <a:buNone/>
            </a:pPr>
            <a:r>
              <a:rPr lang="en-US" sz="620" spc="161" kern="0" dirty="0">
                <a:solidFill>
                  <a:srgbClr val="8FB2C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CONTATO</a:t>
            </a:r>
            <a:endParaRPr lang="en-US" sz="620" dirty="0"/>
          </a:p>
        </p:txBody>
      </p:sp>
      <p:sp>
        <p:nvSpPr>
          <p:cNvPr id="27" name="Text 23"/>
          <p:cNvSpPr txBox="1"/>
          <p:nvPr/>
        </p:nvSpPr>
        <p:spPr>
          <a:xfrm>
            <a:off x="4859685" y="5592068"/>
            <a:ext cx="2714804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sz="2200" spc="9" kern="0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Rodrigo Roberto Sulina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4859685" y="5982295"/>
            <a:ext cx="2714804" cy="362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8"/>
              </a:lnSpc>
              <a:buNone/>
            </a:pPr>
            <a:r>
              <a:rPr lang="en-US" sz="840" spc="50" kern="0" dirty="0">
                <a:solidFill>
                  <a:srgbClr val="B9CBD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Gestão de Reservas e Comercial</a:t>
            </a:r>
            <a:endParaRPr lang="en-US" sz="840" dirty="0"/>
          </a:p>
          <a:p>
            <a:pPr algn="l" indent="0" marL="0">
              <a:lnSpc>
                <a:spcPts val="1428"/>
              </a:lnSpc>
              <a:buNone/>
            </a:pPr>
            <a:r>
              <a:rPr lang="en-US" sz="840" spc="50" kern="0" dirty="0">
                <a:solidFill>
                  <a:srgbClr val="B9CBD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Pousada Camburi</a:t>
            </a:r>
            <a:endParaRPr lang="en-US" sz="840" dirty="0"/>
          </a:p>
        </p:txBody>
      </p:sp>
      <p:sp>
        <p:nvSpPr>
          <p:cNvPr id="29" name="Text 25"/>
          <p:cNvSpPr txBox="1"/>
          <p:nvPr/>
        </p:nvSpPr>
        <p:spPr>
          <a:xfrm>
            <a:off x="7842915" y="5410200"/>
            <a:ext cx="1733282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60"/>
              </a:lnSpc>
              <a:buNone/>
            </a:pPr>
            <a:r>
              <a:rPr lang="en-US" sz="640" spc="128" kern="0" dirty="0">
                <a:solidFill>
                  <a:srgbClr val="8FB2C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TEL.</a:t>
            </a:r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(12) 99795-2066</a:t>
            </a:r>
            <a:endParaRPr lang="en-US" sz="64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640" spc="128" kern="0" dirty="0">
                <a:solidFill>
                  <a:srgbClr val="8FB2CC"/>
                </a:solidFill>
                <a:latin typeface="Jost Medium" pitchFamily="34" charset="0"/>
                <a:ea typeface="Jost Medium" pitchFamily="34" charset="-122"/>
                <a:cs typeface="Jost Medium" pitchFamily="34" charset="-120"/>
              </a:rPr>
              <a:t>TEL.</a:t>
            </a:r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(12) 99769-8399</a:t>
            </a:r>
            <a:endParaRPr lang="en-US" sz="64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camburi@pousadacamburi.com.br</a:t>
            </a:r>
            <a:endParaRPr lang="en-US" sz="640" dirty="0"/>
          </a:p>
          <a:p>
            <a:pPr algn="r" indent="0" marL="0">
              <a:lnSpc>
                <a:spcPts val="1760"/>
              </a:lnSpc>
              <a:buNone/>
            </a:pPr>
            <a:r>
              <a:rPr lang="en-US" sz="880" spc="18" kern="0" dirty="0">
                <a:solidFill>
                  <a:srgbClr val="E6EDF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 rrsulina@pousadacamburi.com.br </a:t>
            </a:r>
            <a:endParaRPr lang="en-US" sz="640" dirty="0"/>
          </a:p>
        </p:txBody>
      </p:sp>
      <p:sp>
        <p:nvSpPr>
          <p:cNvPr id="30" name="Text 26"/>
          <p:cNvSpPr txBox="1"/>
          <p:nvPr/>
        </p:nvSpPr>
        <p:spPr>
          <a:xfrm>
            <a:off x="719882" y="6962924"/>
            <a:ext cx="3941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"/>
              </a:lnSpc>
              <a:buNone/>
            </a:pPr>
            <a:r>
              <a:rPr lang="en-US" sz="660" spc="92" kern="0" dirty="0">
                <a:solidFill>
                  <a:srgbClr val="8C959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PROJETO VICTORINOX · EXPERIÊNCIA CAMBURI | 04–06 DE DEZEMBRO DE 2026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Victorinox — Experiência Camburi</dc:title>
  <dc:subject>PptxGenJS Presentation</dc:subject>
  <dc:creator>Pousada Camburi</dc:creator>
  <cp:lastModifiedBy>Pousada Camburi</cp:lastModifiedBy>
  <cp:revision>1</cp:revision>
  <dcterms:created xsi:type="dcterms:W3CDTF">2026-08-27T12:50:30Z</dcterms:created>
  <dcterms:modified xsi:type="dcterms:W3CDTF">2026-08-27T12:50:30Z</dcterms:modified>
</cp:coreProperties>
</file>