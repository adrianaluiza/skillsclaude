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0691961" cy="7559873"/>
  <p:notesSz cx="7559873" cy="10691961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15950" cy="7559873"/>
          </a:xfrm>
          <a:prstGeom prst="rect">
            <a:avLst/>
          </a:prstGeom>
          <a:solidFill>
            <a:srgbClr val="1628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15950" cy="272147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151930" y="5857577"/>
            <a:ext cx="287982" cy="1771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6808291" y="1901577"/>
            <a:ext cx="9525" cy="4041130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393781" y="1901577"/>
            <a:ext cx="2506266" cy="1975545"/>
          </a:xfrm>
          <a:prstGeom prst="roundRect">
            <a:avLst>
              <a:gd name="adj" fmla="val 3645"/>
            </a:avLst>
          </a:prstGeom>
          <a:solidFill>
            <a:srgbClr val="FAF8F5"/>
          </a:solidFill>
          <a:ln/>
        </p:spPr>
      </p:sp>
      <p:sp>
        <p:nvSpPr>
          <p:cNvPr id="8" name="Shape 6"/>
          <p:cNvSpPr/>
          <p:nvPr/>
        </p:nvSpPr>
        <p:spPr>
          <a:xfrm>
            <a:off x="7393781" y="1901577"/>
            <a:ext cx="19050" cy="197554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9" name="Shape 7"/>
          <p:cNvSpPr/>
          <p:nvPr/>
        </p:nvSpPr>
        <p:spPr>
          <a:xfrm>
            <a:off x="1151930" y="6115348"/>
            <a:ext cx="8748117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0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930" y="611981"/>
            <a:ext cx="2807940" cy="785664"/>
          </a:xfrm>
          <a:prstGeom prst="rect">
            <a:avLst/>
          </a:prstGeom>
        </p:spPr>
      </p:pic>
      <p:pic>
        <p:nvPicPr>
          <p:cNvPr id="11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930" y="6340822"/>
            <a:ext cx="1151930" cy="7511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51930" y="1901577"/>
            <a:ext cx="50540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700" spc="224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 BRASIL</a:t>
            </a:r>
            <a:endParaRPr lang="en-US" sz="700" dirty="0"/>
          </a:p>
        </p:txBody>
      </p:sp>
      <p:sp>
        <p:nvSpPr>
          <p:cNvPr id="13" name="Text 9"/>
          <p:cNvSpPr txBox="1"/>
          <p:nvPr/>
        </p:nvSpPr>
        <p:spPr>
          <a:xfrm>
            <a:off x="1151930" y="2165152"/>
            <a:ext cx="18815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4500" spc="-22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Carta de</a:t>
            </a:r>
            <a:endParaRPr lang="en-US" sz="4500" dirty="0"/>
          </a:p>
        </p:txBody>
      </p:sp>
      <p:sp>
        <p:nvSpPr>
          <p:cNvPr id="14" name="Text 10"/>
          <p:cNvSpPr txBox="1"/>
          <p:nvPr/>
        </p:nvSpPr>
        <p:spPr>
          <a:xfrm>
            <a:off x="1151930" y="2835622"/>
            <a:ext cx="5054084" cy="59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4500" i="1" spc="-22" kern="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apresentação</a:t>
            </a:r>
            <a:endParaRPr lang="en-US" sz="4500" dirty="0"/>
          </a:p>
        </p:txBody>
      </p:sp>
      <p:sp>
        <p:nvSpPr>
          <p:cNvPr id="15" name="Text 11"/>
          <p:cNvSpPr txBox="1"/>
          <p:nvPr/>
        </p:nvSpPr>
        <p:spPr>
          <a:xfrm>
            <a:off x="1151930" y="3681859"/>
            <a:ext cx="4545687" cy="522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Uma história de hospitalidade, qualidade e experiências construída ao longo de mais de vinte anos.</a:t>
            </a:r>
            <a:endParaRPr lang="en-US" sz="1240" dirty="0"/>
          </a:p>
        </p:txBody>
      </p:sp>
      <p:sp>
        <p:nvSpPr>
          <p:cNvPr id="16" name="Text 12"/>
          <p:cNvSpPr txBox="1"/>
          <p:nvPr/>
        </p:nvSpPr>
        <p:spPr>
          <a:xfrm>
            <a:off x="1619845" y="5790307"/>
            <a:ext cx="42834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840" spc="118" kern="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DESDE 22 DE AGOSTO DE 2002 · CAMBURI, SÃO SEBASTIÃO — SP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700814" y="2153543"/>
            <a:ext cx="1956971" cy="1471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36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À Victorinox Brasil — apresentamos a Pousada Camburi, empresa brasileira dedicada há mais de vinte anos à arte de receber pessoas.</a:t>
            </a:r>
            <a:endParaRPr lang="en-US" sz="1360" dirty="0"/>
          </a:p>
        </p:txBody>
      </p:sp>
      <p:sp>
        <p:nvSpPr>
          <p:cNvPr id="18" name="Text 14"/>
          <p:cNvSpPr txBox="1"/>
          <p:nvPr/>
        </p:nvSpPr>
        <p:spPr>
          <a:xfrm>
            <a:off x="7393781" y="4201120"/>
            <a:ext cx="2551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HOSPITALIDADE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7393781" y="4442222"/>
            <a:ext cx="23208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Mais de duas décadas dedicadas a receber bem.</a:t>
            </a:r>
            <a:endParaRPr lang="en-US" sz="860" dirty="0"/>
          </a:p>
        </p:txBody>
      </p:sp>
      <p:sp>
        <p:nvSpPr>
          <p:cNvPr id="20" name="Text 16"/>
          <p:cNvSpPr txBox="1"/>
          <p:nvPr/>
        </p:nvSpPr>
        <p:spPr>
          <a:xfrm>
            <a:off x="7393781" y="4865638"/>
            <a:ext cx="2551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LONGEVIDADE</a:t>
            </a:r>
            <a:endParaRPr lang="en-US" sz="640" dirty="0"/>
          </a:p>
        </p:txBody>
      </p:sp>
      <p:sp>
        <p:nvSpPr>
          <p:cNvPr id="21" name="Text 17"/>
          <p:cNvSpPr txBox="1"/>
          <p:nvPr/>
        </p:nvSpPr>
        <p:spPr>
          <a:xfrm>
            <a:off x="7393781" y="5106739"/>
            <a:ext cx="23677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Operação contínua desde 2002, sem interrupção.</a:t>
            </a:r>
            <a:endParaRPr lang="en-US" sz="860" dirty="0"/>
          </a:p>
        </p:txBody>
      </p:sp>
      <p:sp>
        <p:nvSpPr>
          <p:cNvPr id="22" name="Text 18"/>
          <p:cNvSpPr txBox="1"/>
          <p:nvPr/>
        </p:nvSpPr>
        <p:spPr>
          <a:xfrm>
            <a:off x="7393781" y="5530155"/>
            <a:ext cx="2551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AFINIDADE</a:t>
            </a:r>
            <a:endParaRPr lang="en-US" sz="640" dirty="0"/>
          </a:p>
        </p:txBody>
      </p:sp>
      <p:sp>
        <p:nvSpPr>
          <p:cNvPr id="23" name="Text 19"/>
          <p:cNvSpPr txBox="1"/>
          <p:nvPr/>
        </p:nvSpPr>
        <p:spPr>
          <a:xfrm>
            <a:off x="7393781" y="5771257"/>
            <a:ext cx="24823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Valores que reconhecemos na história da Victorinox.</a:t>
            </a:r>
            <a:endParaRPr lang="en-US" sz="860" dirty="0"/>
          </a:p>
        </p:txBody>
      </p:sp>
      <p:sp>
        <p:nvSpPr>
          <p:cNvPr id="24" name="Text 20"/>
          <p:cNvSpPr txBox="1"/>
          <p:nvPr/>
        </p:nvSpPr>
        <p:spPr>
          <a:xfrm>
            <a:off x="7706737" y="6763941"/>
            <a:ext cx="2193310" cy="328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92"/>
              </a:lnSpc>
              <a:buNone/>
            </a:pPr>
            <a:r>
              <a:rPr lang="en-US" sz="680" spc="109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CARTA DE APRESENTAÇÃO INSTITUCIONAL</a:t>
            </a:r>
            <a:endParaRPr lang="en-US" sz="680" dirty="0"/>
          </a:p>
          <a:p>
            <a:pPr algn="r" indent="0" marL="0">
              <a:lnSpc>
                <a:spcPts val="1292"/>
              </a:lnSpc>
              <a:buNone/>
            </a:pPr>
            <a:r>
              <a:rPr lang="en-US" sz="680" spc="109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AGOSTO DE 2026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080248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 ORIGEM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1172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Mais de vinte anos dedicados à arte de receber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“Receber cada hóspede como alguém que estamos verdadeiramente felizes em receber.”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Nossa história começou em 22 de agosto de 2002. Desde então, construímos nossa trajetória sobre um princípio muito simples.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304157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Ao longo desses mais de vinte anos, a Pousada Camburi deixou de ser apenas um empreendimento de hospedagem e passou a construir algo que consideramos ainda mais valioso: relacionamentos duradouros com nossos hóspedes.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3237458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Temos clientes que retornam há muitos anos, famílias que cresceram conosco e pessoas que fizeram da pousada parte de suas histórias e de seus momentos especiais. Esse relacionamento é, para nós, uma das maiores conquistas da nossa empresa.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FUNDAÇÃO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22 de agosto de 2002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6135886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 início de uma operação que nunca foi interrompida.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44381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TRAJETÓRIA</a:t>
            </a:r>
            <a:endParaRPr lang="en-US" sz="64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Mais de duas décadas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44381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Construídas hóspede a hóspede, temporada após temporada.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42382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CONQUISTA</a:t>
            </a:r>
            <a:endParaRPr lang="en-US" sz="64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Relacionamentos duradouros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42382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Clientes que voltam há anos e famílias que cresceram conosco.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391894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315843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 LUGAR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 lugar para viver Camburi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5653385"/>
            <a:ext cx="2700218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“Não buscamos criar uma experiência artificial. Buscamos permitir que o hóspede viva Camburi.”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265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 Pousada Camburi está em uma das regiões mais especiais do litoral paulista.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038648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Camburi reúne praia, Mata Atlântica, gastronomia, natureza, esportes, cultura e uma atmosfera que convida as pessoas a desacelerarem. A pousada fica a poucos minutos a pé da praia, em meio à vegetação exuberante característica da região.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971949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Nossa proposta sempre foi oferecer uma hospedagem que respeitasse esse ambiente. Por isso a pousada tem identidade própria, com arquitetura e decoração de inspiração rústica, integradas ao entorno e à natureza.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LOCALIZAÇÃO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A pé da praia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6135886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Poucos minutos de caminhada até a Praia de Camburi.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443811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ENTORNO</a:t>
            </a:r>
            <a:endParaRPr lang="en-US" sz="64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Mata Atlântica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44381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Vegetação exuberante, característica do litoral norte paulista.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423821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IDENTIDADE</a:t>
            </a:r>
            <a:endParaRPr lang="en-US" sz="64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Inspiração rústica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42382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Arquitetura e decoração integradas à paisagem, sem artifício.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1341239"/>
            <a:ext cx="1381125" cy="1157883"/>
          </a:xfrm>
          <a:prstGeom prst="roundRect">
            <a:avLst>
              <a:gd name="adj" fmla="val 7773"/>
            </a:avLst>
          </a:prstGeom>
          <a:solidFill>
            <a:srgbClr val="FAF8F5"/>
          </a:solidFill>
          <a:ln/>
        </p:spPr>
      </p:sp>
      <p:sp>
        <p:nvSpPr>
          <p:cNvPr id="7" name="Shape 5"/>
          <p:cNvSpPr/>
          <p:nvPr/>
        </p:nvSpPr>
        <p:spPr>
          <a:xfrm>
            <a:off x="6060877" y="1341239"/>
            <a:ext cx="941189" cy="1157883"/>
          </a:xfrm>
          <a:prstGeom prst="roundRect">
            <a:avLst>
              <a:gd name="adj" fmla="val 9562"/>
            </a:avLst>
          </a:prstGeom>
          <a:solidFill>
            <a:srgbClr val="FAF8F5"/>
          </a:solidFill>
          <a:ln/>
        </p:spPr>
      </p:sp>
      <p:sp>
        <p:nvSpPr>
          <p:cNvPr id="8" name="Shape 6"/>
          <p:cNvSpPr/>
          <p:nvPr/>
        </p:nvSpPr>
        <p:spPr>
          <a:xfrm>
            <a:off x="7218015" y="1341239"/>
            <a:ext cx="1596926" cy="1157883"/>
          </a:xfrm>
          <a:prstGeom prst="roundRect">
            <a:avLst>
              <a:gd name="adj" fmla="val 7773"/>
            </a:avLst>
          </a:prstGeom>
          <a:solidFill>
            <a:srgbClr val="FAF8F5"/>
          </a:solidFill>
          <a:ln/>
        </p:spPr>
      </p:sp>
      <p:sp>
        <p:nvSpPr>
          <p:cNvPr id="9" name="Shape 7"/>
          <p:cNvSpPr/>
          <p:nvPr/>
        </p:nvSpPr>
        <p:spPr>
          <a:xfrm>
            <a:off x="9030891" y="1341239"/>
            <a:ext cx="941189" cy="1157883"/>
          </a:xfrm>
          <a:prstGeom prst="roundRect">
            <a:avLst>
              <a:gd name="adj" fmla="val 9562"/>
            </a:avLst>
          </a:prstGeom>
          <a:solidFill>
            <a:srgbClr val="FAF8F5"/>
          </a:solidFill>
          <a:ln/>
        </p:spPr>
      </p:sp>
      <p:sp>
        <p:nvSpPr>
          <p:cNvPr id="10" name="Shape 8"/>
          <p:cNvSpPr/>
          <p:nvPr/>
        </p:nvSpPr>
        <p:spPr>
          <a:xfrm>
            <a:off x="4463802" y="6035427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1" name="Shape 9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2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13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5" name="Text 11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04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REPUTAÇÃO</a:t>
            </a:r>
            <a:endParaRPr lang="en-US" sz="660" dirty="0"/>
          </a:p>
        </p:txBody>
      </p:sp>
      <p:sp>
        <p:nvSpPr>
          <p:cNvPr id="17" name="Text 13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A experiência dos nossos hóspedes</a:t>
            </a:r>
            <a:endParaRPr lang="en-US" sz="2700" dirty="0"/>
          </a:p>
        </p:txBody>
      </p:sp>
      <p:sp>
        <p:nvSpPr>
          <p:cNvPr id="18" name="Text 14"/>
          <p:cNvSpPr txBox="1"/>
          <p:nvPr/>
        </p:nvSpPr>
        <p:spPr>
          <a:xfrm>
            <a:off x="719882" y="2615059"/>
            <a:ext cx="270021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melhor maneira de falar sobre a Pousada Camburi é ouvir quem passou por aqui.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“Os números são apenas uma parte da história. O que importa são os comentários.”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584859" y="1593205"/>
            <a:ext cx="1139011" cy="43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4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4,8</a:t>
            </a:r>
            <a:endParaRPr lang="en-US" sz="3400" dirty="0"/>
          </a:p>
        </p:txBody>
      </p:sp>
      <p:sp>
        <p:nvSpPr>
          <p:cNvPr id="21" name="Text 17"/>
          <p:cNvSpPr txBox="1"/>
          <p:nvPr/>
        </p:nvSpPr>
        <p:spPr>
          <a:xfrm>
            <a:off x="4584859" y="2132856"/>
            <a:ext cx="11390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4"/>
              </a:lnSpc>
              <a:buNone/>
            </a:pPr>
            <a:r>
              <a:rPr lang="en-US" sz="620" spc="99" kern="0" dirty="0">
                <a:solidFill>
                  <a:srgbClr val="5A6672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ESTRELAS NO GOOGLE</a:t>
            </a:r>
            <a:endParaRPr lang="en-US" sz="620" dirty="0"/>
          </a:p>
        </p:txBody>
      </p:sp>
      <p:sp>
        <p:nvSpPr>
          <p:cNvPr id="22" name="Text 18"/>
          <p:cNvSpPr txBox="1"/>
          <p:nvPr/>
        </p:nvSpPr>
        <p:spPr>
          <a:xfrm>
            <a:off x="6181933" y="1593205"/>
            <a:ext cx="699075" cy="43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4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292</a:t>
            </a:r>
            <a:endParaRPr lang="en-US" sz="3400" dirty="0"/>
          </a:p>
        </p:txBody>
      </p:sp>
      <p:sp>
        <p:nvSpPr>
          <p:cNvPr id="23" name="Text 19"/>
          <p:cNvSpPr txBox="1"/>
          <p:nvPr/>
        </p:nvSpPr>
        <p:spPr>
          <a:xfrm>
            <a:off x="6181933" y="2132856"/>
            <a:ext cx="6990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4"/>
              </a:lnSpc>
              <a:buNone/>
            </a:pPr>
            <a:r>
              <a:rPr lang="en-US" sz="620" spc="99" kern="0" dirty="0">
                <a:solidFill>
                  <a:srgbClr val="5A6672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AVALIAÇÕES</a:t>
            </a:r>
            <a:endParaRPr lang="en-US" sz="620" dirty="0"/>
          </a:p>
        </p:txBody>
      </p:sp>
      <p:sp>
        <p:nvSpPr>
          <p:cNvPr id="24" name="Text 20"/>
          <p:cNvSpPr txBox="1"/>
          <p:nvPr/>
        </p:nvSpPr>
        <p:spPr>
          <a:xfrm>
            <a:off x="7339072" y="1593205"/>
            <a:ext cx="1354812" cy="43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4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4,7</a:t>
            </a:r>
            <a:endParaRPr lang="en-US" sz="3400" dirty="0"/>
          </a:p>
        </p:txBody>
      </p:sp>
      <p:sp>
        <p:nvSpPr>
          <p:cNvPr id="25" name="Text 21"/>
          <p:cNvSpPr txBox="1"/>
          <p:nvPr/>
        </p:nvSpPr>
        <p:spPr>
          <a:xfrm>
            <a:off x="7339072" y="2132856"/>
            <a:ext cx="13548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4"/>
              </a:lnSpc>
              <a:buNone/>
            </a:pPr>
            <a:r>
              <a:rPr lang="en-US" sz="620" spc="99" kern="0" dirty="0">
                <a:solidFill>
                  <a:srgbClr val="5A6672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ESTRELAS NO TRIPADVISOR</a:t>
            </a:r>
            <a:endParaRPr lang="en-US" sz="620" dirty="0"/>
          </a:p>
        </p:txBody>
      </p:sp>
      <p:sp>
        <p:nvSpPr>
          <p:cNvPr id="26" name="Text 22"/>
          <p:cNvSpPr txBox="1"/>
          <p:nvPr/>
        </p:nvSpPr>
        <p:spPr>
          <a:xfrm>
            <a:off x="9151947" y="1593205"/>
            <a:ext cx="699075" cy="43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4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136</a:t>
            </a:r>
            <a:endParaRPr lang="en-US" sz="3400" dirty="0"/>
          </a:p>
        </p:txBody>
      </p:sp>
      <p:sp>
        <p:nvSpPr>
          <p:cNvPr id="27" name="Text 23"/>
          <p:cNvSpPr txBox="1"/>
          <p:nvPr/>
        </p:nvSpPr>
        <p:spPr>
          <a:xfrm>
            <a:off x="9151947" y="2132856"/>
            <a:ext cx="6990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4"/>
              </a:lnSpc>
              <a:buNone/>
            </a:pPr>
            <a:r>
              <a:rPr lang="en-US" sz="620" spc="99" kern="0" dirty="0">
                <a:solidFill>
                  <a:srgbClr val="5A6672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AVALIAÇÕES</a:t>
            </a:r>
            <a:endParaRPr lang="en-US" sz="620" dirty="0"/>
          </a:p>
        </p:txBody>
      </p:sp>
      <p:sp>
        <p:nvSpPr>
          <p:cNvPr id="28" name="Text 24"/>
          <p:cNvSpPr txBox="1"/>
          <p:nvPr/>
        </p:nvSpPr>
        <p:spPr>
          <a:xfrm>
            <a:off x="4463802" y="2787104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Hóspedes destacam a localização, a limpeza, o café da manhã, o serviço de praia, o conforto e, principalmente, o atendimento e a atenção da equipe.</a:t>
            </a:r>
            <a:endParaRPr lang="en-US" sz="1060" dirty="0"/>
          </a:p>
        </p:txBody>
      </p:sp>
      <p:sp>
        <p:nvSpPr>
          <p:cNvPr id="29" name="Text 25"/>
          <p:cNvSpPr txBox="1"/>
          <p:nvPr/>
        </p:nvSpPr>
        <p:spPr>
          <a:xfrm>
            <a:off x="4463802" y="3475286"/>
            <a:ext cx="5553998" cy="98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Uma avaliação recente no Tripadvisor descreve a experiência como uma agradável surpresa e ressalta a proximidade da praia, o ambiente cercado pela Mata Atlântica, o estilo rústico, o conforto dos quartos e a atenção dos proprietários — registrando que há clientes que frequentam a pousada há cerca de vinte anos.</a:t>
            </a:r>
            <a:endParaRPr lang="en-US" sz="1060" dirty="0"/>
          </a:p>
        </p:txBody>
      </p:sp>
      <p:sp>
        <p:nvSpPr>
          <p:cNvPr id="30" name="Text 26"/>
          <p:cNvSpPr txBox="1"/>
          <p:nvPr/>
        </p:nvSpPr>
        <p:spPr>
          <a:xfrm>
            <a:off x="4463802" y="4653707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Outra avaliação recente no Google observa que a experiência começa antes mesmo do check-in: a chegada, as malas, o veículo, as boas-vindas e a atenção permanente com o bem-estar dos hóspedes.</a:t>
            </a:r>
            <a:endParaRPr lang="en-US" sz="1060" dirty="0"/>
          </a:p>
        </p:txBody>
      </p:sp>
      <p:sp>
        <p:nvSpPr>
          <p:cNvPr id="31" name="Text 27"/>
          <p:cNvSpPr txBox="1"/>
          <p:nvPr/>
        </p:nvSpPr>
        <p:spPr>
          <a:xfrm>
            <a:off x="4463802" y="6296918"/>
            <a:ext cx="5553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49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FONTES CONSULTADAS EM AGOSTO DE 2026</a:t>
            </a:r>
            <a:endParaRPr lang="en-US" sz="620" dirty="0"/>
          </a:p>
        </p:txBody>
      </p:sp>
      <p:sp>
        <p:nvSpPr>
          <p:cNvPr id="32" name="Text 28"/>
          <p:cNvSpPr txBox="1"/>
          <p:nvPr/>
        </p:nvSpPr>
        <p:spPr>
          <a:xfrm>
            <a:off x="4463802" y="6519118"/>
            <a:ext cx="5553998" cy="185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2"/>
              </a:lnSpc>
              <a:buNone/>
            </a:pPr>
            <a:r>
              <a:rPr lang="en-US" sz="84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Avaliações públicas da Pousada Camburi no Google, no Tripadvisor e no Restaurant Guru.</a:t>
            </a:r>
            <a:endParaRPr lang="en-US" sz="840" dirty="0"/>
          </a:p>
        </p:txBody>
      </p:sp>
      <p:sp>
        <p:nvSpPr>
          <p:cNvPr id="33" name="Text 29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1341239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4463802" y="2412057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" name="Shape 6"/>
          <p:cNvSpPr/>
          <p:nvPr/>
        </p:nvSpPr>
        <p:spPr>
          <a:xfrm>
            <a:off x="4463802" y="3482876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9" name="Shape 7"/>
          <p:cNvSpPr/>
          <p:nvPr/>
        </p:nvSpPr>
        <p:spPr>
          <a:xfrm>
            <a:off x="4463802" y="4553694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0" name="Shape 8"/>
          <p:cNvSpPr/>
          <p:nvPr/>
        </p:nvSpPr>
        <p:spPr>
          <a:xfrm>
            <a:off x="4463802" y="5624513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1" name="Shape 9"/>
          <p:cNvSpPr/>
          <p:nvPr/>
        </p:nvSpPr>
        <p:spPr>
          <a:xfrm>
            <a:off x="4463802" y="6695331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3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14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6" name="Text 12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 PRÁTICA</a:t>
            </a:r>
            <a:endParaRPr lang="en-US" sz="660" dirty="0"/>
          </a:p>
        </p:txBody>
      </p:sp>
      <p:sp>
        <p:nvSpPr>
          <p:cNvPr id="18" name="Text 14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Qualidade está nos detalhes</a:t>
            </a:r>
            <a:endParaRPr lang="en-US" sz="2700" dirty="0"/>
          </a:p>
        </p:txBody>
      </p:sp>
      <p:sp>
        <p:nvSpPr>
          <p:cNvPr id="19" name="Text 15"/>
          <p:cNvSpPr txBox="1"/>
          <p:nvPr/>
        </p:nvSpPr>
        <p:spPr>
          <a:xfrm>
            <a:off x="719882" y="2615059"/>
            <a:ext cx="270021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Hospitalidade não está apenas na estrutura física. Ela está nos detalhes.</a:t>
            </a:r>
            <a:endParaRPr lang="en-US" sz="1060" dirty="0"/>
          </a:p>
        </p:txBody>
      </p:sp>
      <p:sp>
        <p:nvSpPr>
          <p:cNvPr id="20" name="Text 16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“Essa filosofia orientou a construção da pousada ao longo de mais de duas décadas.”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463802" y="1752749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01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4895701" y="1651695"/>
            <a:ext cx="5122099" cy="45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Receber o hóspede pelo nome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e perceber aquilo de que ele precisa antes mesmo que peça.</a:t>
            </a:r>
            <a:endParaRPr lang="en-US" sz="1040" dirty="0"/>
          </a:p>
        </p:txBody>
      </p:sp>
      <p:sp>
        <p:nvSpPr>
          <p:cNvPr id="23" name="Text 19"/>
          <p:cNvSpPr txBox="1"/>
          <p:nvPr/>
        </p:nvSpPr>
        <p:spPr>
          <a:xfrm>
            <a:off x="4463802" y="2823567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02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4895701" y="2837408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Cuidar do quarto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e preparar um bom café da manhã.</a:t>
            </a:r>
            <a:endParaRPr lang="en-US" sz="1040" dirty="0"/>
          </a:p>
        </p:txBody>
      </p:sp>
      <p:sp>
        <p:nvSpPr>
          <p:cNvPr id="25" name="Text 21"/>
          <p:cNvSpPr txBox="1"/>
          <p:nvPr/>
        </p:nvSpPr>
        <p:spPr>
          <a:xfrm>
            <a:off x="4463802" y="3894386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4895701" y="3908227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Oferecer conforto na praia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e ajudar com uma mala.</a:t>
            </a:r>
            <a:endParaRPr lang="en-US" sz="1040" dirty="0"/>
          </a:p>
        </p:txBody>
      </p:sp>
      <p:sp>
        <p:nvSpPr>
          <p:cNvPr id="27" name="Text 23"/>
          <p:cNvSpPr txBox="1"/>
          <p:nvPr/>
        </p:nvSpPr>
        <p:spPr>
          <a:xfrm>
            <a:off x="4463802" y="4965204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04</a:t>
            </a:r>
            <a:endParaRPr lang="en-US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4895701" y="4979045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Lembrar uma preferência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e resolver rapidamente um pequeno problema.</a:t>
            </a:r>
            <a:endParaRPr lang="en-US" sz="1040" dirty="0"/>
          </a:p>
        </p:txBody>
      </p:sp>
      <p:sp>
        <p:nvSpPr>
          <p:cNvPr id="29" name="Text 25"/>
          <p:cNvSpPr txBox="1"/>
          <p:nvPr/>
        </p:nvSpPr>
        <p:spPr>
          <a:xfrm>
            <a:off x="4463802" y="6036022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05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4895701" y="6049863"/>
            <a:ext cx="5122099" cy="229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Fazer com que uma pessoa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que chegou como hóspede queira voltar como amigo.</a:t>
            </a:r>
            <a:endParaRPr lang="en-US" sz="1040" dirty="0"/>
          </a:p>
        </p:txBody>
      </p:sp>
      <p:sp>
        <p:nvSpPr>
          <p:cNvPr id="31" name="Text 27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080248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06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SOLIDEZ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Uma empresa consolidada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“Confiança não é conquistada em uma campanha publicitária. É construída ao longo do tempo.”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265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São mais de vinte anos de operação contínua.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038648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Mais de duas décadas enfrentando diferentes momentos da economia, mudanças no comportamento dos consumidores, transformações no turismo e novas formas de comunicação. E permanecemos aqui.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971949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Cuidando da empresa. Cuidando da nossa equipe. Cuidando dos nossos hóspedes. Cuidando do patrimônio que construímos.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3660130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Essa longevidade nos ensinou algo que talvez seja justamente o que mais nos aproxima da filosofia da Victorinox.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OPERAÇÃO</a:t>
            </a:r>
            <a:endParaRPr lang="en-US" sz="64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Contínua desde 2002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463802" y="6135886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Atravessando ciclos distintos da economia e do turismo.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CUIDADO</a:t>
            </a:r>
            <a:endParaRPr lang="en-US" sz="640" dirty="0"/>
          </a:p>
        </p:txBody>
      </p:sp>
      <p:sp>
        <p:nvSpPr>
          <p:cNvPr id="23" name="Text 19"/>
          <p:cNvSpPr txBox="1"/>
          <p:nvPr/>
        </p:nvSpPr>
        <p:spPr>
          <a:xfrm>
            <a:off x="6443811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Empresa, equipe e hóspedes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443811" y="6135886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 o patrimônio construído ao longo de todo esse período.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APRENDIZADO</a:t>
            </a:r>
            <a:endParaRPr lang="en-US" sz="640" dirty="0"/>
          </a:p>
        </p:txBody>
      </p:sp>
      <p:sp>
        <p:nvSpPr>
          <p:cNvPr id="26" name="Text 22"/>
          <p:cNvSpPr txBox="1"/>
          <p:nvPr/>
        </p:nvSpPr>
        <p:spPr>
          <a:xfrm>
            <a:off x="8423821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Confiança leva tempo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842382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Não se conquista em campanha; constrói-se na repetição.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2382441"/>
            <a:ext cx="964704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7" name="Shape 5"/>
          <p:cNvSpPr/>
          <p:nvPr/>
        </p:nvSpPr>
        <p:spPr>
          <a:xfrm>
            <a:off x="4463802" y="2382441"/>
            <a:ext cx="96470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" name="Shape 6"/>
          <p:cNvSpPr/>
          <p:nvPr/>
        </p:nvSpPr>
        <p:spPr>
          <a:xfrm>
            <a:off x="5418981" y="238244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9" name="Shape 7"/>
          <p:cNvSpPr/>
          <p:nvPr/>
        </p:nvSpPr>
        <p:spPr>
          <a:xfrm>
            <a:off x="4463802" y="2740819"/>
            <a:ext cx="96470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0" name="Shape 8"/>
          <p:cNvSpPr/>
          <p:nvPr/>
        </p:nvSpPr>
        <p:spPr>
          <a:xfrm>
            <a:off x="4463802" y="238244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1" name="Shape 9"/>
          <p:cNvSpPr/>
          <p:nvPr/>
        </p:nvSpPr>
        <p:spPr>
          <a:xfrm>
            <a:off x="5536406" y="2382441"/>
            <a:ext cx="1178719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12" name="Shape 10"/>
          <p:cNvSpPr/>
          <p:nvPr/>
        </p:nvSpPr>
        <p:spPr>
          <a:xfrm>
            <a:off x="5536406" y="2382441"/>
            <a:ext cx="1178719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3" name="Shape 11"/>
          <p:cNvSpPr/>
          <p:nvPr/>
        </p:nvSpPr>
        <p:spPr>
          <a:xfrm>
            <a:off x="6705600" y="238244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4" name="Shape 12"/>
          <p:cNvSpPr/>
          <p:nvPr/>
        </p:nvSpPr>
        <p:spPr>
          <a:xfrm>
            <a:off x="5536406" y="2740819"/>
            <a:ext cx="1178719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5" name="Shape 13"/>
          <p:cNvSpPr/>
          <p:nvPr/>
        </p:nvSpPr>
        <p:spPr>
          <a:xfrm>
            <a:off x="5536406" y="238244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6" name="Shape 14"/>
          <p:cNvSpPr/>
          <p:nvPr/>
        </p:nvSpPr>
        <p:spPr>
          <a:xfrm>
            <a:off x="6823025" y="2382441"/>
            <a:ext cx="1090017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17" name="Shape 15"/>
          <p:cNvSpPr/>
          <p:nvPr/>
        </p:nvSpPr>
        <p:spPr>
          <a:xfrm>
            <a:off x="6823025" y="2382441"/>
            <a:ext cx="1090017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8" name="Shape 16"/>
          <p:cNvSpPr/>
          <p:nvPr/>
        </p:nvSpPr>
        <p:spPr>
          <a:xfrm>
            <a:off x="7903518" y="238244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9" name="Shape 17"/>
          <p:cNvSpPr/>
          <p:nvPr/>
        </p:nvSpPr>
        <p:spPr>
          <a:xfrm>
            <a:off x="6823025" y="2740819"/>
            <a:ext cx="1090017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823025" y="238244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020943" y="2382441"/>
            <a:ext cx="1201787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22" name="Shape 20"/>
          <p:cNvSpPr/>
          <p:nvPr/>
        </p:nvSpPr>
        <p:spPr>
          <a:xfrm>
            <a:off x="8020943" y="2382441"/>
            <a:ext cx="1201787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213205" y="238244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4" name="Shape 22"/>
          <p:cNvSpPr/>
          <p:nvPr/>
        </p:nvSpPr>
        <p:spPr>
          <a:xfrm>
            <a:off x="8020943" y="2740819"/>
            <a:ext cx="1201787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5" name="Shape 23"/>
          <p:cNvSpPr/>
          <p:nvPr/>
        </p:nvSpPr>
        <p:spPr>
          <a:xfrm>
            <a:off x="8020943" y="238244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6" name="Shape 24"/>
          <p:cNvSpPr/>
          <p:nvPr/>
        </p:nvSpPr>
        <p:spPr>
          <a:xfrm>
            <a:off x="4463802" y="2858244"/>
            <a:ext cx="1495574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27" name="Shape 25"/>
          <p:cNvSpPr/>
          <p:nvPr/>
        </p:nvSpPr>
        <p:spPr>
          <a:xfrm>
            <a:off x="4463802" y="2858244"/>
            <a:ext cx="149557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9851" y="285824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9" name="Shape 27"/>
          <p:cNvSpPr/>
          <p:nvPr/>
        </p:nvSpPr>
        <p:spPr>
          <a:xfrm>
            <a:off x="4463802" y="3216622"/>
            <a:ext cx="149557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0" name="Shape 28"/>
          <p:cNvSpPr/>
          <p:nvPr/>
        </p:nvSpPr>
        <p:spPr>
          <a:xfrm>
            <a:off x="4463802" y="285824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1" name="Shape 29"/>
          <p:cNvSpPr/>
          <p:nvPr/>
        </p:nvSpPr>
        <p:spPr>
          <a:xfrm>
            <a:off x="6067276" y="2858244"/>
            <a:ext cx="1640086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32" name="Shape 30"/>
          <p:cNvSpPr/>
          <p:nvPr/>
        </p:nvSpPr>
        <p:spPr>
          <a:xfrm>
            <a:off x="6067276" y="2858244"/>
            <a:ext cx="164008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3" name="Shape 31"/>
          <p:cNvSpPr/>
          <p:nvPr/>
        </p:nvSpPr>
        <p:spPr>
          <a:xfrm>
            <a:off x="7697837" y="285824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4" name="Shape 32"/>
          <p:cNvSpPr/>
          <p:nvPr/>
        </p:nvSpPr>
        <p:spPr>
          <a:xfrm>
            <a:off x="6067276" y="3216622"/>
            <a:ext cx="164008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5" name="Shape 33"/>
          <p:cNvSpPr/>
          <p:nvPr/>
        </p:nvSpPr>
        <p:spPr>
          <a:xfrm>
            <a:off x="6067276" y="285824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6" name="Shape 34"/>
          <p:cNvSpPr/>
          <p:nvPr/>
        </p:nvSpPr>
        <p:spPr>
          <a:xfrm>
            <a:off x="4463802" y="3334048"/>
            <a:ext cx="2356545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37" name="Shape 35"/>
          <p:cNvSpPr/>
          <p:nvPr/>
        </p:nvSpPr>
        <p:spPr>
          <a:xfrm>
            <a:off x="4463802" y="3334048"/>
            <a:ext cx="23565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8" name="Shape 36"/>
          <p:cNvSpPr/>
          <p:nvPr/>
        </p:nvSpPr>
        <p:spPr>
          <a:xfrm>
            <a:off x="6810821" y="333404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9" name="Shape 37"/>
          <p:cNvSpPr/>
          <p:nvPr/>
        </p:nvSpPr>
        <p:spPr>
          <a:xfrm>
            <a:off x="4463802" y="3692426"/>
            <a:ext cx="235654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0" name="Shape 38"/>
          <p:cNvSpPr/>
          <p:nvPr/>
        </p:nvSpPr>
        <p:spPr>
          <a:xfrm>
            <a:off x="4463802" y="333404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1" name="Shape 39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42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43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45" name="Text 41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07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AFINIDADE</a:t>
            </a:r>
            <a:endParaRPr lang="en-US" sz="660" dirty="0"/>
          </a:p>
        </p:txBody>
      </p:sp>
      <p:sp>
        <p:nvSpPr>
          <p:cNvPr id="47" name="Text 43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Por que Victorinox?</a:t>
            </a:r>
            <a:endParaRPr lang="en-US" sz="2700" dirty="0"/>
          </a:p>
        </p:txBody>
      </p:sp>
      <p:sp>
        <p:nvSpPr>
          <p:cNvPr id="48" name="Text 44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“Um bom produto não precisa apenas funcionar bem. Ele precisa gerar confiança.”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Admiramos a Victorinox justamente porque reconhecemos na marca valores que também procuramos praticar.</a:t>
            </a:r>
            <a:endParaRPr lang="en-US" sz="1260" dirty="0"/>
          </a:p>
        </p:txBody>
      </p:sp>
      <p:sp>
        <p:nvSpPr>
          <p:cNvPr id="50" name="Text 46"/>
          <p:cNvSpPr txBox="1"/>
          <p:nvPr/>
        </p:nvSpPr>
        <p:spPr>
          <a:xfrm>
            <a:off x="4463802" y="2106216"/>
            <a:ext cx="5553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VALORES QUE COMPARTILHAMOS</a:t>
            </a:r>
            <a:endParaRPr lang="en-US" sz="660" dirty="0"/>
          </a:p>
        </p:txBody>
      </p:sp>
      <p:sp>
        <p:nvSpPr>
          <p:cNvPr id="51" name="Text 47"/>
          <p:cNvSpPr txBox="1"/>
          <p:nvPr/>
        </p:nvSpPr>
        <p:spPr>
          <a:xfrm>
            <a:off x="4679802" y="2476041"/>
            <a:ext cx="578423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Qualidade</a:t>
            </a:r>
            <a:endParaRPr lang="en-US" sz="880" dirty="0"/>
          </a:p>
        </p:txBody>
      </p:sp>
      <p:sp>
        <p:nvSpPr>
          <p:cNvPr id="52" name="Text 48"/>
          <p:cNvSpPr txBox="1"/>
          <p:nvPr/>
        </p:nvSpPr>
        <p:spPr>
          <a:xfrm>
            <a:off x="5752407" y="2476041"/>
            <a:ext cx="792438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Confiabilidade</a:t>
            </a:r>
            <a:endParaRPr lang="en-US" sz="880" dirty="0"/>
          </a:p>
        </p:txBody>
      </p:sp>
      <p:sp>
        <p:nvSpPr>
          <p:cNvPr id="53" name="Text 49"/>
          <p:cNvSpPr txBox="1"/>
          <p:nvPr/>
        </p:nvSpPr>
        <p:spPr>
          <a:xfrm>
            <a:off x="7039026" y="2476041"/>
            <a:ext cx="703737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Durabilidade</a:t>
            </a:r>
            <a:endParaRPr lang="en-US" sz="880" dirty="0"/>
          </a:p>
        </p:txBody>
      </p:sp>
      <p:sp>
        <p:nvSpPr>
          <p:cNvPr id="54" name="Text 50"/>
          <p:cNvSpPr txBox="1"/>
          <p:nvPr/>
        </p:nvSpPr>
        <p:spPr>
          <a:xfrm>
            <a:off x="8236943" y="2476041"/>
            <a:ext cx="815506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Funcionalidade</a:t>
            </a:r>
            <a:endParaRPr lang="en-US" sz="880" dirty="0"/>
          </a:p>
        </p:txBody>
      </p:sp>
      <p:sp>
        <p:nvSpPr>
          <p:cNvPr id="55" name="Text 51"/>
          <p:cNvSpPr txBox="1"/>
          <p:nvPr/>
        </p:nvSpPr>
        <p:spPr>
          <a:xfrm>
            <a:off x="4679802" y="2951844"/>
            <a:ext cx="1109293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Atenção aos detalhes</a:t>
            </a:r>
            <a:endParaRPr lang="en-US" sz="880" dirty="0"/>
          </a:p>
        </p:txBody>
      </p:sp>
      <p:sp>
        <p:nvSpPr>
          <p:cNvPr id="56" name="Text 52"/>
          <p:cNvSpPr txBox="1"/>
          <p:nvPr/>
        </p:nvSpPr>
        <p:spPr>
          <a:xfrm>
            <a:off x="6283277" y="2951844"/>
            <a:ext cx="1253805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Respeito ao consumidor</a:t>
            </a:r>
            <a:endParaRPr lang="en-US" sz="880" dirty="0"/>
          </a:p>
        </p:txBody>
      </p:sp>
      <p:sp>
        <p:nvSpPr>
          <p:cNvPr id="57" name="Text 53"/>
          <p:cNvSpPr txBox="1"/>
          <p:nvPr/>
        </p:nvSpPr>
        <p:spPr>
          <a:xfrm>
            <a:off x="4679802" y="3427648"/>
            <a:ext cx="1970264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História construída ao longo do tempo</a:t>
            </a:r>
            <a:endParaRPr lang="en-US" sz="880" dirty="0"/>
          </a:p>
        </p:txBody>
      </p:sp>
      <p:sp>
        <p:nvSpPr>
          <p:cNvPr id="58" name="Text 54"/>
          <p:cNvSpPr txBox="1"/>
          <p:nvPr/>
        </p:nvSpPr>
        <p:spPr>
          <a:xfrm>
            <a:off x="4463802" y="4025950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Victorinox tem tradição centenária e tornou seus produtos companheiros de pessoas em viagens, aventuras, trabalho e momentos cotidianos.</a:t>
            </a:r>
            <a:endParaRPr lang="en-US" sz="1060" dirty="0"/>
          </a:p>
        </p:txBody>
      </p:sp>
      <p:sp>
        <p:nvSpPr>
          <p:cNvPr id="59" name="Text 55"/>
          <p:cNvSpPr txBox="1"/>
          <p:nvPr/>
        </p:nvSpPr>
        <p:spPr>
          <a:xfrm>
            <a:off x="4463802" y="4714131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Camburi tem uma história muito mais jovem, mas compartilha uma convicção semelhante: um bom produto ou um bom serviço não precisa apenas funcionar bem — precisa gerar confiança. E confiança é aquilo que faz uma pessoa voltar.</a:t>
            </a:r>
            <a:endParaRPr lang="en-US" sz="1060" dirty="0"/>
          </a:p>
        </p:txBody>
      </p:sp>
      <p:sp>
        <p:nvSpPr>
          <p:cNvPr id="60" name="Text 56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6180386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080248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08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 OPORTUNIDADE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 ambiente de experiência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6441877"/>
            <a:ext cx="2700218" cy="262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“Não simplesmente ver. Viver.”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É nesse contexto que enxergamos uma possibilidade especial de aproximação entre nossas empresas.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304157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Camburi recebe pessoas que viajam, exploram, descansam, praticam esportes, aproveitam a natureza, desfrutam da gastronomia e compartilham momentos com familiares e amigos. É um ambiente real de experiências.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3237458"/>
            <a:ext cx="5553998" cy="98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Um lugar onde qualidade, funcionalidade, natureza, gastronomia, viagem e hospitalidade se encontram naturalmente. Por isso acreditamos que a pousada pode ser um ambiente particularmente interessante para que clientes, colaboradores, parceiros e convidados da Victorinox conheçam, utilizem e vivenciem seus produtos em situações reais.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PÚBLICO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Quem já viaja e explora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6135886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Pessoas em movimento, na praia, na trilha e à mesa.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44381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CONTEXTO</a:t>
            </a:r>
            <a:endParaRPr lang="en-US" sz="64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Uso real, não vitrine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44381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 produto aparece na situação em que a sua função faz sentido.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42382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ENCONTRO</a:t>
            </a:r>
            <a:endParaRPr lang="en-US" sz="64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5585520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Marca e lugar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423821" y="5900291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Um ambiente onde os valores das duas empresas se reconhecem.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315843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09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 CONVITE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390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Nosso convite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“Uma marca que acompanha pessoas. Um lugar que recebe pessoas.”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Gostaríamos de apresentar oficialmente a Pousada Camburi à Victorinox Brasil e abrir uma conversa sobre possibilidades de relacionamento entre nossas empresas.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304157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Temos muito respeito pela história e pelo posicionamento da Victorinox, e acreditamos que existe uma afinidade verdadeira entre nossas marcas.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992338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Camburi tem uma história construída com pessoas. A Victorinox tem uma história construída com produtos que acompanham pessoas. Talvez seja justamente aí que exista uma oportunidade — e uma experiência capaz de unir as duas.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3925639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Será uma grande satisfação receber representantes da Victorinox em Camburi, apresentar pessoalmente nossa pousada, nossa equipe e nossa história, e conversar sobre o que podemos construir juntos.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PRIMEIRO PASSO</a:t>
            </a:r>
            <a:endParaRPr lang="en-US" sz="64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Uma conversa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463802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Sem compromisso, para conhecermos as expectativas de cada lado.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SEGUNDO PASSO</a:t>
            </a:r>
            <a:endParaRPr lang="en-US" sz="640" dirty="0"/>
          </a:p>
        </p:txBody>
      </p:sp>
      <p:sp>
        <p:nvSpPr>
          <p:cNvPr id="23" name="Text 19"/>
          <p:cNvSpPr txBox="1"/>
          <p:nvPr/>
        </p:nvSpPr>
        <p:spPr>
          <a:xfrm>
            <a:off x="6443811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Uma visita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443811" y="6135886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Receber a equipe da Victorinox em Camburi, pessoalmente.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HORIZONTE</a:t>
            </a:r>
            <a:endParaRPr lang="en-US" sz="640" dirty="0"/>
          </a:p>
        </p:txBody>
      </p:sp>
      <p:sp>
        <p:nvSpPr>
          <p:cNvPr id="26" name="Text 22"/>
          <p:cNvSpPr txBox="1"/>
          <p:nvPr/>
        </p:nvSpPr>
        <p:spPr>
          <a:xfrm>
            <a:off x="8423821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Uma parceria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8423821" y="6135886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Construída no mesmo ritmo em que construímos tudo aqui.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2430214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4463802" y="5010001"/>
            <a:ext cx="5508278" cy="1694706"/>
          </a:xfrm>
          <a:prstGeom prst="roundRect">
            <a:avLst>
              <a:gd name="adj" fmla="val 6373"/>
            </a:avLst>
          </a:prstGeom>
          <a:solidFill>
            <a:srgbClr val="16283C"/>
          </a:solidFill>
          <a:ln/>
        </p:spPr>
      </p:sp>
      <p:sp>
        <p:nvSpPr>
          <p:cNvPr id="8" name="Shape 6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9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10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2" name="Text 8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10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ATENCIOSAMENTE</a:t>
            </a:r>
            <a:endParaRPr lang="en-US" sz="66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Seu lugar em Camburi</a:t>
            </a:r>
            <a:endParaRPr lang="en-US" sz="2700" dirty="0"/>
          </a:p>
        </p:txBody>
      </p:sp>
      <p:sp>
        <p:nvSpPr>
          <p:cNvPr id="15" name="Text 11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“Quem cuida de tudo somos nós. Você aproveita a praia, descansa e vive a experiência.”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Permanecemos à disposição para conversar, receber a sua visita e apresentar pessoalmente aquilo que construímos ao longo destes mais de vinte anos.</a:t>
            </a:r>
            <a:endParaRPr lang="en-US" sz="12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727722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CONVERSA</a:t>
            </a:r>
            <a:endParaRPr lang="en-US" sz="64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2935486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Por telefone ou vídeo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3485852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Um primeiro alinhamento, antes de qualquer deslocamento.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6443811" y="2727722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VISITA</a:t>
            </a:r>
            <a:endParaRPr lang="en-US" sz="640" dirty="0"/>
          </a:p>
        </p:txBody>
      </p:sp>
      <p:sp>
        <p:nvSpPr>
          <p:cNvPr id="21" name="Text 17"/>
          <p:cNvSpPr txBox="1"/>
          <p:nvPr/>
        </p:nvSpPr>
        <p:spPr>
          <a:xfrm>
            <a:off x="6443811" y="2935486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Quando for conveniente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3485852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Recebemos a equipe da Victorinox em Camburi, com hora marcada.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8423821" y="2727722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DETALHAMENTO</a:t>
            </a:r>
            <a:endParaRPr lang="en-US" sz="640" dirty="0"/>
          </a:p>
        </p:txBody>
      </p:sp>
      <p:sp>
        <p:nvSpPr>
          <p:cNvPr id="24" name="Text 20"/>
          <p:cNvSpPr txBox="1"/>
          <p:nvPr/>
        </p:nvSpPr>
        <p:spPr>
          <a:xfrm>
            <a:off x="8423821" y="2935486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Documento próprio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3485852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proposta de experiência segue em apresentação separada.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4859685" y="5369868"/>
            <a:ext cx="2714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FB2C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CONTATO</a:t>
            </a:r>
            <a:endParaRPr lang="en-US" sz="620" dirty="0"/>
          </a:p>
        </p:txBody>
      </p:sp>
      <p:sp>
        <p:nvSpPr>
          <p:cNvPr id="27" name="Text 23"/>
          <p:cNvSpPr txBox="1"/>
          <p:nvPr/>
        </p:nvSpPr>
        <p:spPr>
          <a:xfrm>
            <a:off x="4859685" y="5592068"/>
            <a:ext cx="2714804" cy="318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8"/>
              </a:lnSpc>
              <a:buNone/>
            </a:pPr>
            <a:r>
              <a:rPr lang="en-US" sz="2200" spc="9" kern="0" dirty="0">
                <a:solidFill>
                  <a:srgbClr val="FFFFFF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Rodrigo Roberto Sulina</a:t>
            </a:r>
            <a:endParaRPr lang="en-US" sz="2200" dirty="0"/>
          </a:p>
        </p:txBody>
      </p:sp>
      <p:sp>
        <p:nvSpPr>
          <p:cNvPr id="28" name="Text 24"/>
          <p:cNvSpPr txBox="1"/>
          <p:nvPr/>
        </p:nvSpPr>
        <p:spPr>
          <a:xfrm>
            <a:off x="4859685" y="5982295"/>
            <a:ext cx="2714804" cy="362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840" spc="50" kern="0" dirty="0">
                <a:solidFill>
                  <a:srgbClr val="B9CBD9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Gestão de Reservas e Comercial</a:t>
            </a:r>
            <a:endParaRPr lang="en-US" sz="840" dirty="0"/>
          </a:p>
          <a:p>
            <a:pPr algn="l" indent="0" marL="0">
              <a:lnSpc>
                <a:spcPts val="1428"/>
              </a:lnSpc>
              <a:buNone/>
            </a:pPr>
            <a:r>
              <a:rPr lang="en-US" sz="840" spc="50" kern="0" dirty="0">
                <a:solidFill>
                  <a:srgbClr val="B9CBD9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· desde 22 de agosto de 2002</a:t>
            </a:r>
            <a:endParaRPr lang="en-US" sz="840" dirty="0"/>
          </a:p>
        </p:txBody>
      </p:sp>
      <p:sp>
        <p:nvSpPr>
          <p:cNvPr id="29" name="Text 25"/>
          <p:cNvSpPr txBox="1"/>
          <p:nvPr/>
        </p:nvSpPr>
        <p:spPr>
          <a:xfrm>
            <a:off x="7842915" y="5410200"/>
            <a:ext cx="1733282" cy="89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60"/>
              </a:lnSpc>
              <a:buNone/>
            </a:pPr>
            <a:r>
              <a:rPr lang="en-US" sz="640" spc="128" kern="0" dirty="0">
                <a:solidFill>
                  <a:srgbClr val="8FB2C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TEL.</a:t>
            </a:r>
            <a:pPr algn="r" indent="0" marL="0">
              <a:lnSpc>
                <a:spcPts val="1760"/>
              </a:lnSpc>
              <a:buNone/>
            </a:pPr>
            <a:r>
              <a:rPr lang="en-US" sz="880" spc="18" kern="0" dirty="0">
                <a:solidFill>
                  <a:srgbClr val="E6EDF3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(12) 99795-2066</a:t>
            </a:r>
            <a:endParaRPr lang="en-US" sz="640" dirty="0"/>
          </a:p>
          <a:p>
            <a:pPr algn="r" indent="0" marL="0">
              <a:lnSpc>
                <a:spcPts val="1760"/>
              </a:lnSpc>
              <a:buNone/>
            </a:pPr>
            <a:r>
              <a:rPr lang="en-US" sz="640" spc="128" kern="0" dirty="0">
                <a:solidFill>
                  <a:srgbClr val="8FB2C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TEL.</a:t>
            </a:r>
            <a:pPr algn="r" indent="0" marL="0">
              <a:lnSpc>
                <a:spcPts val="1760"/>
              </a:lnSpc>
              <a:buNone/>
            </a:pPr>
            <a:r>
              <a:rPr lang="en-US" sz="880" spc="18" kern="0" dirty="0">
                <a:solidFill>
                  <a:srgbClr val="E6EDF3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(12) 99769-8399</a:t>
            </a:r>
            <a:endParaRPr lang="en-US" sz="640" dirty="0"/>
          </a:p>
          <a:p>
            <a:pPr algn="r" indent="0" marL="0">
              <a:lnSpc>
                <a:spcPts val="1760"/>
              </a:lnSpc>
              <a:buNone/>
            </a:pPr>
            <a:r>
              <a:rPr lang="en-US" sz="880" spc="18" kern="0" dirty="0">
                <a:solidFill>
                  <a:srgbClr val="E6EDF3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camburi@pousadacamburi.com.br</a:t>
            </a:r>
            <a:endParaRPr lang="en-US" sz="640" dirty="0"/>
          </a:p>
          <a:p>
            <a:pPr algn="r" indent="0" marL="0">
              <a:lnSpc>
                <a:spcPts val="1760"/>
              </a:lnSpc>
              <a:buNone/>
            </a:pPr>
            <a:r>
              <a:rPr lang="en-US" sz="880" spc="18" kern="0" dirty="0">
                <a:solidFill>
                  <a:srgbClr val="E6EDF3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rrsulina@pousadacamburi.com.br </a:t>
            </a:r>
            <a:endParaRPr lang="en-US" sz="640" dirty="0"/>
          </a:p>
        </p:txBody>
      </p:sp>
      <p:sp>
        <p:nvSpPr>
          <p:cNvPr id="30" name="Text 26"/>
          <p:cNvSpPr txBox="1"/>
          <p:nvPr/>
        </p:nvSpPr>
        <p:spPr>
          <a:xfrm>
            <a:off x="719882" y="6962924"/>
            <a:ext cx="31379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 | CARTA DE APRESENTAÇÃO À VICTORINOX</a:t>
            </a:r>
            <a:endParaRPr lang="en-US" sz="6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Pousada Camburi — Carta de Apresentação à Victorinox</dc:title>
  <dc:subject>PptxGenJS Presentation</dc:subject>
  <dc:creator>Pousada Camburi</dc:creator>
  <cp:lastModifiedBy>Pousada Camburi</cp:lastModifiedBy>
  <cp:revision>1</cp:revision>
  <dcterms:created xsi:type="dcterms:W3CDTF">2026-08-27T12:51:40Z</dcterms:created>
  <dcterms:modified xsi:type="dcterms:W3CDTF">2026-08-27T12:51:40Z</dcterms:modified>
</cp:coreProperties>
</file>