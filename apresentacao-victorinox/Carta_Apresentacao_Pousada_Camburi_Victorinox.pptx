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0691961" cy="7559873"/>
  <p:notesSz cx="7559873" cy="10691961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15950" cy="7559873"/>
          </a:xfrm>
          <a:prstGeom prst="rect">
            <a:avLst/>
          </a:prstGeom>
          <a:solidFill>
            <a:srgbClr val="1628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15950" cy="2721471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5" name="Shape 3"/>
          <p:cNvSpPr/>
          <p:nvPr/>
        </p:nvSpPr>
        <p:spPr>
          <a:xfrm>
            <a:off x="1151930" y="5598319"/>
            <a:ext cx="287982" cy="17711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6808291" y="1901577"/>
            <a:ext cx="9525" cy="3781871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393781" y="1901577"/>
            <a:ext cx="2506266" cy="1485007"/>
          </a:xfrm>
          <a:prstGeom prst="roundRect">
            <a:avLst>
              <a:gd name="adj" fmla="val 4848"/>
            </a:avLst>
          </a:prstGeom>
          <a:solidFill>
            <a:srgbClr val="FAF8F5"/>
          </a:solidFill>
          <a:ln/>
        </p:spPr>
      </p:sp>
      <p:sp>
        <p:nvSpPr>
          <p:cNvPr id="8" name="Shape 6"/>
          <p:cNvSpPr/>
          <p:nvPr/>
        </p:nvSpPr>
        <p:spPr>
          <a:xfrm>
            <a:off x="7393781" y="1901577"/>
            <a:ext cx="19050" cy="1485007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9" name="Shape 7"/>
          <p:cNvSpPr/>
          <p:nvPr/>
        </p:nvSpPr>
        <p:spPr>
          <a:xfrm>
            <a:off x="1151930" y="6115348"/>
            <a:ext cx="8748117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10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930" y="611981"/>
            <a:ext cx="2807940" cy="785664"/>
          </a:xfrm>
          <a:prstGeom prst="rect">
            <a:avLst/>
          </a:prstGeom>
        </p:spPr>
      </p:pic>
      <p:pic>
        <p:nvPicPr>
          <p:cNvPr id="11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930" y="6340822"/>
            <a:ext cx="1151930" cy="7511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1930" y="1901577"/>
            <a:ext cx="50540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700" spc="224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 BRASIL</a:t>
            </a:r>
            <a:endParaRPr lang="en-US" sz="700" dirty="0"/>
          </a:p>
        </p:txBody>
      </p:sp>
      <p:sp>
        <p:nvSpPr>
          <p:cNvPr id="13" name="Text 9"/>
          <p:cNvSpPr txBox="1"/>
          <p:nvPr/>
        </p:nvSpPr>
        <p:spPr>
          <a:xfrm>
            <a:off x="1151930" y="2165152"/>
            <a:ext cx="392284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4500" spc="-22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Pousada Camburi</a:t>
            </a:r>
            <a:endParaRPr lang="en-US" sz="4500" dirty="0"/>
          </a:p>
        </p:txBody>
      </p:sp>
      <p:sp>
        <p:nvSpPr>
          <p:cNvPr id="14" name="Text 10"/>
          <p:cNvSpPr txBox="1"/>
          <p:nvPr/>
        </p:nvSpPr>
        <p:spPr>
          <a:xfrm>
            <a:off x="1151930" y="2835622"/>
            <a:ext cx="505408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4500" i="1" spc="-22" kern="0" dirty="0">
                <a:solidFill>
                  <a:srgbClr val="2E3A4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Carta de apresentação</a:t>
            </a:r>
            <a:endParaRPr lang="en-US" sz="4500" dirty="0"/>
          </a:p>
        </p:txBody>
      </p:sp>
      <p:sp>
        <p:nvSpPr>
          <p:cNvPr id="15" name="Text 11"/>
          <p:cNvSpPr txBox="1"/>
          <p:nvPr/>
        </p:nvSpPr>
        <p:spPr>
          <a:xfrm>
            <a:off x="1151930" y="3681859"/>
            <a:ext cx="4545687" cy="522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8"/>
              </a:lnSpc>
              <a:buNone/>
            </a:pPr>
            <a:r>
              <a:rPr lang="en-US" sz="124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Uma história de hospitalidade, qualidade e experiências há mais de 20 anos.</a:t>
            </a:r>
            <a:endParaRPr lang="en-US" sz="1240" dirty="0"/>
          </a:p>
        </p:txBody>
      </p:sp>
      <p:sp>
        <p:nvSpPr>
          <p:cNvPr id="16" name="Text 12"/>
          <p:cNvSpPr txBox="1"/>
          <p:nvPr/>
        </p:nvSpPr>
        <p:spPr>
          <a:xfrm>
            <a:off x="1619845" y="5531048"/>
            <a:ext cx="42834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spc="118" kern="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DESDE 22 DE AGOSTO DE 2002 · CAMBURI, SÃO SEBASTIÃO — SP</a:t>
            </a:r>
            <a:endParaRPr lang="en-US" sz="840" dirty="0"/>
          </a:p>
        </p:txBody>
      </p:sp>
      <p:sp>
        <p:nvSpPr>
          <p:cNvPr id="17" name="Text 13"/>
          <p:cNvSpPr txBox="1"/>
          <p:nvPr/>
        </p:nvSpPr>
        <p:spPr>
          <a:xfrm>
            <a:off x="7700814" y="2153543"/>
            <a:ext cx="1956971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36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É com grande satisfação que apresentamos a Pousada Camburi, uma empresa genuinamente brasileira.</a:t>
            </a:r>
            <a:endParaRPr lang="en-US" sz="1360" dirty="0"/>
          </a:p>
        </p:txBody>
      </p:sp>
      <p:sp>
        <p:nvSpPr>
          <p:cNvPr id="18" name="Text 14"/>
          <p:cNvSpPr txBox="1"/>
          <p:nvPr/>
        </p:nvSpPr>
        <p:spPr>
          <a:xfrm>
            <a:off x="7393781" y="3722787"/>
            <a:ext cx="2551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DESDE 2002</a:t>
            </a:r>
            <a:endParaRPr lang="en-US" sz="640" dirty="0"/>
          </a:p>
        </p:txBody>
      </p:sp>
      <p:sp>
        <p:nvSpPr>
          <p:cNvPr id="19" name="Text 15"/>
          <p:cNvSpPr txBox="1"/>
          <p:nvPr/>
        </p:nvSpPr>
        <p:spPr>
          <a:xfrm>
            <a:off x="7393781" y="3963888"/>
            <a:ext cx="24415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8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Nossa história começou em 22 de agosto de 2002.</a:t>
            </a:r>
            <a:endParaRPr lang="en-US" sz="860" dirty="0"/>
          </a:p>
        </p:txBody>
      </p:sp>
      <p:sp>
        <p:nvSpPr>
          <p:cNvPr id="20" name="Text 16"/>
          <p:cNvSpPr txBox="1"/>
          <p:nvPr/>
        </p:nvSpPr>
        <p:spPr>
          <a:xfrm>
            <a:off x="7393781" y="4387304"/>
            <a:ext cx="2551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HOSPITALIDADE</a:t>
            </a:r>
            <a:endParaRPr lang="en-US" sz="640" dirty="0"/>
          </a:p>
        </p:txBody>
      </p:sp>
      <p:sp>
        <p:nvSpPr>
          <p:cNvPr id="21" name="Text 17"/>
          <p:cNvSpPr txBox="1"/>
          <p:nvPr/>
        </p:nvSpPr>
        <p:spPr>
          <a:xfrm>
            <a:off x="7393781" y="4628406"/>
            <a:ext cx="25332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8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Há mais de duas décadas dedica-se à arte de receber pessoas.</a:t>
            </a:r>
            <a:endParaRPr lang="en-US" sz="860" dirty="0"/>
          </a:p>
        </p:txBody>
      </p:sp>
      <p:sp>
        <p:nvSpPr>
          <p:cNvPr id="22" name="Text 18"/>
          <p:cNvSpPr txBox="1"/>
          <p:nvPr/>
        </p:nvSpPr>
        <p:spPr>
          <a:xfrm>
            <a:off x="7393781" y="5270897"/>
            <a:ext cx="2551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CAMBURI</a:t>
            </a:r>
            <a:endParaRPr lang="en-US" sz="640" dirty="0"/>
          </a:p>
        </p:txBody>
      </p:sp>
      <p:sp>
        <p:nvSpPr>
          <p:cNvPr id="23" name="Text 19"/>
          <p:cNvSpPr txBox="1"/>
          <p:nvPr/>
        </p:nvSpPr>
        <p:spPr>
          <a:xfrm>
            <a:off x="7393781" y="5511998"/>
            <a:ext cx="17518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8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Litoral norte do Estado de São Paulo.</a:t>
            </a:r>
            <a:endParaRPr lang="en-US" sz="860" dirty="0"/>
          </a:p>
        </p:txBody>
      </p:sp>
      <p:sp>
        <p:nvSpPr>
          <p:cNvPr id="24" name="Text 20"/>
          <p:cNvSpPr txBox="1"/>
          <p:nvPr/>
        </p:nvSpPr>
        <p:spPr>
          <a:xfrm>
            <a:off x="8526929" y="6763941"/>
            <a:ext cx="1373118" cy="328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2"/>
              </a:lnSpc>
              <a:buNone/>
            </a:pPr>
            <a:r>
              <a:rPr lang="en-US" sz="680" spc="109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CARTA DE APRESENTAÇÃO</a:t>
            </a:r>
            <a:endParaRPr lang="en-US" sz="680" dirty="0"/>
          </a:p>
          <a:p>
            <a:pPr algn="r" indent="0" marL="0">
              <a:lnSpc>
                <a:spcPts val="1292"/>
              </a:lnSpc>
              <a:buNone/>
            </a:pPr>
            <a:r>
              <a:rPr lang="en-US" sz="680" spc="109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AGOSTO DE 2026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65472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5883771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CARTA DE APRESENTAÇÃO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195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Uma história de hospitalidade, qualidade e experiências há mais de 20 anos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5916216"/>
            <a:ext cx="270021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“Receber cada hóspede como alguém que estamos verdadeiramente felizes em receber.”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06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À Victorinox Brasil</a:t>
            </a:r>
            <a:endParaRPr lang="en-US" sz="1060" dirty="0"/>
          </a:p>
          <a:p>
            <a:pPr algn="l" indent="0" marL="0">
              <a:lnSpc>
                <a:spcPts val="1802"/>
              </a:lnSpc>
              <a:buNone/>
            </a:pPr>
            <a:r>
              <a:rPr lang="en-US" sz="106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Prezados Senhores,</a:t>
            </a:r>
            <a:endParaRPr lang="en-US" sz="10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032992"/>
            <a:ext cx="5553998" cy="106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É com grande satisfação que apresentamos a Pousada Camburi, uma empresa genuinamente brasileira, estabelecida em Camburi, São Sebastião, no litoral norte do Estado de São Paulo, e que há mais de duas décadas dedica-se à arte de receber pessoas.</a:t>
            </a:r>
            <a:endParaRPr lang="en-US" sz="12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3526929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Nossa história começou em 22 de agosto de 2002. Desde então, construímos nossa trajetória com um princípio muito simples: receber cada hóspede como alguém que estamos verdadeiramente felizes em receber.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4460230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Ao longo desses mais de 20 anos, a Pousada Camburi deixou de ser apenas um empreendimento de hospedagem e passou a construir algo que consideramos ainda mais valioso: relacionamentos duradouros com nossos hóspedes.</a:t>
            </a:r>
            <a:endParaRPr lang="en-US" sz="106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5393531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Temos clientes que retornam há muitos anos, famílias que cresceram conosco e pessoas que fizeram da Pousada Camburi parte de suas histórias e de seus momentos especiais.</a:t>
            </a:r>
            <a:endParaRPr lang="en-US" sz="1060" dirty="0"/>
          </a:p>
        </p:txBody>
      </p:sp>
      <p:sp>
        <p:nvSpPr>
          <p:cNvPr id="20" name="Text 16"/>
          <p:cNvSpPr txBox="1"/>
          <p:nvPr/>
        </p:nvSpPr>
        <p:spPr>
          <a:xfrm>
            <a:off x="4463802" y="6181279"/>
            <a:ext cx="5553998" cy="5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Esse relacionamento é, para nós, uma das maiores conquistas da nossa empresa.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719882" y="6962924"/>
            <a:ext cx="31379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 | CARTA DE APRESENTAÇÃO À VICTORINOX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6126510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O LUGAR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Um lugar para viver Camburi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“Não buscamos criar uma experiência artificial.”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A Pousada Camburi está localizada em uma das regiões mais especiais do litoral paulista.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304157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Camburi reúne praia, Mata Atlântica, gastronomia, natureza, esportes, cultura e uma atmosfera que convida as pessoas a desacelerarem.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2992338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pousada está situada a poucos minutos a pé da Praia de Camburi, em meio à vegetação exuberante característica da região.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3680520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Nossa proposta sempre foi oferecer uma hospedagem que respeitasse esse ambiente. Por isso, a Pousada Camburi possui uma identidade própria, com arquitetura e decoração de inspiração rústica, integradas ao entorno e à natureza.</a:t>
            </a:r>
            <a:endParaRPr lang="en-US" sz="106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6424017"/>
            <a:ext cx="5553998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Buscamos permitir que o hóspede viva Camburi.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719882" y="6962924"/>
            <a:ext cx="31379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 | CARTA DE APRESENTAÇÃO À VICTORINOX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1341239"/>
            <a:ext cx="1381125" cy="1157883"/>
          </a:xfrm>
          <a:prstGeom prst="roundRect">
            <a:avLst>
              <a:gd name="adj" fmla="val 7773"/>
            </a:avLst>
          </a:prstGeom>
          <a:solidFill>
            <a:srgbClr val="FAF8F5"/>
          </a:solidFill>
          <a:ln/>
        </p:spPr>
      </p:sp>
      <p:sp>
        <p:nvSpPr>
          <p:cNvPr id="7" name="Shape 5"/>
          <p:cNvSpPr/>
          <p:nvPr/>
        </p:nvSpPr>
        <p:spPr>
          <a:xfrm>
            <a:off x="6060877" y="1341239"/>
            <a:ext cx="941189" cy="1157883"/>
          </a:xfrm>
          <a:prstGeom prst="roundRect">
            <a:avLst>
              <a:gd name="adj" fmla="val 9562"/>
            </a:avLst>
          </a:prstGeom>
          <a:solidFill>
            <a:srgbClr val="FAF8F5"/>
          </a:solidFill>
          <a:ln/>
        </p:spPr>
      </p:sp>
      <p:sp>
        <p:nvSpPr>
          <p:cNvPr id="8" name="Shape 6"/>
          <p:cNvSpPr/>
          <p:nvPr/>
        </p:nvSpPr>
        <p:spPr>
          <a:xfrm>
            <a:off x="7218015" y="1341239"/>
            <a:ext cx="1596926" cy="1157883"/>
          </a:xfrm>
          <a:prstGeom prst="roundRect">
            <a:avLst>
              <a:gd name="adj" fmla="val 7773"/>
            </a:avLst>
          </a:prstGeom>
          <a:solidFill>
            <a:srgbClr val="FAF8F5"/>
          </a:solidFill>
          <a:ln/>
        </p:spPr>
      </p:sp>
      <p:sp>
        <p:nvSpPr>
          <p:cNvPr id="9" name="Shape 7"/>
          <p:cNvSpPr/>
          <p:nvPr/>
        </p:nvSpPr>
        <p:spPr>
          <a:xfrm>
            <a:off x="9030891" y="1341239"/>
            <a:ext cx="941189" cy="1157883"/>
          </a:xfrm>
          <a:prstGeom prst="roundRect">
            <a:avLst>
              <a:gd name="adj" fmla="val 9562"/>
            </a:avLst>
          </a:prstGeom>
          <a:solidFill>
            <a:srgbClr val="FAF8F5"/>
          </a:solidFill>
          <a:ln/>
        </p:spPr>
      </p:sp>
      <p:sp>
        <p:nvSpPr>
          <p:cNvPr id="10" name="Shape 8"/>
          <p:cNvSpPr/>
          <p:nvPr/>
        </p:nvSpPr>
        <p:spPr>
          <a:xfrm>
            <a:off x="4463802" y="6126510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1" name="Shape 9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12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13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5" name="Text 11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REPUTAÇÃO</a:t>
            </a:r>
            <a:endParaRPr lang="en-US" sz="660" dirty="0"/>
          </a:p>
        </p:txBody>
      </p:sp>
      <p:sp>
        <p:nvSpPr>
          <p:cNvPr id="17" name="Text 13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A experiência dos nossos hóspedes</a:t>
            </a:r>
            <a:endParaRPr lang="en-US" sz="2700" dirty="0"/>
          </a:p>
        </p:txBody>
      </p:sp>
      <p:sp>
        <p:nvSpPr>
          <p:cNvPr id="18" name="Text 14"/>
          <p:cNvSpPr txBox="1"/>
          <p:nvPr/>
        </p:nvSpPr>
        <p:spPr>
          <a:xfrm>
            <a:off x="719882" y="2615059"/>
            <a:ext cx="270021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melhor maneira de falar sobre a Pousada Camburi é ouvir quem passou por aqui.</a:t>
            </a:r>
            <a:endParaRPr lang="en-US" sz="1060" dirty="0"/>
          </a:p>
        </p:txBody>
      </p:sp>
      <p:sp>
        <p:nvSpPr>
          <p:cNvPr id="19" name="Text 15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“Nossa reputação digital demonstra a consistência desse trabalho.”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584859" y="1593205"/>
            <a:ext cx="1139011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4,8</a:t>
            </a:r>
            <a:endParaRPr lang="en-US" sz="3400" dirty="0"/>
          </a:p>
        </p:txBody>
      </p:sp>
      <p:sp>
        <p:nvSpPr>
          <p:cNvPr id="21" name="Text 17"/>
          <p:cNvSpPr txBox="1"/>
          <p:nvPr/>
        </p:nvSpPr>
        <p:spPr>
          <a:xfrm>
            <a:off x="4584859" y="2132856"/>
            <a:ext cx="11390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4"/>
              </a:lnSpc>
              <a:buNone/>
            </a:pPr>
            <a:r>
              <a:rPr lang="en-US" sz="620" spc="99" kern="0" dirty="0">
                <a:solidFill>
                  <a:srgbClr val="5A667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ESTRELAS NO GOOGLE</a:t>
            </a:r>
            <a:endParaRPr lang="en-US" sz="620" dirty="0"/>
          </a:p>
        </p:txBody>
      </p:sp>
      <p:sp>
        <p:nvSpPr>
          <p:cNvPr id="22" name="Text 18"/>
          <p:cNvSpPr txBox="1"/>
          <p:nvPr/>
        </p:nvSpPr>
        <p:spPr>
          <a:xfrm>
            <a:off x="6181933" y="1593205"/>
            <a:ext cx="699075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292</a:t>
            </a:r>
            <a:endParaRPr lang="en-US" sz="3400" dirty="0"/>
          </a:p>
        </p:txBody>
      </p:sp>
      <p:sp>
        <p:nvSpPr>
          <p:cNvPr id="23" name="Text 19"/>
          <p:cNvSpPr txBox="1"/>
          <p:nvPr/>
        </p:nvSpPr>
        <p:spPr>
          <a:xfrm>
            <a:off x="6181933" y="2132856"/>
            <a:ext cx="6990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4"/>
              </a:lnSpc>
              <a:buNone/>
            </a:pPr>
            <a:r>
              <a:rPr lang="en-US" sz="620" spc="99" kern="0" dirty="0">
                <a:solidFill>
                  <a:srgbClr val="5A667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AVALIAÇÕES</a:t>
            </a:r>
            <a:endParaRPr lang="en-US" sz="620" dirty="0"/>
          </a:p>
        </p:txBody>
      </p:sp>
      <p:sp>
        <p:nvSpPr>
          <p:cNvPr id="24" name="Text 20"/>
          <p:cNvSpPr txBox="1"/>
          <p:nvPr/>
        </p:nvSpPr>
        <p:spPr>
          <a:xfrm>
            <a:off x="7339072" y="1593205"/>
            <a:ext cx="1354812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4,7</a:t>
            </a:r>
            <a:endParaRPr lang="en-US" sz="3400" dirty="0"/>
          </a:p>
        </p:txBody>
      </p:sp>
      <p:sp>
        <p:nvSpPr>
          <p:cNvPr id="25" name="Text 21"/>
          <p:cNvSpPr txBox="1"/>
          <p:nvPr/>
        </p:nvSpPr>
        <p:spPr>
          <a:xfrm>
            <a:off x="7339072" y="2132856"/>
            <a:ext cx="1354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4"/>
              </a:lnSpc>
              <a:buNone/>
            </a:pPr>
            <a:r>
              <a:rPr lang="en-US" sz="620" spc="99" kern="0" dirty="0">
                <a:solidFill>
                  <a:srgbClr val="5A667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ESTRELAS NO TRIPADVISOR</a:t>
            </a:r>
            <a:endParaRPr lang="en-US" sz="620" dirty="0"/>
          </a:p>
        </p:txBody>
      </p:sp>
      <p:sp>
        <p:nvSpPr>
          <p:cNvPr id="26" name="Text 22"/>
          <p:cNvSpPr txBox="1"/>
          <p:nvPr/>
        </p:nvSpPr>
        <p:spPr>
          <a:xfrm>
            <a:off x="9151947" y="1593205"/>
            <a:ext cx="699075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136</a:t>
            </a:r>
            <a:endParaRPr lang="en-US" sz="3400" dirty="0"/>
          </a:p>
        </p:txBody>
      </p:sp>
      <p:sp>
        <p:nvSpPr>
          <p:cNvPr id="27" name="Text 23"/>
          <p:cNvSpPr txBox="1"/>
          <p:nvPr/>
        </p:nvSpPr>
        <p:spPr>
          <a:xfrm>
            <a:off x="9151947" y="2132856"/>
            <a:ext cx="6990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4"/>
              </a:lnSpc>
              <a:buNone/>
            </a:pPr>
            <a:r>
              <a:rPr lang="en-US" sz="620" spc="99" kern="0" dirty="0">
                <a:solidFill>
                  <a:srgbClr val="5A667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AVALIAÇÕES</a:t>
            </a:r>
            <a:endParaRPr lang="en-US" sz="620" dirty="0"/>
          </a:p>
        </p:txBody>
      </p:sp>
      <p:sp>
        <p:nvSpPr>
          <p:cNvPr id="28" name="Text 24"/>
          <p:cNvSpPr txBox="1"/>
          <p:nvPr/>
        </p:nvSpPr>
        <p:spPr>
          <a:xfrm>
            <a:off x="4463802" y="2823121"/>
            <a:ext cx="5553998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Atualmente, nossa reputação digital demonstra a consistência desse trabalho.</a:t>
            </a:r>
            <a:endParaRPr lang="en-US" sz="1060" dirty="0"/>
          </a:p>
        </p:txBody>
      </p:sp>
      <p:sp>
        <p:nvSpPr>
          <p:cNvPr id="29" name="Text 25"/>
          <p:cNvSpPr txBox="1"/>
          <p:nvPr/>
        </p:nvSpPr>
        <p:spPr>
          <a:xfrm>
            <a:off x="4463802" y="3266182"/>
            <a:ext cx="5553998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 Google, a Pousada Camburi possui avaliação de 4,8 estrelas, baseada em 292 avaliações.</a:t>
            </a:r>
            <a:endParaRPr lang="en-US" sz="1060" dirty="0"/>
          </a:p>
        </p:txBody>
      </p:sp>
      <p:sp>
        <p:nvSpPr>
          <p:cNvPr id="30" name="Text 26"/>
          <p:cNvSpPr txBox="1"/>
          <p:nvPr/>
        </p:nvSpPr>
        <p:spPr>
          <a:xfrm>
            <a:off x="4463802" y="3709243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 Tripadvisor, possui 4,7 estrelas, com 136 avaliações, estando atualmente entre as pousadas mais bem avaliadas de Camburi.</a:t>
            </a:r>
            <a:endParaRPr lang="en-US" sz="1060" dirty="0"/>
          </a:p>
        </p:txBody>
      </p:sp>
      <p:sp>
        <p:nvSpPr>
          <p:cNvPr id="31" name="Text 27"/>
          <p:cNvSpPr txBox="1"/>
          <p:nvPr/>
        </p:nvSpPr>
        <p:spPr>
          <a:xfrm>
            <a:off x="4463802" y="6424017"/>
            <a:ext cx="5553998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Mas, para nós, os números são apenas uma parte da história.</a:t>
            </a:r>
            <a:endParaRPr lang="en-US" sz="1700" dirty="0"/>
          </a:p>
        </p:txBody>
      </p:sp>
      <p:sp>
        <p:nvSpPr>
          <p:cNvPr id="32" name="Text 28"/>
          <p:cNvSpPr txBox="1"/>
          <p:nvPr/>
        </p:nvSpPr>
        <p:spPr>
          <a:xfrm>
            <a:off x="719882" y="6962924"/>
            <a:ext cx="31379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 | CARTA DE APRESENTAÇÃO À VICTORINOX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65472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6035427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05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 EXPERIÊNCIA DOS NOSSOS HÓSPEDES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117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O que realmente importa são os comentários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5916216"/>
            <a:ext cx="270021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“É exatamente esse tipo de reconhecimento que buscamos construir diariamente.”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Hóspedes destacam nossa localização, limpeza, café da manhã, serviço de praia, conforto e, principalmente, o atendimento e a atenção da equipe.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304157"/>
            <a:ext cx="5553998" cy="12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Uma avaliação recente no Tripadvisor, por exemplo, descreve a experiência como uma agradável surpresa e destaca a proximidade da praia, o ambiente cercado pela Mata Atlântica, o estilo rústico, o conforto dos quartos, o café da manhã, o serviço de praia e a atenção dos proprietários. O hóspede ainda registra que existem clientes que frequentam a pousada há aproximadamente 20 anos.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3727698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Outra avaliação recente publicada no Google ressalta que a experiência começa antes mesmo do check-in, destacando o cuidado com a chegada, as malas, o veículo, as explicações de boas-vindas e a atenção permanente da equipe com o bem-estar dos hóspedes.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6296918"/>
            <a:ext cx="5553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spc="149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FONTES CITADAS NA CARTA ORIGINAL</a:t>
            </a:r>
            <a:endParaRPr lang="en-US" sz="62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6519118"/>
            <a:ext cx="5553998" cy="18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buNone/>
            </a:pPr>
            <a:r>
              <a:rPr lang="en-US" sz="84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google.com.br · tripadvisor.com.br · restaurantguru.com.br</a:t>
            </a:r>
            <a:endParaRPr lang="en-US" sz="840" dirty="0"/>
          </a:p>
        </p:txBody>
      </p:sp>
      <p:sp>
        <p:nvSpPr>
          <p:cNvPr id="20" name="Text 16"/>
          <p:cNvSpPr txBox="1"/>
          <p:nvPr/>
        </p:nvSpPr>
        <p:spPr>
          <a:xfrm>
            <a:off x="719882" y="6962924"/>
            <a:ext cx="31379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 | CARTA DE APRESENTAÇÃO À VICTORINOX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65472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1341239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4463802" y="1936105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8" name="Shape 6"/>
          <p:cNvSpPr/>
          <p:nvPr/>
        </p:nvSpPr>
        <p:spPr>
          <a:xfrm>
            <a:off x="4463802" y="2530971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9" name="Shape 7"/>
          <p:cNvSpPr/>
          <p:nvPr/>
        </p:nvSpPr>
        <p:spPr>
          <a:xfrm>
            <a:off x="4463802" y="3125837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0" name="Shape 8"/>
          <p:cNvSpPr/>
          <p:nvPr/>
        </p:nvSpPr>
        <p:spPr>
          <a:xfrm>
            <a:off x="4463802" y="3720703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1" name="Shape 9"/>
          <p:cNvSpPr/>
          <p:nvPr/>
        </p:nvSpPr>
        <p:spPr>
          <a:xfrm>
            <a:off x="4463802" y="4315569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2" name="Shape 10"/>
          <p:cNvSpPr/>
          <p:nvPr/>
        </p:nvSpPr>
        <p:spPr>
          <a:xfrm>
            <a:off x="4463802" y="4910435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4463802" y="5505301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463802" y="6100167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5" name="Shape 13"/>
          <p:cNvSpPr/>
          <p:nvPr/>
        </p:nvSpPr>
        <p:spPr>
          <a:xfrm>
            <a:off x="4463802" y="6695033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6" name="Shape 14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17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18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20" name="Text 16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HOSPITALIDADE</a:t>
            </a:r>
            <a:endParaRPr lang="en-US" sz="660" dirty="0"/>
          </a:p>
        </p:txBody>
      </p:sp>
      <p:sp>
        <p:nvSpPr>
          <p:cNvPr id="22" name="Text 18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Qualidade está nos detalhes</a:t>
            </a:r>
            <a:endParaRPr lang="en-US" sz="2700" dirty="0"/>
          </a:p>
        </p:txBody>
      </p:sp>
      <p:sp>
        <p:nvSpPr>
          <p:cNvPr id="23" name="Text 19"/>
          <p:cNvSpPr txBox="1"/>
          <p:nvPr/>
        </p:nvSpPr>
        <p:spPr>
          <a:xfrm>
            <a:off x="719882" y="2615059"/>
            <a:ext cx="270021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Acreditamos que hospitalidade não está apenas na estrutura física. Ela está nos detalhes.</a:t>
            </a:r>
            <a:endParaRPr lang="en-US" sz="1060" dirty="0"/>
          </a:p>
        </p:txBody>
      </p:sp>
      <p:sp>
        <p:nvSpPr>
          <p:cNvPr id="24" name="Text 20"/>
          <p:cNvSpPr txBox="1"/>
          <p:nvPr/>
        </p:nvSpPr>
        <p:spPr>
          <a:xfrm>
            <a:off x="719882" y="5916216"/>
            <a:ext cx="270021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“Essa filosofia orientou a construção da Pousada Camburi ao longo de mais de duas décadas.”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463802" y="1514773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01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4895701" y="1528614"/>
            <a:ext cx="5122099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Está em receber o hóspede pelo nome.</a:t>
            </a:r>
            <a:endParaRPr lang="en-US" sz="1040" dirty="0"/>
          </a:p>
        </p:txBody>
      </p:sp>
      <p:sp>
        <p:nvSpPr>
          <p:cNvPr id="27" name="Text 23"/>
          <p:cNvSpPr txBox="1"/>
          <p:nvPr/>
        </p:nvSpPr>
        <p:spPr>
          <a:xfrm>
            <a:off x="4463802" y="2109639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4895701" y="2123480"/>
            <a:ext cx="5122099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 perceber aquilo de que ele precisa antes mesmo que peça.</a:t>
            </a:r>
            <a:endParaRPr lang="en-US" sz="1040" dirty="0"/>
          </a:p>
        </p:txBody>
      </p:sp>
      <p:sp>
        <p:nvSpPr>
          <p:cNvPr id="29" name="Text 25"/>
          <p:cNvSpPr txBox="1"/>
          <p:nvPr/>
        </p:nvSpPr>
        <p:spPr>
          <a:xfrm>
            <a:off x="4463802" y="2704505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4895701" y="2718346"/>
            <a:ext cx="5122099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 cuidar do quarto.</a:t>
            </a:r>
            <a:endParaRPr lang="en-US" sz="1040" dirty="0"/>
          </a:p>
        </p:txBody>
      </p:sp>
      <p:sp>
        <p:nvSpPr>
          <p:cNvPr id="31" name="Text 27"/>
          <p:cNvSpPr txBox="1"/>
          <p:nvPr/>
        </p:nvSpPr>
        <p:spPr>
          <a:xfrm>
            <a:off x="4463802" y="3299371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4895701" y="3313212"/>
            <a:ext cx="5122099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 preparar um bom café da manhã.</a:t>
            </a:r>
            <a:endParaRPr lang="en-US" sz="1040" dirty="0"/>
          </a:p>
        </p:txBody>
      </p:sp>
      <p:sp>
        <p:nvSpPr>
          <p:cNvPr id="33" name="Text 29"/>
          <p:cNvSpPr txBox="1"/>
          <p:nvPr/>
        </p:nvSpPr>
        <p:spPr>
          <a:xfrm>
            <a:off x="4463802" y="3894237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4895701" y="3908078"/>
            <a:ext cx="5122099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 oferecer conforto na praia.</a:t>
            </a:r>
            <a:endParaRPr lang="en-US" sz="1040" dirty="0"/>
          </a:p>
        </p:txBody>
      </p:sp>
      <p:sp>
        <p:nvSpPr>
          <p:cNvPr id="35" name="Text 31"/>
          <p:cNvSpPr txBox="1"/>
          <p:nvPr/>
        </p:nvSpPr>
        <p:spPr>
          <a:xfrm>
            <a:off x="4463802" y="4489103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4895701" y="4502944"/>
            <a:ext cx="5122099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 ajudar com uma mala.</a:t>
            </a:r>
            <a:endParaRPr lang="en-US" sz="1040" dirty="0"/>
          </a:p>
        </p:txBody>
      </p:sp>
      <p:sp>
        <p:nvSpPr>
          <p:cNvPr id="37" name="Text 33"/>
          <p:cNvSpPr txBox="1"/>
          <p:nvPr/>
        </p:nvSpPr>
        <p:spPr>
          <a:xfrm>
            <a:off x="4463802" y="5083969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4"/>
          <p:cNvSpPr txBox="1"/>
          <p:nvPr/>
        </p:nvSpPr>
        <p:spPr>
          <a:xfrm>
            <a:off x="4895701" y="5097810"/>
            <a:ext cx="5122099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 lembrar uma preferência.</a:t>
            </a:r>
            <a:endParaRPr lang="en-US" sz="1040" dirty="0"/>
          </a:p>
        </p:txBody>
      </p:sp>
      <p:sp>
        <p:nvSpPr>
          <p:cNvPr id="39" name="Text 35"/>
          <p:cNvSpPr txBox="1"/>
          <p:nvPr/>
        </p:nvSpPr>
        <p:spPr>
          <a:xfrm>
            <a:off x="4463802" y="5678835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08</a:t>
            </a:r>
            <a:endParaRPr lang="en-US" sz="1600" dirty="0"/>
          </a:p>
        </p:txBody>
      </p:sp>
      <p:sp>
        <p:nvSpPr>
          <p:cNvPr id="40" name="Text 36"/>
          <p:cNvSpPr txBox="1"/>
          <p:nvPr/>
        </p:nvSpPr>
        <p:spPr>
          <a:xfrm>
            <a:off x="4895701" y="5692676"/>
            <a:ext cx="5122099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 resolver rapidamente um pequeno problema.</a:t>
            </a:r>
            <a:endParaRPr lang="en-US" sz="1040" dirty="0"/>
          </a:p>
        </p:txBody>
      </p:sp>
      <p:sp>
        <p:nvSpPr>
          <p:cNvPr id="41" name="Text 37"/>
          <p:cNvSpPr txBox="1"/>
          <p:nvPr/>
        </p:nvSpPr>
        <p:spPr>
          <a:xfrm>
            <a:off x="4463802" y="6273701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09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4895701" y="6287542"/>
            <a:ext cx="5122099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 fazer com que uma pessoa que chegou como hóspede queira voltar como amigo.</a:t>
            </a:r>
            <a:endParaRPr lang="en-US" sz="1040" dirty="0"/>
          </a:p>
        </p:txBody>
      </p:sp>
      <p:sp>
        <p:nvSpPr>
          <p:cNvPr id="43" name="Text 39"/>
          <p:cNvSpPr txBox="1"/>
          <p:nvPr/>
        </p:nvSpPr>
        <p:spPr>
          <a:xfrm>
            <a:off x="719882" y="6962924"/>
            <a:ext cx="31379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 | CARTA DE APRESENTAÇÃO À VICTORINOX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65472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5845820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07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TRAJETÓRIA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Uma empresa consolidada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5916216"/>
            <a:ext cx="270021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“Confiança não é conquistada em uma campanha publicitária; é construída ao longo do tempo.”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São mais de 20 anos de operação contínua.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038648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Mais de duas décadas enfrentando diferentes momentos da economia, mudanças no comportamento dos consumidores, transformações no turismo e novas formas de comunicação.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2726829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 permanecemos aqui. Cuidando da empresa. Cuidando da nossa equipe. Cuidando dos nossos hóspedes. Cuidando do patrimônio que construímos.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3415010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Essa longevidade nos ensinou que confiança não é conquistada em uma campanha publicitária; é construída ao longo do tempo.</a:t>
            </a:r>
            <a:endParaRPr lang="en-US" sz="106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6143327"/>
            <a:ext cx="5553998" cy="5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 talvez seja justamente esse um dos pontos que mais nos aproximam da filosofia da Victorinox.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719882" y="6962924"/>
            <a:ext cx="31379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 | CARTA DE APRESENTAÇÃO À VICTORINOX</a:t>
            </a:r>
            <a:endParaRPr lang="en-US" sz="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65472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2322165"/>
            <a:ext cx="964704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7" name="Shape 5"/>
          <p:cNvSpPr/>
          <p:nvPr/>
        </p:nvSpPr>
        <p:spPr>
          <a:xfrm>
            <a:off x="4463802" y="2322165"/>
            <a:ext cx="964704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8" name="Shape 6"/>
          <p:cNvSpPr/>
          <p:nvPr/>
        </p:nvSpPr>
        <p:spPr>
          <a:xfrm>
            <a:off x="5418981" y="2322165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9" name="Shape 7"/>
          <p:cNvSpPr/>
          <p:nvPr/>
        </p:nvSpPr>
        <p:spPr>
          <a:xfrm>
            <a:off x="4463802" y="2680543"/>
            <a:ext cx="964704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0" name="Shape 8"/>
          <p:cNvSpPr/>
          <p:nvPr/>
        </p:nvSpPr>
        <p:spPr>
          <a:xfrm>
            <a:off x="4463802" y="2322165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1" name="Shape 9"/>
          <p:cNvSpPr/>
          <p:nvPr/>
        </p:nvSpPr>
        <p:spPr>
          <a:xfrm>
            <a:off x="5536406" y="2322165"/>
            <a:ext cx="1178719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12" name="Shape 10"/>
          <p:cNvSpPr/>
          <p:nvPr/>
        </p:nvSpPr>
        <p:spPr>
          <a:xfrm>
            <a:off x="5536406" y="2322165"/>
            <a:ext cx="1178719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705600" y="2322165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5536406" y="2680543"/>
            <a:ext cx="1178719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5" name="Shape 13"/>
          <p:cNvSpPr/>
          <p:nvPr/>
        </p:nvSpPr>
        <p:spPr>
          <a:xfrm>
            <a:off x="5536406" y="2322165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6" name="Shape 14"/>
          <p:cNvSpPr/>
          <p:nvPr/>
        </p:nvSpPr>
        <p:spPr>
          <a:xfrm>
            <a:off x="6823025" y="2322165"/>
            <a:ext cx="1090017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823025" y="2322165"/>
            <a:ext cx="1090017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8" name="Shape 16"/>
          <p:cNvSpPr/>
          <p:nvPr/>
        </p:nvSpPr>
        <p:spPr>
          <a:xfrm>
            <a:off x="7903518" y="2322165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9" name="Shape 17"/>
          <p:cNvSpPr/>
          <p:nvPr/>
        </p:nvSpPr>
        <p:spPr>
          <a:xfrm>
            <a:off x="6823025" y="2680543"/>
            <a:ext cx="1090017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0" name="Shape 18"/>
          <p:cNvSpPr/>
          <p:nvPr/>
        </p:nvSpPr>
        <p:spPr>
          <a:xfrm>
            <a:off x="6823025" y="2322165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1" name="Shape 19"/>
          <p:cNvSpPr/>
          <p:nvPr/>
        </p:nvSpPr>
        <p:spPr>
          <a:xfrm>
            <a:off x="8020943" y="2322165"/>
            <a:ext cx="1201787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22" name="Shape 20"/>
          <p:cNvSpPr/>
          <p:nvPr/>
        </p:nvSpPr>
        <p:spPr>
          <a:xfrm>
            <a:off x="8020943" y="2322165"/>
            <a:ext cx="1201787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3" name="Shape 21"/>
          <p:cNvSpPr/>
          <p:nvPr/>
        </p:nvSpPr>
        <p:spPr>
          <a:xfrm>
            <a:off x="9213205" y="2322165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8020943" y="2680543"/>
            <a:ext cx="1201787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5" name="Shape 23"/>
          <p:cNvSpPr/>
          <p:nvPr/>
        </p:nvSpPr>
        <p:spPr>
          <a:xfrm>
            <a:off x="8020943" y="2322165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6" name="Shape 24"/>
          <p:cNvSpPr/>
          <p:nvPr/>
        </p:nvSpPr>
        <p:spPr>
          <a:xfrm>
            <a:off x="4463802" y="2797969"/>
            <a:ext cx="1495574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27" name="Shape 25"/>
          <p:cNvSpPr/>
          <p:nvPr/>
        </p:nvSpPr>
        <p:spPr>
          <a:xfrm>
            <a:off x="4463802" y="2797969"/>
            <a:ext cx="1495574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9851" y="2797969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9" name="Shape 27"/>
          <p:cNvSpPr/>
          <p:nvPr/>
        </p:nvSpPr>
        <p:spPr>
          <a:xfrm>
            <a:off x="4463802" y="3156347"/>
            <a:ext cx="1495574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0" name="Shape 28"/>
          <p:cNvSpPr/>
          <p:nvPr/>
        </p:nvSpPr>
        <p:spPr>
          <a:xfrm>
            <a:off x="4463802" y="2797969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1" name="Shape 29"/>
          <p:cNvSpPr/>
          <p:nvPr/>
        </p:nvSpPr>
        <p:spPr>
          <a:xfrm>
            <a:off x="6067276" y="2797969"/>
            <a:ext cx="1640086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67276" y="2797969"/>
            <a:ext cx="164008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3" name="Shape 31"/>
          <p:cNvSpPr/>
          <p:nvPr/>
        </p:nvSpPr>
        <p:spPr>
          <a:xfrm>
            <a:off x="7697837" y="2797969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4" name="Shape 32"/>
          <p:cNvSpPr/>
          <p:nvPr/>
        </p:nvSpPr>
        <p:spPr>
          <a:xfrm>
            <a:off x="6067276" y="3156347"/>
            <a:ext cx="164008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5" name="Shape 33"/>
          <p:cNvSpPr/>
          <p:nvPr/>
        </p:nvSpPr>
        <p:spPr>
          <a:xfrm>
            <a:off x="6067276" y="2797969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6" name="Shape 34"/>
          <p:cNvSpPr/>
          <p:nvPr/>
        </p:nvSpPr>
        <p:spPr>
          <a:xfrm>
            <a:off x="4463802" y="3273772"/>
            <a:ext cx="2588419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37" name="Shape 35"/>
          <p:cNvSpPr/>
          <p:nvPr/>
        </p:nvSpPr>
        <p:spPr>
          <a:xfrm>
            <a:off x="4463802" y="3273772"/>
            <a:ext cx="2588419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8" name="Shape 36"/>
          <p:cNvSpPr/>
          <p:nvPr/>
        </p:nvSpPr>
        <p:spPr>
          <a:xfrm>
            <a:off x="7042696" y="3273772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9" name="Shape 37"/>
          <p:cNvSpPr/>
          <p:nvPr/>
        </p:nvSpPr>
        <p:spPr>
          <a:xfrm>
            <a:off x="4463802" y="3632150"/>
            <a:ext cx="2588419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0" name="Shape 38"/>
          <p:cNvSpPr/>
          <p:nvPr/>
        </p:nvSpPr>
        <p:spPr>
          <a:xfrm>
            <a:off x="4463802" y="3273772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1" name="Shape 39"/>
          <p:cNvSpPr/>
          <p:nvPr/>
        </p:nvSpPr>
        <p:spPr>
          <a:xfrm>
            <a:off x="4463802" y="6126510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2" name="Shape 40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43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44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46" name="Text 42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08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AFINIDADE</a:t>
            </a:r>
            <a:endParaRPr lang="en-US" sz="660" dirty="0"/>
          </a:p>
        </p:txBody>
      </p:sp>
      <p:sp>
        <p:nvSpPr>
          <p:cNvPr id="48" name="Text 44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Por que Victorinox?</a:t>
            </a:r>
            <a:endParaRPr lang="en-US" sz="2700" dirty="0"/>
          </a:p>
        </p:txBody>
      </p:sp>
      <p:sp>
        <p:nvSpPr>
          <p:cNvPr id="49" name="Text 45"/>
          <p:cNvSpPr txBox="1"/>
          <p:nvPr/>
        </p:nvSpPr>
        <p:spPr>
          <a:xfrm>
            <a:off x="719882" y="5916216"/>
            <a:ext cx="270021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“Um bom produto ou um bom serviço não precisa apenas funcionar bem. Ele precisa gerar confiança.”</a:t>
            </a:r>
            <a:endParaRPr lang="en-US" sz="1500" dirty="0"/>
          </a:p>
        </p:txBody>
      </p:sp>
      <p:sp>
        <p:nvSpPr>
          <p:cNvPr id="50" name="Text 46"/>
          <p:cNvSpPr txBox="1"/>
          <p:nvPr/>
        </p:nvSpPr>
        <p:spPr>
          <a:xfrm>
            <a:off x="4463802" y="1341239"/>
            <a:ext cx="5553998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Admiramos a Victorinox justamente porque reconhecemos na marca valores que também procuramos praticar:</a:t>
            </a:r>
            <a:endParaRPr lang="en-US" sz="1260" dirty="0"/>
          </a:p>
        </p:txBody>
      </p:sp>
      <p:sp>
        <p:nvSpPr>
          <p:cNvPr id="51" name="Text 47"/>
          <p:cNvSpPr txBox="1"/>
          <p:nvPr/>
        </p:nvSpPr>
        <p:spPr>
          <a:xfrm>
            <a:off x="4679802" y="2415765"/>
            <a:ext cx="578423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Qualidade</a:t>
            </a:r>
            <a:endParaRPr lang="en-US" sz="880" dirty="0"/>
          </a:p>
        </p:txBody>
      </p:sp>
      <p:sp>
        <p:nvSpPr>
          <p:cNvPr id="52" name="Text 48"/>
          <p:cNvSpPr txBox="1"/>
          <p:nvPr/>
        </p:nvSpPr>
        <p:spPr>
          <a:xfrm>
            <a:off x="5752407" y="2415765"/>
            <a:ext cx="792438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Confiabilidade</a:t>
            </a:r>
            <a:endParaRPr lang="en-US" sz="880" dirty="0"/>
          </a:p>
        </p:txBody>
      </p:sp>
      <p:sp>
        <p:nvSpPr>
          <p:cNvPr id="53" name="Text 49"/>
          <p:cNvSpPr txBox="1"/>
          <p:nvPr/>
        </p:nvSpPr>
        <p:spPr>
          <a:xfrm>
            <a:off x="7039026" y="2415765"/>
            <a:ext cx="703737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Durabilidade</a:t>
            </a:r>
            <a:endParaRPr lang="en-US" sz="880" dirty="0"/>
          </a:p>
        </p:txBody>
      </p:sp>
      <p:sp>
        <p:nvSpPr>
          <p:cNvPr id="54" name="Text 50"/>
          <p:cNvSpPr txBox="1"/>
          <p:nvPr/>
        </p:nvSpPr>
        <p:spPr>
          <a:xfrm>
            <a:off x="8236943" y="2415765"/>
            <a:ext cx="815506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Funcionalidade</a:t>
            </a:r>
            <a:endParaRPr lang="en-US" sz="880" dirty="0"/>
          </a:p>
        </p:txBody>
      </p:sp>
      <p:sp>
        <p:nvSpPr>
          <p:cNvPr id="55" name="Text 51"/>
          <p:cNvSpPr txBox="1"/>
          <p:nvPr/>
        </p:nvSpPr>
        <p:spPr>
          <a:xfrm>
            <a:off x="4679802" y="2891569"/>
            <a:ext cx="1109293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Atenção aos detalhes</a:t>
            </a:r>
            <a:endParaRPr lang="en-US" sz="880" dirty="0"/>
          </a:p>
        </p:txBody>
      </p:sp>
      <p:sp>
        <p:nvSpPr>
          <p:cNvPr id="56" name="Text 52"/>
          <p:cNvSpPr txBox="1"/>
          <p:nvPr/>
        </p:nvSpPr>
        <p:spPr>
          <a:xfrm>
            <a:off x="6283277" y="2891569"/>
            <a:ext cx="1253805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Respeito ao consumidor</a:t>
            </a:r>
            <a:endParaRPr lang="en-US" sz="880" dirty="0"/>
          </a:p>
        </p:txBody>
      </p:sp>
      <p:sp>
        <p:nvSpPr>
          <p:cNvPr id="57" name="Text 53"/>
          <p:cNvSpPr txBox="1"/>
          <p:nvPr/>
        </p:nvSpPr>
        <p:spPr>
          <a:xfrm>
            <a:off x="4679802" y="3367372"/>
            <a:ext cx="2202138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Uma história construída ao longo do tempo</a:t>
            </a:r>
            <a:endParaRPr lang="en-US" sz="880" dirty="0"/>
          </a:p>
        </p:txBody>
      </p:sp>
      <p:sp>
        <p:nvSpPr>
          <p:cNvPr id="58" name="Text 54"/>
          <p:cNvSpPr txBox="1"/>
          <p:nvPr/>
        </p:nvSpPr>
        <p:spPr>
          <a:xfrm>
            <a:off x="4463802" y="3965674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Victorinox possui uma tradição centenária e tornou seus produtos companheiros de pessoas em viagens, aventuras, trabalho e momentos cotidianos.</a:t>
            </a:r>
            <a:endParaRPr lang="en-US" sz="1060" dirty="0"/>
          </a:p>
        </p:txBody>
      </p:sp>
      <p:sp>
        <p:nvSpPr>
          <p:cNvPr id="59" name="Text 55"/>
          <p:cNvSpPr txBox="1"/>
          <p:nvPr/>
        </p:nvSpPr>
        <p:spPr>
          <a:xfrm>
            <a:off x="4463802" y="4653855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Pousada Camburi possui uma história muito mais jovem, mas compartilha uma convicção semelhante: um bom produto ou um bom serviço não precisa apenas funcionar bem. Ele precisa gerar confiança.</a:t>
            </a:r>
            <a:endParaRPr lang="en-US" sz="1060" dirty="0"/>
          </a:p>
        </p:txBody>
      </p:sp>
      <p:sp>
        <p:nvSpPr>
          <p:cNvPr id="60" name="Text 56"/>
          <p:cNvSpPr txBox="1"/>
          <p:nvPr/>
        </p:nvSpPr>
        <p:spPr>
          <a:xfrm>
            <a:off x="4463802" y="6424017"/>
            <a:ext cx="5553998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 confiança é aquilo que faz uma pessoa voltar.</a:t>
            </a:r>
            <a:endParaRPr lang="en-US" sz="1700" dirty="0"/>
          </a:p>
        </p:txBody>
      </p:sp>
      <p:sp>
        <p:nvSpPr>
          <p:cNvPr id="61" name="Text 57"/>
          <p:cNvSpPr txBox="1"/>
          <p:nvPr/>
        </p:nvSpPr>
        <p:spPr>
          <a:xfrm>
            <a:off x="719882" y="6962924"/>
            <a:ext cx="31379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 | CARTA DE APRESENTAÇÃO À VICTORINOX</a:t>
            </a:r>
            <a:endParaRPr lang="en-US" sz="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6126510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09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OPORTUNIDADE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Um ambiente de experiência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“É um ambiente real de experiências.”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É nesse contexto que enxergamos uma possibilidade especial de aproximação entre nossas empresas.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304157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Pousada Camburi recebe pessoas que viajam, exploram, descansam, praticam esportes, aproveitam a natureza, desfrutam da gastronomia e compartilham momentos com familiares e amigos.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3237458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Um lugar onde qualidade, funcionalidade, natureza, gastronomia, viagem e hospitalidade podem se encontrar naturalmente.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3925639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Por isso, acreditamos que a Pousada Camburi pode representar um ambiente particularmente interessante para que clientes, colaboradores, parceiros e convidados da Victorinox possam conhecer, utilizar e vivenciar seus produtos dentro de situações reais.</a:t>
            </a:r>
            <a:endParaRPr lang="en-US" sz="106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6424017"/>
            <a:ext cx="5553998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Não simplesmente ver. Viver.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719882" y="6962924"/>
            <a:ext cx="31379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 | CARTA DE APRESENTAÇÃO À VICTORINOX</a:t>
            </a:r>
            <a:endParaRPr lang="en-US" sz="6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6126510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O CONVITE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39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Nosso convite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“Uma marca que acompanha pessoas. Um lugar que recebe pessoas.”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Gostaríamos de apresentar oficialmente a Pousada Camburi à Victorinox Brasil e abrir uma conversa sobre possibilidades de relacionamento entre nossas empresas.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304157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Temos muito respeito pela história e pelo posicionamento da Victorinox, e acreditamos que existe uma afinidade verdadeira entre nossas marcas.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2992338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Pousada Camburi possui uma história construída com pessoas. A Victorinox possui uma história construída com produtos que acompanham pessoas. Talvez seja justamente aí que exista uma oportunidade.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3925639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Será uma grande satisfação receber representantes da Victorinox em Camburi, apresentar pessoalmente nossa pousada, nossa equipe, nossa história e conversar sobre as possibilidades que podemos construir juntos.</a:t>
            </a:r>
            <a:endParaRPr lang="en-US" sz="106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6424017"/>
            <a:ext cx="5553998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 uma experiência que pode unir as duas.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719882" y="6962924"/>
            <a:ext cx="31379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 | CARTA DE APRESENTAÇÃO À VICTORINOX</a:t>
            </a:r>
            <a:endParaRPr lang="en-US" sz="6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6180386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5010001"/>
            <a:ext cx="5508278" cy="1694706"/>
          </a:xfrm>
          <a:prstGeom prst="roundRect">
            <a:avLst>
              <a:gd name="adj" fmla="val 6373"/>
            </a:avLst>
          </a:prstGeom>
          <a:solidFill>
            <a:srgbClr val="16283C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11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ATENCIOSAMENTE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Seu lugar em Camburi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6441877"/>
            <a:ext cx="2700218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“Quem cuida de tudo somos nós.”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Você aproveita a praia, descansa e vive a experiência.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859685" y="5369868"/>
            <a:ext cx="2714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spc="161" kern="0" dirty="0">
                <a:solidFill>
                  <a:srgbClr val="8FB2C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ATENCIOSAMENTE</a:t>
            </a:r>
            <a:endParaRPr lang="en-US" sz="620" dirty="0"/>
          </a:p>
        </p:txBody>
      </p:sp>
      <p:sp>
        <p:nvSpPr>
          <p:cNvPr id="17" name="Text 13"/>
          <p:cNvSpPr txBox="1"/>
          <p:nvPr/>
        </p:nvSpPr>
        <p:spPr>
          <a:xfrm>
            <a:off x="4859685" y="5592068"/>
            <a:ext cx="2714804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00" spc="9" kern="0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Rodrigo Roberto Sulina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4859685" y="5982295"/>
            <a:ext cx="2714804" cy="36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840" spc="50" kern="0" dirty="0">
                <a:solidFill>
                  <a:srgbClr val="B9CBD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</a:t>
            </a:r>
            <a:endParaRPr lang="en-US" sz="840" dirty="0"/>
          </a:p>
          <a:p>
            <a:pPr algn="l" indent="0" marL="0">
              <a:lnSpc>
                <a:spcPts val="1428"/>
              </a:lnSpc>
              <a:buNone/>
            </a:pPr>
            <a:r>
              <a:rPr lang="en-US" sz="840" spc="50" kern="0" dirty="0">
                <a:solidFill>
                  <a:srgbClr val="B9CBD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Desde 22 de agosto de 2002</a:t>
            </a:r>
            <a:endParaRPr lang="en-US" sz="840" dirty="0"/>
          </a:p>
        </p:txBody>
      </p:sp>
      <p:sp>
        <p:nvSpPr>
          <p:cNvPr id="19" name="Text 15"/>
          <p:cNvSpPr txBox="1"/>
          <p:nvPr/>
        </p:nvSpPr>
        <p:spPr>
          <a:xfrm>
            <a:off x="7842915" y="5410200"/>
            <a:ext cx="1733282" cy="89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60"/>
              </a:lnSpc>
              <a:buNone/>
            </a:pPr>
            <a:r>
              <a:rPr lang="en-US" sz="640" spc="128" kern="0" dirty="0">
                <a:solidFill>
                  <a:srgbClr val="8FB2C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TEL.</a:t>
            </a:r>
            <a:pPr algn="r" indent="0" marL="0">
              <a:lnSpc>
                <a:spcPts val="1760"/>
              </a:lnSpc>
              <a:buNone/>
            </a:pPr>
            <a:r>
              <a:rPr lang="en-US" sz="880" spc="18" kern="0" dirty="0">
                <a:solidFill>
                  <a:srgbClr val="E6EDF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(12) 99795-2066</a:t>
            </a:r>
            <a:endParaRPr lang="en-US" sz="640" dirty="0"/>
          </a:p>
          <a:p>
            <a:pPr algn="r" indent="0" marL="0">
              <a:lnSpc>
                <a:spcPts val="1760"/>
              </a:lnSpc>
              <a:buNone/>
            </a:pPr>
            <a:r>
              <a:rPr lang="en-US" sz="640" spc="128" kern="0" dirty="0">
                <a:solidFill>
                  <a:srgbClr val="8FB2C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TEL.</a:t>
            </a:r>
            <a:pPr algn="r" indent="0" marL="0">
              <a:lnSpc>
                <a:spcPts val="1760"/>
              </a:lnSpc>
              <a:buNone/>
            </a:pPr>
            <a:r>
              <a:rPr lang="en-US" sz="880" spc="18" kern="0" dirty="0">
                <a:solidFill>
                  <a:srgbClr val="E6EDF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(12) 99769-8399</a:t>
            </a:r>
            <a:endParaRPr lang="en-US" sz="640" dirty="0"/>
          </a:p>
          <a:p>
            <a:pPr algn="r" indent="0" marL="0">
              <a:lnSpc>
                <a:spcPts val="1760"/>
              </a:lnSpc>
              <a:buNone/>
            </a:pPr>
            <a:r>
              <a:rPr lang="en-US" sz="880" spc="18" kern="0" dirty="0">
                <a:solidFill>
                  <a:srgbClr val="E6EDF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camburi@pousadacamburi.com.br</a:t>
            </a:r>
            <a:endParaRPr lang="en-US" sz="640" dirty="0"/>
          </a:p>
          <a:p>
            <a:pPr algn="r" indent="0" marL="0">
              <a:lnSpc>
                <a:spcPts val="1760"/>
              </a:lnSpc>
              <a:buNone/>
            </a:pPr>
            <a:r>
              <a:rPr lang="en-US" sz="880" spc="18" kern="0" dirty="0">
                <a:solidFill>
                  <a:srgbClr val="E6EDF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rrsulina@pousadacamburi.com.br </a:t>
            </a:r>
            <a:endParaRPr lang="en-US" sz="640" dirty="0"/>
          </a:p>
        </p:txBody>
      </p:sp>
      <p:sp>
        <p:nvSpPr>
          <p:cNvPr id="20" name="Text 16"/>
          <p:cNvSpPr txBox="1"/>
          <p:nvPr/>
        </p:nvSpPr>
        <p:spPr>
          <a:xfrm>
            <a:off x="719882" y="6962924"/>
            <a:ext cx="31379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 | CARTA DE APRESENTAÇÃO À VICTORINOX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Pousada Camburi — Carta de Apresentação à Victorinox</dc:title>
  <dc:subject>PptxGenJS Presentation</dc:subject>
  <dc:creator>Pousada Camburi</dc:creator>
  <cp:lastModifiedBy>Pousada Camburi</cp:lastModifiedBy>
  <cp:revision>1</cp:revision>
  <dcterms:created xsi:type="dcterms:W3CDTF">2026-08-27T13:02:44Z</dcterms:created>
  <dcterms:modified xsi:type="dcterms:W3CDTF">2026-08-27T13:02:44Z</dcterms:modified>
</cp:coreProperties>
</file>